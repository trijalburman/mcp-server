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8fd0e4ce2394de7" /><Relationship Type="http://schemas.openxmlformats.org/officeDocument/2006/relationships/extended-properties" Target="/docProps/app.xml" Id="Rb36af54490ae447f" /><Relationship Type="http://schemas.openxmlformats.org/officeDocument/2006/relationships/officeDocument" Target="/ppt/presentation.xml" Id="R3b6780dabc1f40b2" /></Relationships>
</file>

<file path=ppt/presentation.xml><?xml version="1.0" encoding="utf-8"?>
<p:presentation xmlns:p="http://schemas.openxmlformats.org/presentationml/2006/main">
  <p:sldMasterIdLst>
    <p:sldMasterId xmlns:r="http://schemas.openxmlformats.org/officeDocument/2006/relationships" id="2147483648" r:id="R2d6707eac695482c"/>
  </p:sldMasterIdLst>
  <p:notesMasterIdLst>
    <p:notesMasterId xmlns:r="http://schemas.openxmlformats.org/officeDocument/2006/relationships" r:id="R89d2c28e4d344df8"/>
  </p:notesMasterIdLst>
  <p:sldIdLst>
    <p:sldId xmlns:r="http://schemas.openxmlformats.org/officeDocument/2006/relationships" id="256" r:id="R8df2b80290404e19"/>
    <p:sldId xmlns:r="http://schemas.openxmlformats.org/officeDocument/2006/relationships" id="257" r:id="R72c7aebab18e48de"/>
    <p:sldId xmlns:r="http://schemas.openxmlformats.org/officeDocument/2006/relationships" id="258" r:id="Rea4a15fa9bc44b05"/>
    <p:sldId xmlns:r="http://schemas.openxmlformats.org/officeDocument/2006/relationships" id="259" r:id="R5ba2dc6c022c4c1c"/>
    <p:sldId xmlns:r="http://schemas.openxmlformats.org/officeDocument/2006/relationships" id="260" r:id="R4835ff72128c4598"/>
    <p:sldId xmlns:r="http://schemas.openxmlformats.org/officeDocument/2006/relationships" id="261" r:id="R5870aa323c594c3f"/>
    <p:sldId xmlns:r="http://schemas.openxmlformats.org/officeDocument/2006/relationships" id="262" r:id="Rcbc532b3429a4359"/>
    <p:sldId xmlns:r="http://schemas.openxmlformats.org/officeDocument/2006/relationships" id="263" r:id="R9eda52957c6e497d"/>
    <p:sldId xmlns:r="http://schemas.openxmlformats.org/officeDocument/2006/relationships" id="264" r:id="R56a7dc9c428f45d9"/>
    <p:sldId xmlns:r="http://schemas.openxmlformats.org/officeDocument/2006/relationships" id="265" r:id="R83f607cea72f4cc3"/>
    <p:sldId xmlns:r="http://schemas.openxmlformats.org/officeDocument/2006/relationships" id="266" r:id="R953d9a7110234ff9"/>
    <p:sldId xmlns:r="http://schemas.openxmlformats.org/officeDocument/2006/relationships" id="267" r:id="Rcc39574ca4954c5d"/>
    <p:sldId xmlns:r="http://schemas.openxmlformats.org/officeDocument/2006/relationships" id="268" r:id="R41e514197e3d45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12956fe2ac44d2" /><Relationship Type="http://schemas.openxmlformats.org/officeDocument/2006/relationships/slideMaster" Target="/ppt/slideMasters/slideMaster1.xml" Id="R2d6707eac695482c" /><Relationship Type="http://schemas.openxmlformats.org/officeDocument/2006/relationships/notesMaster" Target="/ppt/notesMasters/notesMaster1.xml" Id="R89d2c28e4d344df8" /><Relationship Type="http://schemas.openxmlformats.org/officeDocument/2006/relationships/presProps" Target="/ppt/presProps.xml" Id="Rca8068ef22f04228" /><Relationship Type="http://schemas.openxmlformats.org/officeDocument/2006/relationships/tableStyles" Target="/ppt/tableStyles.xml" Id="R04260fdb7a76455d" /><Relationship Type="http://schemas.openxmlformats.org/officeDocument/2006/relationships/slide" Target="/ppt/slides/slide1.xml" Id="R8df2b80290404e19" /><Relationship Type="http://schemas.openxmlformats.org/officeDocument/2006/relationships/slide" Target="/ppt/slides/slide2.xml" Id="R72c7aebab18e48de" /><Relationship Type="http://schemas.openxmlformats.org/officeDocument/2006/relationships/slide" Target="/ppt/slides/slide3.xml" Id="Rea4a15fa9bc44b05" /><Relationship Type="http://schemas.openxmlformats.org/officeDocument/2006/relationships/slide" Target="/ppt/slides/slide4.xml" Id="R5ba2dc6c022c4c1c" /><Relationship Type="http://schemas.openxmlformats.org/officeDocument/2006/relationships/slide" Target="/ppt/slides/slide5.xml" Id="R4835ff72128c4598" /><Relationship Type="http://schemas.openxmlformats.org/officeDocument/2006/relationships/slide" Target="/ppt/slides/slide6.xml" Id="R5870aa323c594c3f" /><Relationship Type="http://schemas.openxmlformats.org/officeDocument/2006/relationships/slide" Target="/ppt/slides/slide7.xml" Id="Rcbc532b3429a4359" /><Relationship Type="http://schemas.openxmlformats.org/officeDocument/2006/relationships/slide" Target="/ppt/slides/slide8.xml" Id="R9eda52957c6e497d" /><Relationship Type="http://schemas.openxmlformats.org/officeDocument/2006/relationships/slide" Target="/ppt/slides/slide9.xml" Id="R56a7dc9c428f45d9" /><Relationship Type="http://schemas.openxmlformats.org/officeDocument/2006/relationships/slide" Target="/ppt/slides/slide10.xml" Id="R83f607cea72f4cc3" /><Relationship Type="http://schemas.openxmlformats.org/officeDocument/2006/relationships/slide" Target="/ppt/slides/slide11.xml" Id="R953d9a7110234ff9" /><Relationship Type="http://schemas.openxmlformats.org/officeDocument/2006/relationships/slide" Target="/ppt/slides/slide12.xml" Id="Rcc39574ca4954c5d" /><Relationship Type="http://schemas.openxmlformats.org/officeDocument/2006/relationships/slide" Target="/ppt/slides/slide13.xml" Id="R41e514197e3d45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360ff29d794d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LocalMind academic">
      <a:dk1>
        <a:srgbClr val="000000"/>
      </a:dk1>
      <a:lt1>
        <a:srgbClr val="FFFFFF"/>
      </a:lt1>
      <a:dk2>
        <a:srgbClr val="173D33"/>
      </a:dk2>
      <a:lt2>
        <a:srgbClr val="E7EEE8"/>
      </a:lt2>
      <a:accent1>
        <a:srgbClr val="277B63"/>
      </a:accent1>
      <a:accent2>
        <a:srgbClr val="BD882F"/>
      </a:accent2>
      <a:accent3>
        <a:srgbClr val="7A9488"/>
      </a:accent3>
      <a:accent4>
        <a:srgbClr val="9C4B3E"/>
      </a:accent4>
      <a:accent5>
        <a:srgbClr val="5F6A8A"/>
      </a:accent5>
      <a:accent6>
        <a:srgbClr val="2B746F"/>
      </a:accent6>
      <a:hlink>
        <a:srgbClr val="277B63"/>
      </a:hlink>
      <a:folHlink>
        <a:srgbClr val="6D4D82"/>
      </a:folHlink>
    </a:clrScheme>
    <a:fontScheme name="">
      <a:majorFont>
        <a:latin typeface="Liberation Sans"/>
        <a:ea typeface=""/>
        <a:cs typeface=""/>
      </a:majorFont>
      <a:minorFont>
        <a:latin typeface="Liberation Sans"/>
        <a:ea typeface=""/>
        <a:cs typeface=""/>
      </a:minorFont>
    </a:fontScheme>
    <a:fmtScheme name="LocalMind academ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966aa1c96e4a94" /><Relationship Type="http://schemas.openxmlformats.org/officeDocument/2006/relationships/notesMaster" Target="/ppt/notesMasters/notesMaster1.xml" Id="R0be7006e7dc749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096d3dc5144354" /><Relationship Type="http://schemas.openxmlformats.org/officeDocument/2006/relationships/notesMaster" Target="/ppt/notesMasters/notesMaster1.xml" Id="R4d6acc23c5c647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fc74066ab041f2" /><Relationship Type="http://schemas.openxmlformats.org/officeDocument/2006/relationships/notesMaster" Target="/ppt/notesMasters/notesMaster1.xml" Id="Rce954d8e0cfa41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04c06ac52745df" /><Relationship Type="http://schemas.openxmlformats.org/officeDocument/2006/relationships/notesMaster" Target="/ppt/notesMasters/notesMaster1.xml" Id="R480ce3e26a2f4b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f16d00fbae4282" /><Relationship Type="http://schemas.openxmlformats.org/officeDocument/2006/relationships/notesMaster" Target="/ppt/notesMasters/notesMaster1.xml" Id="R2c3c673e82c948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c75cda00ed46ad" /><Relationship Type="http://schemas.openxmlformats.org/officeDocument/2006/relationships/notesMaster" Target="/ppt/notesMasters/notesMaster1.xml" Id="Rcb690653ff6043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f805831c504686" /><Relationship Type="http://schemas.openxmlformats.org/officeDocument/2006/relationships/notesMaster" Target="/ppt/notesMasters/notesMaster1.xml" Id="Re60ec2987cc04e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fd2f91740b40d4" /><Relationship Type="http://schemas.openxmlformats.org/officeDocument/2006/relationships/notesMaster" Target="/ppt/notesMasters/notesMaster1.xml" Id="Re2c463eb37414e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4b4994aa374a1e" /><Relationship Type="http://schemas.openxmlformats.org/officeDocument/2006/relationships/notesMaster" Target="/ppt/notesMasters/notesMaster1.xml" Id="R8ed577acc1c947b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4324d024b14ddd" /><Relationship Type="http://schemas.openxmlformats.org/officeDocument/2006/relationships/notesMaster" Target="/ppt/notesMasters/notesMaster1.xml" Id="Rd8db881c90b648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771f792680443b" /><Relationship Type="http://schemas.openxmlformats.org/officeDocument/2006/relationships/notesMaster" Target="/ppt/notesMasters/notesMaster1.xml" Id="Re3970ffa5cb448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d0a7b8afdbe4e00" /><Relationship Type="http://schemas.openxmlformats.org/officeDocument/2006/relationships/notesMaster" Target="/ppt/notesMasters/notesMaster1.xml" Id="Rd332eccef5f04b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48a403ad864ca4" /><Relationship Type="http://schemas.openxmlformats.org/officeDocument/2006/relationships/notesMaster" Target="/ppt/notesMasters/notesMaster1.xml" Id="R86896b0a5f2c4b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Trijal Burman. 00:00–00:35 (35 seconds). These are speaking assignments, not a claim about individual implementation contributions.</a:t>
            </a:r>
          </a:p>
          <a:p xmlns:a="http://schemas.openxmlformats.org/drawingml/2006/main">
            <a:r>
              <a:t/>
            </a:r>
          </a:p>
          <a:p xmlns:a="http://schemas.openxmlformats.org/drawingml/2006/main">
            <a:r>
              <a:t>Good morning. We are Trijal Burman, Tiya Singh, Gayatri Rajesh Apotikar and Nimita Jestin. Under the guidance of Dr. Sonali Kothari, we present LocalMind. It is a local knowledge workspace that combines document retrieval, persistent project memory and a custom MCP tool server. We use existing local models rather than training a new language model.</a:t>
            </a:r>
          </a:p>
          <a:p xmlns:a="http://schemas.openxmlformats.org/drawingml/2006/main">
            <a:r>
              <a:t/>
            </a:r>
          </a:p>
          <a:p xmlns:a="http://schemas.openxmlformats.org/drawingml/2006/main">
            <a:r>
              <a:t>Student PRNs: Trijal 23070123145. Tiya 23070123144. Gayatri 23070123055. Nimita 23070122259.</a:t>
            </a:r>
          </a:p>
          <a:p xmlns:a="http://schemas.openxmlformats.org/drawingml/2006/main">
            <a:r>
              <a:t/>
            </a:r>
          </a:p>
          <a:p xmlns:a="http://schemas.openxmlformats.org/drawingml/2006/main">
            <a:r>
              <a:t>Sources: Local project sources: output/pdf/localmind-ieee-research-paper.tex, research/literature-reading-list.md, output/verification/context-fitting-fix.json, output/verification/local-routing-fix.md, output/verification/model-upgrade.md. Historical experiments ran 17 October 2026. This presentation introduces no new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Trijal Burman. 00:35–01:25 (50 seconds). These are speaking assignments, not a claim about individual implementation contributions.</a:t>
            </a:r>
          </a:p>
          <a:p xmlns:a="http://schemas.openxmlformats.org/drawingml/2006/main">
            <a:r>
              <a:t/>
            </a:r>
          </a:p>
          <a:p xmlns:a="http://schemas.openxmlformats.org/drawingml/2006/main">
            <a:r>
              <a:t>A useful project decision might be in a PDF, a note, code or an earlier conversation. A normal chat has a limited input window and can lose that context. Our objective is to search approved local information and make it reusable. Local-first means the intended workflow can run without a hosted inference API after installation and model downloads. Hardware, power and storage still cost money. Local processing also does not make every answer correct.</a:t>
            </a:r>
          </a:p>
          <a:p xmlns:a="http://schemas.openxmlformats.org/drawingml/2006/main">
            <a:r>
              <a:t/>
            </a:r>
          </a:p>
          <a:p xmlns:a="http://schemas.openxmlformats.org/drawingml/2006/main">
            <a:r>
              <a:t>Sources: Local project sources: output/pdf/localmind-ieee-research-paper.tex, research/literature-reading-list.md, output/verification/context-fitting-fix.json, output/verification/local-routing-fix.md, output/verification/model-upgrade.md. Historical experiments ran 17 October 2026. This presentation introduces no new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Trijal Burman. 01:25–02:15 (50 seconds). These are speaking assignments, not a claim about individual implementation contributions.</a:t>
            </a:r>
          </a:p>
          <a:p xmlns:a="http://schemas.openxmlformats.org/drawingml/2006/main">
            <a:r>
              <a:t/>
            </a:r>
          </a:p>
          <a:p xmlns:a="http://schemas.openxmlformats.org/drawingml/2006/main">
            <a:r>
              <a:t>The project builds on established work. RAG supplies retrieved passages to generation. Reciprocal rank fusion combines ranked search results. Agent research motivates tool use, and memory systems motivate persistence beyond a context window. MCP standardizes the connection to tools. Our contribution is a constrained local systems integration and its evaluation. We do not claim a new retrieval algorithm or that no comparable system exists. Tiya will explain the architecture. Object descriptions here simplify the cited systems and do not claim faithful reproduction.</a:t>
            </a:r>
          </a:p>
          <a:p xmlns:a="http://schemas.openxmlformats.org/drawingml/2006/main">
            <a:r>
              <a:t/>
            </a:r>
          </a:p>
          <a:p xmlns:a="http://schemas.openxmlformats.org/drawingml/2006/main">
            <a:r>
              <a:t>Sources: P. Lewis et al., Retrieval-Augmented Generation for Knowledge-Intensive NLP Tasks, NeurIPS 33, 2020. https://arxiv.org/abs/2005.11401</a:t>
            </a:r>
          </a:p>
          <a:p xmlns:a="http://schemas.openxmlformats.org/drawingml/2006/main">
            <a:r>
              <a:t>G. V. Cormack, C. L. A. Clarke and S. Büttcher, Reciprocal Rank Fusion Outperforms Condorcet and Individual Rank Learning Methods, SIGIR, 2009, pp. 758–759. https://doi.org/10.1145/1571941.1572114</a:t>
            </a:r>
          </a:p>
          <a:p xmlns:a="http://schemas.openxmlformats.org/drawingml/2006/main">
            <a:r>
              <a:t>S. Yao et al., ReAct: Synergizing Reasoning and Acting in Language Models, ICLR, 2023. https://openreview.net/forum?id=WE_vluYUL-X</a:t>
            </a:r>
          </a:p>
          <a:p xmlns:a="http://schemas.openxmlformats.org/drawingml/2006/main">
            <a:r>
              <a:t>C. Packer et al., MemGPT: Towards LLMs as Operating Systems, arXiv:2310.08560, 2023, revised 2024. https://arxiv.org/abs/2310.08560</a:t>
            </a:r>
          </a:p>
          <a:p xmlns:a="http://schemas.openxmlformats.org/drawingml/2006/main">
            <a:r>
              <a:t>N. F. Liu et al., Lost in the Middle: How Language Models Use Long Contexts, TACL 12, 2024, pp. 157–173. https://aclanthology.org/2024.tacl-1.9/</a:t>
            </a:r>
          </a:p>
          <a:p xmlns:a="http://schemas.openxmlformats.org/drawingml/2006/main">
            <a:r>
              <a:t>Model Context Protocol contributors, Model Context Protocol Specification, revision 2025-11-25. https://modelcontextprotocol.io/specification/2025-11-25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Tiya Singh. 02:15–02:45 (30 seconds). These are speaking assignments, not a claim about individual implementation contributions.</a:t>
            </a:r>
          </a:p>
          <a:p xmlns:a="http://schemas.openxmlformats.org/drawingml/2006/main">
            <a:r>
              <a:t/>
            </a:r>
          </a:p>
          <a:p xmlns:a="http://schemas.openxmlformats.org/drawingml/2006/main">
            <a:r>
              <a:t>The browser talks to the local FastAPI application. The agent connects to our custom MCP server over stdio. Approved source folders pass through extraction into the library and SQLite store. Ollama provides local chat and embeddings. The diagram shows selected flows, because the application also calls the library directly during indexing and explicit user actions. The boundary assumes local clients and locally served model artifacts.</a:t>
            </a:r>
          </a:p>
          <a:p xmlns:a="http://schemas.openxmlformats.org/drawingml/2006/main">
            <a:r>
              <a:t/>
            </a:r>
          </a:p>
          <a:p xmlns:a="http://schemas.openxmlformats.org/drawingml/2006/main">
            <a:r>
              <a:t>Sources: Source image: figure from output/blackbook/localmind-blackbook.docx, word/media/image3.png. Implementation sources: copilot/server.py, copilot/agent.py, copilot/mcp_server.py, copilot/store.py. Local project sources: output/pdf/localmind-ieee-research-paper.tex, research/literature-reading-list.md, output/verification/context-fitting-fix.json, output/verification/local-routing-fix.md, output/verification/model-upgrade.md. Historical experiments ran 17 October 2026. This presentation introduces no new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Tiya Singh. 02:45–03:25 (40 seconds). These are speaking assignments, not a claim about individual implementation contributions.</a:t>
            </a:r>
          </a:p>
          <a:p xmlns:a="http://schemas.openxmlformats.org/drawingml/2006/main">
            <a:r>
              <a:t/>
            </a:r>
          </a:p>
          <a:p xmlns:a="http://schemas.openxmlformats.org/drawingml/2006/main">
            <a:r>
              <a:t>A document is split into overlapping passages. FTS5 performs lexical search and EmbeddingGemma represents passages as vectors. RRF combines their ranks. The selected evidence enters the model input. A saved memory stays in SQLite, which differs from retraining a model or retaining everything in its context. MCP discovers tools and carries structured calls. The internal model has seven read tools, at most four rounds and six additional tool executions per turn. Explicit UI actions can save memory or draft a plan. The application does not execute arbitrary project code.</a:t>
            </a:r>
          </a:p>
          <a:p xmlns:a="http://schemas.openxmlformats.org/drawingml/2006/main">
            <a:r>
              <a:t/>
            </a:r>
          </a:p>
          <a:p xmlns:a="http://schemas.openxmlformats.org/drawingml/2006/main">
            <a:r>
              <a:t>Sources: P. Lewis et al., Retrieval-Augmented Generation for Knowledge-Intensive NLP Tasks, NeurIPS 33, 2020. https://arxiv.org/abs/2005.11401</a:t>
            </a:r>
          </a:p>
          <a:p xmlns:a="http://schemas.openxmlformats.org/drawingml/2006/main">
            <a:r>
              <a:t>G. V. Cormack, C. L. A. Clarke and S. Büttcher, Reciprocal Rank Fusion Outperforms Condorcet and Individual Rank Learning Methods, SIGIR, 2009, pp. 758–759. https://doi.org/10.1145/1571941.1572114</a:t>
            </a:r>
          </a:p>
          <a:p xmlns:a="http://schemas.openxmlformats.org/drawingml/2006/main">
            <a:r>
              <a:t>Model Context Protocol contributors, Model Context Protocol Specification, revision 2025-11-25. https://modelcontextprotocol.io/specification/2025-11-25</a:t>
            </a:r>
          </a:p>
          <a:p xmlns:a="http://schemas.openxmlformats.org/drawingml/2006/main">
            <a:r>
              <a:t>https://sqlite.org/fts5.html</a:t>
            </a:r>
          </a:p>
          <a:p xmlns:a="http://schemas.openxmlformats.org/drawingml/2006/main">
            <a:r>
              <a:t>Local project sources: output/pdf/localmind-ieee-research-paper.tex, research/literature-reading-list.md, output/verification/context-fitting-fix.json, output/verification/local-routing-fix.md, output/verification/model-upgrade.md. Historical experiments ran 17 October 2026. This presentation introduces no new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Tiya Singh. 03:25–03:55 (30 seconds). These are speaking assignments, not a claim about individual implementation contributions.</a:t>
            </a:r>
          </a:p>
          <a:p xmlns:a="http://schemas.openxmlformats.org/drawingml/2006/main">
            <a:r>
              <a:t/>
            </a:r>
          </a:p>
          <a:p xmlns:a="http://schemas.openxmlformats.org/drawingml/2006/main">
            <a:r>
              <a:t>Earlier failures mixed a partial passage search with file inventory questions and could lose evidence during context fitting. The current routes use catalog metadata for exact file identity and bypass retrieval for a greeting. Context fitting measures the serialized request and packages complete evidence records. An uncited substantive reply can receive one tool-free retry. A failed check returns exact excerpts. These controls improve traceability and evidence delivery, but a valid citation alone cannot prove a claim.</a:t>
            </a:r>
          </a:p>
          <a:p xmlns:a="http://schemas.openxmlformats.org/drawingml/2006/main">
            <a:r>
              <a:t/>
            </a:r>
          </a:p>
          <a:p xmlns:a="http://schemas.openxmlformats.org/drawingml/2006/main">
            <a:r>
              <a:t>Sources: Local project sources: output/pdf/localmind-ieee-research-paper.tex, research/literature-reading-list.md, output/verification/context-fitting-fix.json, output/verification/local-routing-fix.md, output/verification/model-upgrade.md. Historical experiments ran 17 October 2026. This presentation introduces no new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Tiya Singh. 03:55–04:30 (35 seconds). These are speaking assignments, not a claim about individual implementation contributions.</a:t>
            </a:r>
          </a:p>
          <a:p xmlns:a="http://schemas.openxmlformats.org/drawingml/2006/main">
            <a:r>
              <a:t/>
            </a:r>
          </a:p>
          <a:p xmlns:a="http://schemas.openxmlformats.org/drawingml/2006/main">
            <a:r>
              <a:t>The prototype ran on the listed laptop. Its source defaults use Qwen3 4B with eight thousand one hundred ninety-two context tokens. The optional development profile uses Qwen3.5 9B at twelve thousand two hundred eighty-eight tokens with partial CPU offload. The model files stay on the hard drive. The frozen paper results use the earlier 4B model. We cannot attribute later development differences to model size alone because prompts, context and integration also changed. Gayatri will demonstrate the workflow.</a:t>
            </a:r>
          </a:p>
          <a:p xmlns:a="http://schemas.openxmlformats.org/drawingml/2006/main">
            <a:r>
              <a:t/>
            </a:r>
          </a:p>
          <a:p xmlns:a="http://schemas.openxmlformats.org/drawingml/2006/main">
            <a:r>
              <a:t>Sources: https://fastapi.tiangolo.com/</a:t>
            </a:r>
          </a:p>
          <a:p xmlns:a="http://schemas.openxmlformats.org/drawingml/2006/main">
            <a:r>
              <a:t>https://uvicorn.dev/</a:t>
            </a:r>
          </a:p>
          <a:p xmlns:a="http://schemas.openxmlformats.org/drawingml/2006/main">
            <a:r>
              <a:t>https://py.sdk.modelcontextprotocol.io/v1/</a:t>
            </a:r>
          </a:p>
          <a:p xmlns:a="http://schemas.openxmlformats.org/drawingml/2006/main">
            <a:r>
              <a:t>https://docs.ollama.com/api/introduction</a:t>
            </a:r>
          </a:p>
          <a:p xmlns:a="http://schemas.openxmlformats.org/drawingml/2006/main">
            <a:r>
              <a:t>Local project sources: output/pdf/localmind-ieee-research-paper.tex, research/literature-reading-list.md, output/verification/context-fitting-fix.json, output/verification/local-routing-fix.md, output/verification/model-upgrade.md. Historical experiments ran 17 October 2026. This presentation introduces no new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Gayatri Rajesh Apotikar. 04:30–06:30 (120 seconds). These are speaking assignments, not a claim about individual implementation contributions.</a:t>
            </a:r>
          </a:p>
          <a:p xmlns:a="http://schemas.openxmlformats.org/drawingml/2006/main">
            <a:r>
              <a:t/>
            </a:r>
          </a:p>
          <a:p xmlns:a="http://schemas.openxmlformats.org/drawingml/2006/main">
            <a:r>
              <a:t>Before the timer: warm the model. Prepare examples/knowledge and the Lighthouse Presentation project in the separate demo workspace. Check its actual address, normally http://127.0.0.1:8766 when started with output/presentation/start-presentation-demo.sh. The main app uses port 8765. The slide image is dated prepared evidence, not proof of a current live service.</a:t>
            </a:r>
          </a:p>
          <a:p xmlns:a="http://schemas.openxmlformats.org/drawingml/2006/main">
            <a:r>
              <a:t/>
            </a:r>
          </a:p>
          <a:p xmlns:a="http://schemas.openxmlformats.org/drawingml/2006/main">
            <a:r>
              <a:t>04:30–04:55: Open Library, read lighthouse-project.md, and show Storage decision. Say: These are supplied sample files. The source explicitly says SQLite.</a:t>
            </a:r>
          </a:p>
          <a:p xmlns:a="http://schemas.openxmlformats.org/drawingml/2006/main">
            <a:r>
              <a:t/>
            </a:r>
          </a:p>
          <a:p xmlns:a="http://schemas.openxmlformats.org/drawingml/2006/main">
            <a:r>
              <a:t>04:55–05:30: In Lighthouse Presentation project chat, ask exactly: What storage does the Lighthouse project use? Wait no more than ten seconds for an already warm model. Compare its source card with the document. If it fails, abstains or takes longer, show the source reader and move on.</a:t>
            </a:r>
          </a:p>
          <a:p xmlns:a="http://schemas.openxmlformats.org/drawingml/2006/main">
            <a:r>
              <a:t/>
            </a:r>
          </a:p>
          <a:p xmlns:a="http://schemas.openxmlformats.org/drawingml/2006/main">
            <a:r>
              <a:t>05:30–06:05: Send /remember Use only the supplied Lighthouse sample files in this presentation. Open Memory and filter to Lighthouse Presentation. Use the manual Add memory form if chat is busy.</a:t>
            </a:r>
          </a:p>
          <a:p xmlns:a="http://schemas.openxmlformats.org/drawingml/2006/main">
            <a:r>
              <a:t/>
            </a:r>
          </a:p>
          <a:p xmlns:a="http://schemas.openxmlformats.org/drawingml/2006/main">
            <a:r>
              <a:t>06:05–06:30: Reload Memory and show the saved entry. Say: The reload illustrates persistence through this reload. Storage tests separately cover restarts. Hand over to Nimita.</a:t>
            </a:r>
          </a:p>
          <a:p xmlns:a="http://schemas.openxmlformats.org/drawingml/2006/main">
            <a:r>
              <a:t/>
            </a:r>
          </a:p>
          <a:p xmlns:a="http://schemas.openxmlformats.org/drawingml/2006/main">
            <a:r>
              <a:t>Sources: Supplied corpus: examples/knowledge/lighthouse-project.md and examples/knowledge/study-notes.txt. Navigation and timing: output/presentation/10-minute-group-script.md. Image: dated rehearsal screenshot embedded in current blackbook. No new rehearsal or performance observation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Nimita Jestin. 06:30–07:15 (45 seconds). These are speaking assignments, not a claim about individual implementation contributions.</a:t>
            </a:r>
          </a:p>
          <a:p xmlns:a="http://schemas.openxmlformats.org/drawingml/2006/main">
            <a:r>
              <a:t/>
            </a:r>
          </a:p>
          <a:p xmlns:a="http://schemas.openxmlformats.org/drawingml/2006/main">
            <a:r>
              <a:t>Our evaluation uses authored fictional documents rather than a representative personal archive. Complete-evidence success asks whether the top five retrieved passages contain every required fact in the correct document. Lexical and hybrid retrieval cover ninety-six of ninety-six answerable questions. Dense retrieval covers ninety-one. Hybrid matches lexical coverage on this identifier-rich corpus, so we do not claim it is always better. These are retrieval results. They do not establish one hundred percent answer accuracy.</a:t>
            </a:r>
          </a:p>
          <a:p xmlns:a="http://schemas.openxmlformats.org/drawingml/2006/main">
            <a:r>
              <a:t/>
            </a:r>
          </a:p>
          <a:p xmlns:a="http://schemas.openxmlformats.org/drawingml/2006/main">
            <a:r>
              <a:t>Sources: Frozen experiment sources: research/evaluation/results/paper-statistics.json and output/pdf/localmind-ieee-research-paper.tex, Retrieval Effectiveness section. CES@5 percentages are 96/96 = 100%, 91/96 = 94.7917%, and 96/96 = 100%. All methods cover all questions at ten results. No new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Nimita Jestin. 07:15–08:20 (65 seconds). These are speaking assignments, not a claim about individual implementation contributions.</a:t>
            </a:r>
          </a:p>
          <a:p xmlns:a="http://schemas.openxmlformats.org/drawingml/2006/main">
            <a:r>
              <a:t/>
            </a:r>
          </a:p>
          <a:p xmlns:a="http://schemas.openxmlformats.org/drawingml/2006/main">
            <a:r>
              <a:t>The original generator matched zero complete answers out of twenty-four in each condition. It incorrectly abstained on the positive questions because the context fitter could discard evidence after serialization. The production repair retained initial evidence in all sixty-four requests and kept every call within its serialized input budget. Complete answer matches became seven of twenty-four for RAG and three of twenty-four for the MCP agent. All-fact value match is a string alias proxy, not independently judged semantic correctness. Missing-value phrase counts concern eight separate unknown questions. No extra model-selected tool calls occurred, so this set shows no observed adaptive tool-use benefit. The small sample, wide intervals and reused questions limit interpretation. Historical summaries retained ten of twenty-four requested values across three dossiers and have not been rerun after this repair.</a:t>
            </a:r>
          </a:p>
          <a:p xmlns:a="http://schemas.openxmlformats.org/drawingml/2006/main">
            <a:r>
              <a:t/>
            </a:r>
          </a:p>
          <a:p xmlns:a="http://schemas.openxmlformats.org/drawingml/2006/main">
            <a:r>
              <a:t>Sources: Sources: output/pdf/localmind-ieee-research-paper.tex, generation Table and Production Replay section. research/evaluation/results/paper-statistics.json. output/verification/context-fitting-fix.json. All displayed rows use the historical Qwen3 4B experiment. Original counts are two separate 0/24 conditions, not one pooled sample. Production replay RAG AFVM 7/24, agent 3/24. Summary 10/24 historical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Nimita Jestin. 08:20–09:05 (45 seconds). These are speaking assignments, not a claim about individual implementation contributions.</a:t>
            </a:r>
          </a:p>
          <a:p xmlns:a="http://schemas.openxmlformats.org/drawingml/2006/main">
            <a:r>
              <a:t/>
            </a:r>
          </a:p>
          <a:p xmlns:a="http://schemas.openxmlformats.org/drawingml/2006/main">
            <a:r>
              <a:t>Functional tests answer a different question from model accuracy. The recorded suites passed one hundred sixty-three Linux tests and two hundred Windows-copy tests on Linux, with six native checks skipped. Later native Windows CI passed two hundred six tests on each interpreter, with a fake model service. That checks runtime behavior rather than GPU inference or answer accuracy. Next steps include held-out factuality and citation entailment evaluation, better long-document coverage, local OCR and actual Windows 11 GPU measurements. The database currently lacks application-level encryption.</a:t>
            </a:r>
          </a:p>
          <a:p xmlns:a="http://schemas.openxmlformats.org/drawingml/2006/main">
            <a:r>
              <a:t/>
            </a:r>
          </a:p>
          <a:p xmlns:a="http://schemas.openxmlformats.org/drawingml/2006/main">
            <a:r>
              <a:t>Sources: Sources: output/verification/local-routing-fix.json and output/verification/local-routing-fix.md. Native CI run https://github.com/TrijalBurman/MCP-Server/actions/runs/39056375542 at Windows commit da05653. Linux counts describe the recorded 17 October snapshot rather than an unrun current suite. N. F. Liu et al., Lost in the Middle: How Language Models Use Long Contexts, TACL 12, 2024, pp. 157–173. https://aclanthology.org/2024.tacl-1.9/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Nimita Jestin. 09:05–10:00 (55 seconds). These are speaking assignments, not a claim about individual implementation contributions.</a:t>
            </a:r>
          </a:p>
          <a:p xmlns:a="http://schemas.openxmlformats.org/drawingml/2006/main">
            <a:r>
              <a:t/>
            </a:r>
          </a:p>
          <a:p xmlns:a="http://schemas.openxmlformats.org/drawingml/2006/main">
            <a:r>
              <a:t>LocalMind brings approved local files, relational project memory, local inference and a real MCP connection into one working application. Its measurements show why finding evidence and producing a correct answer must be evaluated separately. The context repair fixes an observed evidence-delivery failure, while later controls improve file identity and source inspection. Important answers still need comparison with source text. We have documented limitations rather than substituting software test counts for semantic accuracy. Thank you to Dr. Sonali Kothari and the evaluation panel. We welcome your questions.</a:t>
            </a:r>
          </a:p>
          <a:p xmlns:a="http://schemas.openxmlformats.org/drawingml/2006/main">
            <a:r>
              <a:t/>
            </a:r>
          </a:p>
          <a:p xmlns:a="http://schemas.openxmlformats.org/drawingml/2006/main">
            <a:r>
              <a:t>At 10:00 stop the timed presentation. The next slide contains selected references for viva discussion.</a:t>
            </a:r>
          </a:p>
          <a:p xmlns:a="http://schemas.openxmlformats.org/drawingml/2006/main">
            <a:r>
              <a:t/>
            </a:r>
          </a:p>
          <a:p xmlns:a="http://schemas.openxmlformats.org/drawingml/2006/main">
            <a:r>
              <a:t>Sources: Local project sources: output/pdf/localmind-ieee-research-paper.tex, research/literature-reading-list.md, output/verification/context-fitting-fix.json, output/verification/local-routing-fix.md, output/verification/model-upgrade.md. Historical experiments ran 17 October 2026. This presentation introduces no new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members. Backup slide, outside the timed presentation. These are speaking assignments, not a claim about individual implementation contributions.</a:t>
            </a:r>
          </a:p>
          <a:p xmlns:a="http://schemas.openxmlformats.org/drawingml/2006/main">
            <a:r>
              <a:t/>
            </a:r>
          </a:p>
          <a:p xmlns:a="http://schemas.openxmlformats.org/drawingml/2006/main">
            <a:r>
              <a:t>Selected background references are listed here. Full source links appear below and the blackbook contains the expanded bibliography. The project uses established RAG, fusion, memory and protocol ideas. No cited work establishes LocalMind performance. The current paper is a draft unless the group supplies evidence of publication. Literature descriptions come from the project reading list and existing manuscript, without a new systematic review.</a:t>
            </a:r>
          </a:p>
          <a:p xmlns:a="http://schemas.openxmlformats.org/drawingml/2006/main">
            <a:r>
              <a:t/>
            </a:r>
          </a:p>
          <a:p xmlns:a="http://schemas.openxmlformats.org/drawingml/2006/main">
            <a:r>
              <a:t>Sources: P. Lewis et al., Retrieval-Augmented Generation for Knowledge-Intensive NLP Tasks, NeurIPS 33, 2020. https://arxiv.org/abs/2005.11401</a:t>
            </a:r>
          </a:p>
          <a:p xmlns:a="http://schemas.openxmlformats.org/drawingml/2006/main">
            <a:r>
              <a:t>G. V. Cormack, C. L. A. Clarke and S. Büttcher, Reciprocal Rank Fusion Outperforms Condorcet and Individual Rank Learning Methods, SIGIR, 2009, pp. 758–759. https://doi.org/10.1145/1571941.1572114</a:t>
            </a:r>
          </a:p>
          <a:p xmlns:a="http://schemas.openxmlformats.org/drawingml/2006/main">
            <a:r>
              <a:t>S. Yao et al., ReAct: Synergizing Reasoning and Acting in Language Models, ICLR, 2023. https://openreview.net/forum?id=WE_vluYUL-X</a:t>
            </a:r>
          </a:p>
          <a:p xmlns:a="http://schemas.openxmlformats.org/drawingml/2006/main">
            <a:r>
              <a:t>C. Packer et al., MemGPT: Towards LLMs as Operating Systems, arXiv:2310.08560, 2023, revised 2024. https://arxiv.org/abs/2310.08560</a:t>
            </a:r>
          </a:p>
          <a:p xmlns:a="http://schemas.openxmlformats.org/drawingml/2006/main">
            <a:r>
              <a:t>N. F. Liu et al., Lost in the Middle: How Language Models Use Long Contexts, TACL 12, 2024, pp. 157–173. https://aclanthology.org/2024.tacl-1.9/</a:t>
            </a:r>
          </a:p>
          <a:p xmlns:a="http://schemas.openxmlformats.org/drawingml/2006/main">
            <a:r>
              <a:t>Model Context Protocol contributors, Model Context Protocol Specification, revision 2025-11-25. https://modelcontextprotocol.io/specification/2025-11-25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49b794563341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ab081c0996946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d86b79877d41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6ae222d4e241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0ca0cf33fd4f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556295b41740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72EF77-6EC4-4386-9155-F4ED0DEFEC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6421A12-ED59-41C2-91B5-A58A9704CEF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9CD0D5F-FE70-4882-A9E5-BA42147EBC7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9EBADA-1696-4B51-8ED1-0C1EDE81E9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43326D6-2B27-44E8-98C0-68D9B3DAE6A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072660-374E-4935-BA24-C36B58F58C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79D3E8-5B13-494B-9038-E3B2DEE5FF1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EEC0D5-35FE-43B2-8CDE-58D4BE90A3D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18F6FE-668D-410C-8919-C07EBAD344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EE328F-0203-478B-98DE-0E1EA34DF1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c9e09956694042" /><Relationship Type="http://schemas.openxmlformats.org/officeDocument/2006/relationships/slideLayout" Target="/ppt/slideLayouts/slideLayout1.xml" Id="R64b5a2aede5246d0" /><Relationship Type="http://schemas.openxmlformats.org/officeDocument/2006/relationships/slideLayout" Target="/ppt/slideLayouts/slideLayout2.xml" Id="R68f66bfa3ad34acf" /><Relationship Type="http://schemas.openxmlformats.org/officeDocument/2006/relationships/slideLayout" Target="/ppt/slideLayouts/slideLayout3.xml" Id="Rac3def1ad259474c" /><Relationship Type="http://schemas.openxmlformats.org/officeDocument/2006/relationships/slideLayout" Target="/ppt/slideLayouts/slideLayout4.xml" Id="Re69ccdf191984cc1" /><Relationship Type="http://schemas.openxmlformats.org/officeDocument/2006/relationships/slideLayout" Target="/ppt/slideLayouts/slideLayout5.xml" Id="Rba52eabd88cf41e4" /><Relationship Type="http://schemas.openxmlformats.org/officeDocument/2006/relationships/slideLayout" Target="/ppt/slideLayouts/slideLayout6.xml" Id="Rcc659e28e52144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b5a2aede5246d0"/>
    <p:sldLayoutId xmlns:r="http://schemas.openxmlformats.org/officeDocument/2006/relationships" id="2147483650" r:id="R68f66bfa3ad34acf"/>
    <p:sldLayoutId xmlns:r="http://schemas.openxmlformats.org/officeDocument/2006/relationships" id="2147483651" r:id="Rac3def1ad259474c"/>
    <p:sldLayoutId xmlns:r="http://schemas.openxmlformats.org/officeDocument/2006/relationships" id="2147483652" r:id="Re69ccdf191984cc1"/>
    <p:sldLayoutId xmlns:r="http://schemas.openxmlformats.org/officeDocument/2006/relationships" id="2147483653" r:id="Rba52eabd88cf41e4"/>
    <p:sldLayoutId xmlns:r="http://schemas.openxmlformats.org/officeDocument/2006/relationships" id="2147483654" r:id="Rcc659e28e52144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LocalMind academic">
      <a:dk1>
        <a:srgbClr val="000000"/>
      </a:dk1>
      <a:lt1>
        <a:srgbClr val="FFFFFF"/>
      </a:lt1>
      <a:dk2>
        <a:srgbClr val="173D33"/>
      </a:dk2>
      <a:lt2>
        <a:srgbClr val="E7EEE8"/>
      </a:lt2>
      <a:accent1>
        <a:srgbClr val="277B63"/>
      </a:accent1>
      <a:accent2>
        <a:srgbClr val="BD882F"/>
      </a:accent2>
      <a:accent3>
        <a:srgbClr val="7A9488"/>
      </a:accent3>
      <a:accent4>
        <a:srgbClr val="9C4B3E"/>
      </a:accent4>
      <a:accent5>
        <a:srgbClr val="5F6A8A"/>
      </a:accent5>
      <a:accent6>
        <a:srgbClr val="2B746F"/>
      </a:accent6>
      <a:hlink>
        <a:srgbClr val="277B63"/>
      </a:hlink>
      <a:folHlink>
        <a:srgbClr val="6D4D82"/>
      </a:folHlink>
    </a:clrScheme>
    <a:fontScheme name="">
      <a:majorFont>
        <a:latin typeface="Liberation Sans"/>
        <a:ea typeface=""/>
        <a:cs typeface=""/>
      </a:majorFont>
      <a:minorFont>
        <a:latin typeface="Liberation Sans"/>
        <a:ea typeface=""/>
        <a:cs typeface=""/>
      </a:minorFont>
    </a:fontScheme>
    <a:fmtScheme name="LocalMind academ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6b1fec4e8da485d" /><Relationship Type="http://schemas.openxmlformats.org/officeDocument/2006/relationships/image" Target="/ppt/media/image.png" Id="R7a56a36901cb473f" /><Relationship Type="http://schemas.openxmlformats.org/officeDocument/2006/relationships/notesSlide" Target="/ppt/notesSlides/notesSlide1.xml" Id="R3fe2c28a09ac41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7e6936e18845f2" /><Relationship Type="http://schemas.openxmlformats.org/officeDocument/2006/relationships/notesSlide" Target="/ppt/notesSlides/notesSlide2.xml" Id="Ra38d7b66687740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ca0143792cd45ab" /><Relationship Type="http://schemas.openxmlformats.org/officeDocument/2006/relationships/notesSlide" Target="/ppt/notesSlides/notesSlide3.xml" Id="Rfb80990b3a7e41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20f262d478847e6" /><Relationship Type="http://schemas.openxmlformats.org/officeDocument/2006/relationships/image" Target="/ppt/media/image2.png" Id="R1d5b2ef688cd49f6" /><Relationship Type="http://schemas.openxmlformats.org/officeDocument/2006/relationships/notesSlide" Target="/ppt/notesSlides/notesSlide4.xml" Id="R81ae776770ee47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b113021a1e843bf" /><Relationship Type="http://schemas.openxmlformats.org/officeDocument/2006/relationships/notesSlide" Target="/ppt/notesSlides/notesSlide5.xml" Id="R8267032793a143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d6fcef2e7a34643" /><Relationship Type="http://schemas.openxmlformats.org/officeDocument/2006/relationships/notesSlide" Target="/ppt/notesSlides/notesSlide6.xml" Id="R5f01eef5f7b848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10a8da4460453e" /><Relationship Type="http://schemas.openxmlformats.org/officeDocument/2006/relationships/notesSlide" Target="/ppt/notesSlides/notesSlide7.xml" Id="Rdf47daaabfc74c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893283736a04a9c" /><Relationship Type="http://schemas.openxmlformats.org/officeDocument/2006/relationships/image" Target="/ppt/media/image.jpeg" Id="R4e0ca6833aa3471e" /><Relationship Type="http://schemas.openxmlformats.org/officeDocument/2006/relationships/notesSlide" Target="/ppt/notesSlides/notesSlide8.xml" Id="R04eda6fcd45c4e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3f604115a2040ad" /><Relationship Type="http://schemas.openxmlformats.org/officeDocument/2006/relationships/chart" Target="/ppt/slides/charts/chart1.xml" Id="Rd5b8cfcec8914b4b" /><Relationship Type="http://schemas.openxmlformats.org/officeDocument/2006/relationships/notesSlide" Target="/ppt/notesSlides/notesSlide9.xml" Id="R612364f17ec845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72c87653874483b" /><Relationship Type="http://schemas.openxmlformats.org/officeDocument/2006/relationships/notesSlide" Target="/ppt/notesSlides/notesSlide10.xml" Id="R8002b551189e49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82ab04dffb14ac7" /><Relationship Type="http://schemas.openxmlformats.org/officeDocument/2006/relationships/notesSlide" Target="/ppt/notesSlides/notesSlide11.xml" Id="R83462a77de3b42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f00f9f53ba64a1d" /><Relationship Type="http://schemas.openxmlformats.org/officeDocument/2006/relationships/notesSlide" Target="/ppt/notesSlides/notesSlide12.xml" Id="R9d312e76c40c47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199e84926a34052" /><Relationship Type="http://schemas.openxmlformats.org/officeDocument/2006/relationships/notesSlide" Target="/ppt/notesSlides/notesSlide13.xml" Id="Ref83cf4dc0ca4e0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Complete evidence at five (%)</c:v>
          </c:tx>
          <c:spPr>
            <a:solidFill xmlns:a="http://schemas.openxmlformats.org/drawingml/2006/main">
              <a:srgbClr val="277B63"/>
            </a:solidFill>
          </c:spPr>
          <c:invertIfNegative val="0"/>
          <c:cat>
            <c:strRef>
              <c:f>'Chart Data'!$A$2:$A$4</c:f>
              <c:strCache>
                <c:ptCount val="3"/>
                <c:pt idx="0">
                  <c:v>Lexical</c:v>
                </c:pt>
                <c:pt idx="1">
                  <c:v>Dense</c:v>
                </c:pt>
                <c:pt idx="2">
                  <c:v>Hybrid RRF</c:v>
                </c:pt>
              </c:strCache>
            </c:strRef>
          </c:cat>
          <c:val>
            <c:numRef>
              <c:f>'Chart Data'!$B$2:$B$4</c:f>
              <c:numCache>
                <c:formatCode>0"%"</c:formatCode>
                <c:ptCount val="3"/>
                <c:pt idx="0">
                  <c:v>100</c:v>
                </c:pt>
                <c:pt idx="1">
                  <c:v>94.79</c:v>
                </c:pt>
                <c:pt idx="2">
                  <c:v>100</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sz="1725" b="1">
                  <a:solidFill>
                    <a:srgbClr val="173D33"/>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AD7CE"/>
            </a:solidFill>
          </a:ln>
        </c:spPr>
        <c:txPr>
          <a:bodyPr xmlns:a="http://schemas.openxmlformats.org/drawingml/2006/main" anchorCtr="1"/>
          <a:lstStyle xmlns:a="http://schemas.openxmlformats.org/drawingml/2006/main"/>
          <a:p xmlns:a="http://schemas.openxmlformats.org/drawingml/2006/main">
            <a:pPr>
              <a:defRPr sz="1725">
                <a:solidFill>
                  <a:srgbClr val="253B34"/>
                </a:solidFill>
                <a:latin typeface="Liberation Sans"/>
                <a:ea typeface="Liberation Sans"/>
                <a:cs typeface="Liberation Sans"/>
              </a:defRPr>
            </a:pPr>
          </a:p>
        </c:txPr>
        <c:crossAx val="48672768"/>
      </c:catAx>
      <c:valAx>
        <c:axId val="48672768"/>
        <c:scaling>
          <c:orientation val="minMax"/>
          <c:max val="110"/>
          <c:min val="0"/>
        </c:scaling>
        <c:delete val="0"/>
        <c:axPos val="l"/>
        <c:majorGridlines>
          <c:spPr>
            <a:ln xmlns:a="http://schemas.openxmlformats.org/drawingml/2006/main" w="9525">
              <a:solidFill>
                <a:srgbClr val="DDE5DF"/>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A63"/>
                </a:solidFill>
                <a:latin typeface="Liberation Sans"/>
                <a:ea typeface="Liberation Sans"/>
                <a:cs typeface="Liberation Sans"/>
              </a:defRPr>
            </a:pPr>
          </a:p>
        </c:txPr>
        <c:crossAx val="48650112"/>
        <c:crossBetween val="between"/>
        <c:majorUnit val="25"/>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64E67F8-FAB2-4BC0-AD51-DAA20FF47772}"/>
              </a:ext>
            </a:extLst>
          </p:cNvPr>
          <p:cNvSpPr>
            <a:spLocks xmlns:a="http://schemas.openxmlformats.org/drawingml/2006/main" noGrp="1"/>
          </p:cNvSpPr>
          <p:nvPr/>
        </p:nvSpPr>
        <p:spPr>
          <a:xfrm xmlns:a="http://schemas.openxmlformats.org/drawingml/2006/main">
            <a:off x="609600" y="4572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4800" b="1">
                <a:solidFill>
                  <a:srgbClr val="173D33"/>
                </a:solidFill>
                <a:latin typeface="Liberation Sans"/>
                <a:ea typeface="Liberation Sans"/>
                <a:cs typeface="Liberation Sans"/>
              </a:defRPr>
            </a:defPPr>
            <a:lvl1pPr algn="l">
              <a:defRPr sz="4800" b="1">
                <a:solidFill>
                  <a:srgbClr val="173D33"/>
                </a:solidFill>
                <a:latin typeface="Liberation Sans"/>
                <a:ea typeface="Liberation Sans"/>
                <a:cs typeface="Liberation Sans"/>
              </a:defRPr>
            </a:lvl1pPr>
            <a:lvl2pPr algn="l">
              <a:defRPr sz="4800" b="1">
                <a:solidFill>
                  <a:srgbClr val="173D33"/>
                </a:solidFill>
                <a:latin typeface="Liberation Sans"/>
                <a:ea typeface="Liberation Sans"/>
                <a:cs typeface="Liberation Sans"/>
              </a:defRPr>
            </a:lvl2pPr>
            <a:lvl3pPr algn="l">
              <a:defRPr sz="4800" b="1">
                <a:solidFill>
                  <a:srgbClr val="173D33"/>
                </a:solidFill>
                <a:latin typeface="Liberation Sans"/>
                <a:ea typeface="Liberation Sans"/>
                <a:cs typeface="Liberation Sans"/>
              </a:defRPr>
            </a:lvl3pPr>
            <a:lvl4pPr algn="l">
              <a:defRPr sz="4800" b="1">
                <a:solidFill>
                  <a:srgbClr val="173D33"/>
                </a:solidFill>
                <a:latin typeface="Liberation Sans"/>
                <a:ea typeface="Liberation Sans"/>
                <a:cs typeface="Liberation Sans"/>
              </a:defRPr>
            </a:lvl4pPr>
            <a:lvl5pPr algn="l">
              <a:defRPr sz="4800" b="1">
                <a:solidFill>
                  <a:srgbClr val="173D33"/>
                </a:solidFill>
                <a:latin typeface="Liberation Sans"/>
                <a:ea typeface="Liberation Sans"/>
                <a:cs typeface="Liberation Sans"/>
              </a:defRPr>
            </a:lvl5pPr>
            <a:lvl6pPr algn="l">
              <a:defRPr sz="4800" b="1">
                <a:solidFill>
                  <a:srgbClr val="173D33"/>
                </a:solidFill>
                <a:latin typeface="Liberation Sans"/>
                <a:ea typeface="Liberation Sans"/>
                <a:cs typeface="Liberation Sans"/>
              </a:defRPr>
            </a:lvl6pPr>
            <a:lvl7pPr algn="l">
              <a:defRPr sz="4800" b="1">
                <a:solidFill>
                  <a:srgbClr val="173D33"/>
                </a:solidFill>
                <a:latin typeface="Liberation Sans"/>
                <a:ea typeface="Liberation Sans"/>
                <a:cs typeface="Liberation Sans"/>
              </a:defRPr>
            </a:lvl7pPr>
            <a:lvl8pPr algn="l">
              <a:defRPr sz="4800" b="1">
                <a:solidFill>
                  <a:srgbClr val="173D33"/>
                </a:solidFill>
                <a:latin typeface="Liberation Sans"/>
                <a:ea typeface="Liberation Sans"/>
                <a:cs typeface="Liberation Sans"/>
              </a:defRPr>
            </a:lvl8pPr>
            <a:lvl9pPr algn="l">
              <a:defRPr sz="4800" b="1">
                <a:solidFill>
                  <a:srgbClr val="173D33"/>
                </a:solidFill>
                <a:latin typeface="Liberation Sans"/>
                <a:ea typeface="Liberation Sans"/>
                <a:cs typeface="Liberation Sans"/>
              </a:defRPr>
            </a:lvl9pPr>
          </a:lstStyle>
          <a:p xmlns:a="http://schemas.openxmlformats.org/drawingml/2006/main">
            <a:pPr algn="l">
              <a:defRPr sz="4800" b="1">
                <a:solidFill>
                  <a:srgbClr val="173D33"/>
                </a:solidFill>
                <a:latin typeface="Liberation Sans"/>
                <a:ea typeface="Liberation Sans"/>
                <a:cs typeface="Liberation Sans"/>
              </a:defRPr>
            </a:pPr>
            <a:r>
              <a:rPr sz="4800" b="1">
                <a:solidFill>
                  <a:srgbClr val="173D33"/>
                </a:solidFill>
                <a:latin typeface="Liberation Sans"/>
                <a:ea typeface="Liberation Sans"/>
                <a:cs typeface="Liberation Sans"/>
              </a:rPr>
              <a:t>LocalMind</a:t>
            </a:r>
          </a:p>
        </p:txBody>
      </p:sp>
      <p:sp>
        <p:nvSpPr>
          <p:cNvPr id="3" name="01">
            <a:extLst xmlns:a="http://schemas.openxmlformats.org/drawingml/2006/main">
              <a:ext uri="{FF2B5EF4-FFF2-40B4-BE49-F238E27FC236}">
                <a16:creationId xmlns:a16="http://schemas.microsoft.com/office/drawing/2014/main" id="{19E5CBA7-B921-4939-BD4A-B0B51C1AA08B}"/>
              </a:ext>
            </a:extLst>
          </p:cNvPr>
          <p:cNvSpPr>
            <a:spLocks xmlns:a="http://schemas.openxmlformats.org/drawingml/2006/main" noGrp="1"/>
          </p:cNvSpPr>
          <p:nvPr/>
        </p:nvSpPr>
        <p:spPr>
          <a:xfrm xmlns:a="http://schemas.openxmlformats.org/drawingml/2006/main">
            <a:off x="1106805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350" b="0">
                <a:solidFill>
                  <a:srgbClr val="708177"/>
                </a:solidFill>
                <a:latin typeface="Liberation Sans"/>
                <a:ea typeface="Liberation Sans"/>
                <a:cs typeface="Liberation Sans"/>
              </a:defRPr>
            </a:defPPr>
            <a:lvl1pPr algn="r">
              <a:defRPr sz="1350" b="0">
                <a:solidFill>
                  <a:srgbClr val="708177"/>
                </a:solidFill>
                <a:latin typeface="Liberation Sans"/>
                <a:ea typeface="Liberation Sans"/>
                <a:cs typeface="Liberation Sans"/>
              </a:defRPr>
            </a:lvl1pPr>
            <a:lvl2pPr algn="r">
              <a:defRPr sz="1350" b="0">
                <a:solidFill>
                  <a:srgbClr val="708177"/>
                </a:solidFill>
                <a:latin typeface="Liberation Sans"/>
                <a:ea typeface="Liberation Sans"/>
                <a:cs typeface="Liberation Sans"/>
              </a:defRPr>
            </a:lvl2pPr>
            <a:lvl3pPr algn="r">
              <a:defRPr sz="1350" b="0">
                <a:solidFill>
                  <a:srgbClr val="708177"/>
                </a:solidFill>
                <a:latin typeface="Liberation Sans"/>
                <a:ea typeface="Liberation Sans"/>
                <a:cs typeface="Liberation Sans"/>
              </a:defRPr>
            </a:lvl3pPr>
            <a:lvl4pPr algn="r">
              <a:defRPr sz="1350" b="0">
                <a:solidFill>
                  <a:srgbClr val="708177"/>
                </a:solidFill>
                <a:latin typeface="Liberation Sans"/>
                <a:ea typeface="Liberation Sans"/>
                <a:cs typeface="Liberation Sans"/>
              </a:defRPr>
            </a:lvl4pPr>
            <a:lvl5pPr algn="r">
              <a:defRPr sz="1350" b="0">
                <a:solidFill>
                  <a:srgbClr val="708177"/>
                </a:solidFill>
                <a:latin typeface="Liberation Sans"/>
                <a:ea typeface="Liberation Sans"/>
                <a:cs typeface="Liberation Sans"/>
              </a:defRPr>
            </a:lvl5pPr>
            <a:lvl6pPr algn="r">
              <a:defRPr sz="1350" b="0">
                <a:solidFill>
                  <a:srgbClr val="708177"/>
                </a:solidFill>
                <a:latin typeface="Liberation Sans"/>
                <a:ea typeface="Liberation Sans"/>
                <a:cs typeface="Liberation Sans"/>
              </a:defRPr>
            </a:lvl6pPr>
            <a:lvl7pPr algn="r">
              <a:defRPr sz="1350" b="0">
                <a:solidFill>
                  <a:srgbClr val="708177"/>
                </a:solidFill>
                <a:latin typeface="Liberation Sans"/>
                <a:ea typeface="Liberation Sans"/>
                <a:cs typeface="Liberation Sans"/>
              </a:defRPr>
            </a:lvl7pPr>
            <a:lvl8pPr algn="r">
              <a:defRPr sz="1350" b="0">
                <a:solidFill>
                  <a:srgbClr val="708177"/>
                </a:solidFill>
                <a:latin typeface="Liberation Sans"/>
                <a:ea typeface="Liberation Sans"/>
                <a:cs typeface="Liberation Sans"/>
              </a:defRPr>
            </a:lvl8pPr>
            <a:lvl9pPr algn="r">
              <a:defRPr sz="1350" b="0">
                <a:solidFill>
                  <a:srgbClr val="708177"/>
                </a:solidFill>
                <a:latin typeface="Liberation Sans"/>
                <a:ea typeface="Liberation Sans"/>
                <a:cs typeface="Liberation Sans"/>
              </a:defRPr>
            </a:lvl9pPr>
          </a:lstStyle>
          <a:p xmlns:a="http://schemas.openxmlformats.org/drawingml/2006/main">
            <a:pPr algn="r">
              <a:defRPr sz="1350" b="0">
                <a:solidFill>
                  <a:srgbClr val="708177"/>
                </a:solidFill>
                <a:latin typeface="Liberation Sans"/>
                <a:ea typeface="Liberation Sans"/>
                <a:cs typeface="Liberation Sans"/>
              </a:defRPr>
            </a:pPr>
            <a:r>
              <a:rPr sz="1350" b="0">
                <a:solidFill>
                  <a:srgbClr val="708177"/>
                </a:solidFill>
                <a:latin typeface="Liberation Sans"/>
                <a:ea typeface="Liberation Sans"/>
                <a:cs typeface="Liberation Sans"/>
              </a:rPr>
              <a:t>01</a:t>
            </a:r>
          </a:p>
        </p:txBody>
      </p:sp>
      <p:sp>
        <p:nvSpPr>
          <p:cNvPr id="4" name="A Local-First Agentic Knowledge Copilot&#10;with ">
            <a:extLst xmlns:a="http://schemas.openxmlformats.org/drawingml/2006/main">
              <a:ext uri="{FF2B5EF4-FFF2-40B4-BE49-F238E27FC236}">
                <a16:creationId xmlns:a16="http://schemas.microsoft.com/office/drawing/2014/main" id="{FD95B755-4158-473E-BC9F-09CB6CE6F971}"/>
              </a:ext>
            </a:extLst>
          </p:cNvPr>
          <p:cNvSpPr>
            <a:spLocks xmlns:a="http://schemas.openxmlformats.org/drawingml/2006/main" noGrp="1"/>
          </p:cNvSpPr>
          <p:nvPr/>
        </p:nvSpPr>
        <p:spPr>
          <a:xfrm xmlns:a="http://schemas.openxmlformats.org/drawingml/2006/main">
            <a:off x="609600" y="1381125"/>
            <a:ext cx="876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700" b="0">
                <a:solidFill>
                  <a:srgbClr val="173D33"/>
                </a:solidFill>
                <a:latin typeface="Liberation Sans"/>
                <a:ea typeface="Liberation Sans"/>
                <a:cs typeface="Liberation Sans"/>
              </a:defRPr>
            </a:defPPr>
            <a:lvl1pPr algn="l">
              <a:defRPr sz="2700" b="0">
                <a:solidFill>
                  <a:srgbClr val="173D33"/>
                </a:solidFill>
                <a:latin typeface="Liberation Sans"/>
                <a:ea typeface="Liberation Sans"/>
                <a:cs typeface="Liberation Sans"/>
              </a:defRPr>
            </a:lvl1pPr>
            <a:lvl2pPr algn="l">
              <a:defRPr sz="2700" b="0">
                <a:solidFill>
                  <a:srgbClr val="173D33"/>
                </a:solidFill>
                <a:latin typeface="Liberation Sans"/>
                <a:ea typeface="Liberation Sans"/>
                <a:cs typeface="Liberation Sans"/>
              </a:defRPr>
            </a:lvl2pPr>
            <a:lvl3pPr algn="l">
              <a:defRPr sz="2700" b="0">
                <a:solidFill>
                  <a:srgbClr val="173D33"/>
                </a:solidFill>
                <a:latin typeface="Liberation Sans"/>
                <a:ea typeface="Liberation Sans"/>
                <a:cs typeface="Liberation Sans"/>
              </a:defRPr>
            </a:lvl3pPr>
            <a:lvl4pPr algn="l">
              <a:defRPr sz="2700" b="0">
                <a:solidFill>
                  <a:srgbClr val="173D33"/>
                </a:solidFill>
                <a:latin typeface="Liberation Sans"/>
                <a:ea typeface="Liberation Sans"/>
                <a:cs typeface="Liberation Sans"/>
              </a:defRPr>
            </a:lvl4pPr>
            <a:lvl5pPr algn="l">
              <a:defRPr sz="2700" b="0">
                <a:solidFill>
                  <a:srgbClr val="173D33"/>
                </a:solidFill>
                <a:latin typeface="Liberation Sans"/>
                <a:ea typeface="Liberation Sans"/>
                <a:cs typeface="Liberation Sans"/>
              </a:defRPr>
            </a:lvl5pPr>
            <a:lvl6pPr algn="l">
              <a:defRPr sz="2700" b="0">
                <a:solidFill>
                  <a:srgbClr val="173D33"/>
                </a:solidFill>
                <a:latin typeface="Liberation Sans"/>
                <a:ea typeface="Liberation Sans"/>
                <a:cs typeface="Liberation Sans"/>
              </a:defRPr>
            </a:lvl6pPr>
            <a:lvl7pPr algn="l">
              <a:defRPr sz="2700" b="0">
                <a:solidFill>
                  <a:srgbClr val="173D33"/>
                </a:solidFill>
                <a:latin typeface="Liberation Sans"/>
                <a:ea typeface="Liberation Sans"/>
                <a:cs typeface="Liberation Sans"/>
              </a:defRPr>
            </a:lvl7pPr>
            <a:lvl8pPr algn="l">
              <a:defRPr sz="2700" b="0">
                <a:solidFill>
                  <a:srgbClr val="173D33"/>
                </a:solidFill>
                <a:latin typeface="Liberation Sans"/>
                <a:ea typeface="Liberation Sans"/>
                <a:cs typeface="Liberation Sans"/>
              </a:defRPr>
            </a:lvl8pPr>
            <a:lvl9pPr algn="l">
              <a:defRPr sz="2700" b="0">
                <a:solidFill>
                  <a:srgbClr val="173D33"/>
                </a:solidFill>
                <a:latin typeface="Liberation Sans"/>
                <a:ea typeface="Liberation Sans"/>
                <a:cs typeface="Liberation Sans"/>
              </a:defRPr>
            </a:lvl9pPr>
          </a:lstStyle>
          <a:p xmlns:a="http://schemas.openxmlformats.org/drawingml/2006/main">
            <a:pPr algn="l">
              <a:defRPr sz="2700" b="0">
                <a:solidFill>
                  <a:srgbClr val="173D33"/>
                </a:solidFill>
                <a:latin typeface="Liberation Sans"/>
                <a:ea typeface="Liberation Sans"/>
                <a:cs typeface="Liberation Sans"/>
              </a:defRPr>
            </a:pPr>
            <a:r>
              <a:rPr sz="2700" b="0">
                <a:solidFill>
                  <a:srgbClr val="173D33"/>
                </a:solidFill>
                <a:latin typeface="Liberation Sans"/>
                <a:ea typeface="Liberation Sans"/>
                <a:cs typeface="Liberation Sans"/>
              </a:rPr>
              <a:t>A Local-First Agentic Knowledge Copilot</a:t>
            </a:r>
          </a:p>
          <a:p xmlns:a="http://schemas.openxmlformats.org/drawingml/2006/main">
            <a:pPr algn="l">
              <a:defRPr sz="2700" b="0">
                <a:solidFill>
                  <a:srgbClr val="173D33"/>
                </a:solidFill>
                <a:latin typeface="Liberation Sans"/>
                <a:ea typeface="Liberation Sans"/>
                <a:cs typeface="Liberation Sans"/>
              </a:defRPr>
            </a:pPr>
            <a:r>
              <a:rPr sz="2700" b="0">
                <a:solidFill>
                  <a:srgbClr val="173D33"/>
                </a:solidFill>
                <a:latin typeface="Liberation Sans"/>
                <a:ea typeface="Liberation Sans"/>
                <a:cs typeface="Liberation Sans"/>
              </a:rPr>
              <a:t>with a Custom MCP Memory Server</a:t>
            </a:r>
          </a:p>
        </p:txBody>
      </p:sp>
      <p:pic>
        <p:nvPicPr>
          <p:cNvPr id="5" name="">
            <a:extLst xmlns:a="http://schemas.openxmlformats.org/drawingml/2006/main">
              <a:ext uri="{FF2B5EF4-FFF2-40B4-BE49-F238E27FC236}">
                <a16:creationId xmlns:a16="http://schemas.microsoft.com/office/drawing/2014/main" id="{E41A678B-0198-419B-85D2-D2514F52A9BC}"/>
              </a:ext>
            </a:extLst>
          </p:cNvPr>
          <p:cNvPicPr>
            <a:picLocks xmlns:a="http://schemas.openxmlformats.org/drawingml/2006/main" noChangeAspect="1"/>
          </p:cNvPicPr>
          <p:nvPr/>
        </p:nvPicPr>
        <p:blipFill>
          <a:blip xmlns:r="http://schemas.openxmlformats.org/officeDocument/2006/relationships" xmlns:a="http://schemas.openxmlformats.org/drawingml/2006/main" r:embed="R7a56a36901cb473f"/>
          <a:stretch xmlns:a="http://schemas.openxmlformats.org/drawingml/2006/main"/>
        </p:blipFill>
        <p:spPr>
          <a:xfrm xmlns:a="http://schemas.openxmlformats.org/drawingml/2006/main">
            <a:off x="9953625" y="1381125"/>
            <a:ext cx="1428750" cy="1428750"/>
          </a:xfrm>
          <a:prstGeom xmlns:a="http://schemas.openxmlformats.org/drawingml/2006/main" prst="rect">
            <a:avLst/>
          </a:prstGeom>
        </p:spPr>
      </p:pic>
      <p:sp>
        <p:nvSpPr>
          <p:cNvPr id="6" name="Symbiosis Institute of Technology">
            <a:extLst xmlns:a="http://schemas.openxmlformats.org/drawingml/2006/main">
              <a:ext uri="{FF2B5EF4-FFF2-40B4-BE49-F238E27FC236}">
                <a16:creationId xmlns:a16="http://schemas.microsoft.com/office/drawing/2014/main" id="{B8788366-0D9F-43B3-8CB0-02E36EE0AA3B}"/>
              </a:ext>
            </a:extLst>
          </p:cNvPr>
          <p:cNvSpPr>
            <a:spLocks xmlns:a="http://schemas.openxmlformats.org/drawingml/2006/main" noGrp="1"/>
          </p:cNvSpPr>
          <p:nvPr/>
        </p:nvSpPr>
        <p:spPr>
          <a:xfrm xmlns:a="http://schemas.openxmlformats.org/drawingml/2006/main">
            <a:off x="609600" y="28003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1">
                <a:solidFill>
                  <a:srgbClr val="253B34"/>
                </a:solidFill>
                <a:latin typeface="Liberation Sans"/>
                <a:ea typeface="Liberation Sans"/>
                <a:cs typeface="Liberation Sans"/>
              </a:defRPr>
            </a:defPPr>
            <a:lvl1pPr algn="l">
              <a:defRPr sz="1950" b="1">
                <a:solidFill>
                  <a:srgbClr val="253B34"/>
                </a:solidFill>
                <a:latin typeface="Liberation Sans"/>
                <a:ea typeface="Liberation Sans"/>
                <a:cs typeface="Liberation Sans"/>
              </a:defRPr>
            </a:lvl1pPr>
            <a:lvl2pPr algn="l">
              <a:defRPr sz="1950" b="1">
                <a:solidFill>
                  <a:srgbClr val="253B34"/>
                </a:solidFill>
                <a:latin typeface="Liberation Sans"/>
                <a:ea typeface="Liberation Sans"/>
                <a:cs typeface="Liberation Sans"/>
              </a:defRPr>
            </a:lvl2pPr>
            <a:lvl3pPr algn="l">
              <a:defRPr sz="1950" b="1">
                <a:solidFill>
                  <a:srgbClr val="253B34"/>
                </a:solidFill>
                <a:latin typeface="Liberation Sans"/>
                <a:ea typeface="Liberation Sans"/>
                <a:cs typeface="Liberation Sans"/>
              </a:defRPr>
            </a:lvl3pPr>
            <a:lvl4pPr algn="l">
              <a:defRPr sz="1950" b="1">
                <a:solidFill>
                  <a:srgbClr val="253B34"/>
                </a:solidFill>
                <a:latin typeface="Liberation Sans"/>
                <a:ea typeface="Liberation Sans"/>
                <a:cs typeface="Liberation Sans"/>
              </a:defRPr>
            </a:lvl4pPr>
            <a:lvl5pPr algn="l">
              <a:defRPr sz="1950" b="1">
                <a:solidFill>
                  <a:srgbClr val="253B34"/>
                </a:solidFill>
                <a:latin typeface="Liberation Sans"/>
                <a:ea typeface="Liberation Sans"/>
                <a:cs typeface="Liberation Sans"/>
              </a:defRPr>
            </a:lvl5pPr>
            <a:lvl6pPr algn="l">
              <a:defRPr sz="1950" b="1">
                <a:solidFill>
                  <a:srgbClr val="253B34"/>
                </a:solidFill>
                <a:latin typeface="Liberation Sans"/>
                <a:ea typeface="Liberation Sans"/>
                <a:cs typeface="Liberation Sans"/>
              </a:defRPr>
            </a:lvl6pPr>
            <a:lvl7pPr algn="l">
              <a:defRPr sz="1950" b="1">
                <a:solidFill>
                  <a:srgbClr val="253B34"/>
                </a:solidFill>
                <a:latin typeface="Liberation Sans"/>
                <a:ea typeface="Liberation Sans"/>
                <a:cs typeface="Liberation Sans"/>
              </a:defRPr>
            </a:lvl7pPr>
            <a:lvl8pPr algn="l">
              <a:defRPr sz="1950" b="1">
                <a:solidFill>
                  <a:srgbClr val="253B34"/>
                </a:solidFill>
                <a:latin typeface="Liberation Sans"/>
                <a:ea typeface="Liberation Sans"/>
                <a:cs typeface="Liberation Sans"/>
              </a:defRPr>
            </a:lvl8pPr>
            <a:lvl9pPr algn="l">
              <a:defRPr sz="1950" b="1">
                <a:solidFill>
                  <a:srgbClr val="253B34"/>
                </a:solidFill>
                <a:latin typeface="Liberation Sans"/>
                <a:ea typeface="Liberation Sans"/>
                <a:cs typeface="Liberation Sans"/>
              </a:defRPr>
            </a:lvl9pPr>
          </a:lstStyle>
          <a:p xmlns:a="http://schemas.openxmlformats.org/drawingml/2006/main">
            <a:pPr algn="l">
              <a:defRPr sz="1950" b="1">
                <a:solidFill>
                  <a:srgbClr val="253B34"/>
                </a:solidFill>
                <a:latin typeface="Liberation Sans"/>
                <a:ea typeface="Liberation Sans"/>
                <a:cs typeface="Liberation Sans"/>
              </a:defRPr>
            </a:pPr>
            <a:r>
              <a:rPr sz="1950" b="1">
                <a:solidFill>
                  <a:srgbClr val="253B34"/>
                </a:solidFill>
                <a:latin typeface="Liberation Sans"/>
                <a:ea typeface="Liberation Sans"/>
                <a:cs typeface="Liberation Sans"/>
              </a:rPr>
              <a:t>Symbiosis Institute of Technology</a:t>
            </a:r>
          </a:p>
        </p:txBody>
      </p:sp>
      <p:sp>
        <p:nvSpPr>
          <p:cNvPr id="7" name="BACHELOR OF COMPUTER SCIENCE ENGINEERING">
            <a:extLst xmlns:a="http://schemas.openxmlformats.org/drawingml/2006/main">
              <a:ext uri="{FF2B5EF4-FFF2-40B4-BE49-F238E27FC236}">
                <a16:creationId xmlns:a16="http://schemas.microsoft.com/office/drawing/2014/main" id="{D123E1E0-3861-4A6A-8761-033A0951604E}"/>
              </a:ext>
            </a:extLst>
          </p:cNvPr>
          <p:cNvSpPr>
            <a:spLocks xmlns:a="http://schemas.openxmlformats.org/drawingml/2006/main" noGrp="1"/>
          </p:cNvSpPr>
          <p:nvPr/>
        </p:nvSpPr>
        <p:spPr>
          <a:xfrm xmlns:a="http://schemas.openxmlformats.org/drawingml/2006/main">
            <a:off x="609600" y="32194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586A63"/>
                </a:solidFill>
                <a:latin typeface="Liberation Sans"/>
                <a:ea typeface="Liberation Sans"/>
                <a:cs typeface="Liberation Sans"/>
              </a:defRPr>
            </a:defPPr>
            <a:lvl1pPr algn="l">
              <a:defRPr sz="1725" b="0">
                <a:solidFill>
                  <a:srgbClr val="586A63"/>
                </a:solidFill>
                <a:latin typeface="Liberation Sans"/>
                <a:ea typeface="Liberation Sans"/>
                <a:cs typeface="Liberation Sans"/>
              </a:defRPr>
            </a:lvl1pPr>
            <a:lvl2pPr algn="l">
              <a:defRPr sz="1725" b="0">
                <a:solidFill>
                  <a:srgbClr val="586A63"/>
                </a:solidFill>
                <a:latin typeface="Liberation Sans"/>
                <a:ea typeface="Liberation Sans"/>
                <a:cs typeface="Liberation Sans"/>
              </a:defRPr>
            </a:lvl2pPr>
            <a:lvl3pPr algn="l">
              <a:defRPr sz="1725" b="0">
                <a:solidFill>
                  <a:srgbClr val="586A63"/>
                </a:solidFill>
                <a:latin typeface="Liberation Sans"/>
                <a:ea typeface="Liberation Sans"/>
                <a:cs typeface="Liberation Sans"/>
              </a:defRPr>
            </a:lvl3pPr>
            <a:lvl4pPr algn="l">
              <a:defRPr sz="1725" b="0">
                <a:solidFill>
                  <a:srgbClr val="586A63"/>
                </a:solidFill>
                <a:latin typeface="Liberation Sans"/>
                <a:ea typeface="Liberation Sans"/>
                <a:cs typeface="Liberation Sans"/>
              </a:defRPr>
            </a:lvl4pPr>
            <a:lvl5pPr algn="l">
              <a:defRPr sz="1725" b="0">
                <a:solidFill>
                  <a:srgbClr val="586A63"/>
                </a:solidFill>
                <a:latin typeface="Liberation Sans"/>
                <a:ea typeface="Liberation Sans"/>
                <a:cs typeface="Liberation Sans"/>
              </a:defRPr>
            </a:lvl5pPr>
            <a:lvl6pPr algn="l">
              <a:defRPr sz="1725" b="0">
                <a:solidFill>
                  <a:srgbClr val="586A63"/>
                </a:solidFill>
                <a:latin typeface="Liberation Sans"/>
                <a:ea typeface="Liberation Sans"/>
                <a:cs typeface="Liberation Sans"/>
              </a:defRPr>
            </a:lvl6pPr>
            <a:lvl7pPr algn="l">
              <a:defRPr sz="1725" b="0">
                <a:solidFill>
                  <a:srgbClr val="586A63"/>
                </a:solidFill>
                <a:latin typeface="Liberation Sans"/>
                <a:ea typeface="Liberation Sans"/>
                <a:cs typeface="Liberation Sans"/>
              </a:defRPr>
            </a:lvl7pPr>
            <a:lvl8pPr algn="l">
              <a:defRPr sz="1725" b="0">
                <a:solidFill>
                  <a:srgbClr val="586A63"/>
                </a:solidFill>
                <a:latin typeface="Liberation Sans"/>
                <a:ea typeface="Liberation Sans"/>
                <a:cs typeface="Liberation Sans"/>
              </a:defRPr>
            </a:lvl8pPr>
            <a:lvl9pPr algn="l">
              <a:defRPr sz="1725" b="0">
                <a:solidFill>
                  <a:srgbClr val="586A63"/>
                </a:solidFill>
                <a:latin typeface="Liberation Sans"/>
                <a:ea typeface="Liberation Sans"/>
                <a:cs typeface="Liberation Sans"/>
              </a:defRPr>
            </a:lvl9pPr>
          </a:lstStyle>
          <a:p xmlns:a="http://schemas.openxmlformats.org/drawingml/2006/main">
            <a:pPr algn="l">
              <a:defRPr sz="1725" b="0">
                <a:solidFill>
                  <a:srgbClr val="586A63"/>
                </a:solidFill>
                <a:latin typeface="Liberation Sans"/>
                <a:ea typeface="Liberation Sans"/>
                <a:cs typeface="Liberation Sans"/>
              </a:defRPr>
            </a:pPr>
            <a:r>
              <a:rPr sz="1725" b="0">
                <a:solidFill>
                  <a:srgbClr val="586A63"/>
                </a:solidFill>
                <a:latin typeface="Liberation Sans"/>
                <a:ea typeface="Liberation Sans"/>
                <a:cs typeface="Liberation Sans"/>
              </a:rPr>
              <a:t>BACHELOR OF COMPUTER SCIENCE ENGINEERING</a:t>
            </a:r>
          </a:p>
        </p:txBody>
      </p:sp>
      <p:sp>
        <p:nvSpPr>
          <p:cNvPr id="8" name="Guide: Dr. Sonali Kothari">
            <a:extLst xmlns:a="http://schemas.openxmlformats.org/drawingml/2006/main">
              <a:ext uri="{FF2B5EF4-FFF2-40B4-BE49-F238E27FC236}">
                <a16:creationId xmlns:a16="http://schemas.microsoft.com/office/drawing/2014/main" id="{2029718A-93CC-442D-8FE5-E51986FC87CE}"/>
              </a:ext>
            </a:extLst>
          </p:cNvPr>
          <p:cNvSpPr>
            <a:spLocks xmlns:a="http://schemas.openxmlformats.org/drawingml/2006/main" noGrp="1"/>
          </p:cNvSpPr>
          <p:nvPr/>
        </p:nvSpPr>
        <p:spPr>
          <a:xfrm xmlns:a="http://schemas.openxmlformats.org/drawingml/2006/main">
            <a:off x="609600" y="3781425"/>
            <a:ext cx="1009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277B63"/>
                </a:solidFill>
                <a:latin typeface="Liberation Sans"/>
                <a:ea typeface="Liberation Sans"/>
                <a:cs typeface="Liberation Sans"/>
              </a:defRPr>
            </a:defPPr>
            <a:lvl1pPr algn="l">
              <a:defRPr sz="1950" b="0">
                <a:solidFill>
                  <a:srgbClr val="277B63"/>
                </a:solidFill>
                <a:latin typeface="Liberation Sans"/>
                <a:ea typeface="Liberation Sans"/>
                <a:cs typeface="Liberation Sans"/>
              </a:defRPr>
            </a:lvl1pPr>
            <a:lvl2pPr algn="l">
              <a:defRPr sz="1950" b="0">
                <a:solidFill>
                  <a:srgbClr val="277B63"/>
                </a:solidFill>
                <a:latin typeface="Liberation Sans"/>
                <a:ea typeface="Liberation Sans"/>
                <a:cs typeface="Liberation Sans"/>
              </a:defRPr>
            </a:lvl2pPr>
            <a:lvl3pPr algn="l">
              <a:defRPr sz="1950" b="0">
                <a:solidFill>
                  <a:srgbClr val="277B63"/>
                </a:solidFill>
                <a:latin typeface="Liberation Sans"/>
                <a:ea typeface="Liberation Sans"/>
                <a:cs typeface="Liberation Sans"/>
              </a:defRPr>
            </a:lvl3pPr>
            <a:lvl4pPr algn="l">
              <a:defRPr sz="1950" b="0">
                <a:solidFill>
                  <a:srgbClr val="277B63"/>
                </a:solidFill>
                <a:latin typeface="Liberation Sans"/>
                <a:ea typeface="Liberation Sans"/>
                <a:cs typeface="Liberation Sans"/>
              </a:defRPr>
            </a:lvl4pPr>
            <a:lvl5pPr algn="l">
              <a:defRPr sz="1950" b="0">
                <a:solidFill>
                  <a:srgbClr val="277B63"/>
                </a:solidFill>
                <a:latin typeface="Liberation Sans"/>
                <a:ea typeface="Liberation Sans"/>
                <a:cs typeface="Liberation Sans"/>
              </a:defRPr>
            </a:lvl5pPr>
            <a:lvl6pPr algn="l">
              <a:defRPr sz="1950" b="0">
                <a:solidFill>
                  <a:srgbClr val="277B63"/>
                </a:solidFill>
                <a:latin typeface="Liberation Sans"/>
                <a:ea typeface="Liberation Sans"/>
                <a:cs typeface="Liberation Sans"/>
              </a:defRPr>
            </a:lvl6pPr>
            <a:lvl7pPr algn="l">
              <a:defRPr sz="1950" b="0">
                <a:solidFill>
                  <a:srgbClr val="277B63"/>
                </a:solidFill>
                <a:latin typeface="Liberation Sans"/>
                <a:ea typeface="Liberation Sans"/>
                <a:cs typeface="Liberation Sans"/>
              </a:defRPr>
            </a:lvl7pPr>
            <a:lvl8pPr algn="l">
              <a:defRPr sz="1950" b="0">
                <a:solidFill>
                  <a:srgbClr val="277B63"/>
                </a:solidFill>
                <a:latin typeface="Liberation Sans"/>
                <a:ea typeface="Liberation Sans"/>
                <a:cs typeface="Liberation Sans"/>
              </a:defRPr>
            </a:lvl8pPr>
            <a:lvl9pPr algn="l">
              <a:defRPr sz="1950" b="0">
                <a:solidFill>
                  <a:srgbClr val="277B63"/>
                </a:solidFill>
                <a:latin typeface="Liberation Sans"/>
                <a:ea typeface="Liberation Sans"/>
                <a:cs typeface="Liberation Sans"/>
              </a:defRPr>
            </a:lvl9pPr>
          </a:lstStyle>
          <a:p xmlns:a="http://schemas.openxmlformats.org/drawingml/2006/main">
            <a:pPr algn="l">
              <a:defRPr sz="1950" b="0">
                <a:solidFill>
                  <a:srgbClr val="277B63"/>
                </a:solidFill>
                <a:latin typeface="Liberation Sans"/>
                <a:ea typeface="Liberation Sans"/>
                <a:cs typeface="Liberation Sans"/>
              </a:defRPr>
            </a:pPr>
            <a:r>
              <a:rPr sz="1950" b="0">
                <a:solidFill>
                  <a:srgbClr val="277B63"/>
                </a:solidFill>
                <a:latin typeface="Liberation Sans"/>
                <a:ea typeface="Liberation Sans"/>
                <a:cs typeface="Liberation Sans"/>
              </a:rPr>
              <a:t>Guide: Dr. Sonali Kothari</a:t>
            </a:r>
          </a:p>
        </p:txBody>
      </p:sp>
      <p:sp>
        <p:nvSpPr>
          <p:cNvPr id="9" name="Trijal Burman                         Tiya Si">
            <a:extLst xmlns:a="http://schemas.openxmlformats.org/drawingml/2006/main">
              <a:ext uri="{FF2B5EF4-FFF2-40B4-BE49-F238E27FC236}">
                <a16:creationId xmlns:a16="http://schemas.microsoft.com/office/drawing/2014/main" id="{9251D065-F742-4BC5-8245-312049421A2C}"/>
              </a:ext>
            </a:extLst>
          </p:cNvPr>
          <p:cNvSpPr>
            <a:spLocks xmlns:a="http://schemas.openxmlformats.org/drawingml/2006/main" noGrp="1"/>
          </p:cNvSpPr>
          <p:nvPr/>
        </p:nvSpPr>
        <p:spPr>
          <a:xfrm xmlns:a="http://schemas.openxmlformats.org/drawingml/2006/main">
            <a:off x="609600" y="4600575"/>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53B34"/>
                </a:solidFill>
                <a:latin typeface="Liberation Sans"/>
                <a:ea typeface="Liberation Sans"/>
                <a:cs typeface="Liberation Sans"/>
              </a:defRPr>
            </a:defPPr>
            <a:lvl1pPr algn="l">
              <a:defRPr sz="2025" b="0">
                <a:solidFill>
                  <a:srgbClr val="253B34"/>
                </a:solidFill>
                <a:latin typeface="Liberation Sans"/>
                <a:ea typeface="Liberation Sans"/>
                <a:cs typeface="Liberation Sans"/>
              </a:defRPr>
            </a:lvl1pPr>
            <a:lvl2pPr algn="l">
              <a:defRPr sz="2025" b="0">
                <a:solidFill>
                  <a:srgbClr val="253B34"/>
                </a:solidFill>
                <a:latin typeface="Liberation Sans"/>
                <a:ea typeface="Liberation Sans"/>
                <a:cs typeface="Liberation Sans"/>
              </a:defRPr>
            </a:lvl2pPr>
            <a:lvl3pPr algn="l">
              <a:defRPr sz="2025" b="0">
                <a:solidFill>
                  <a:srgbClr val="253B34"/>
                </a:solidFill>
                <a:latin typeface="Liberation Sans"/>
                <a:ea typeface="Liberation Sans"/>
                <a:cs typeface="Liberation Sans"/>
              </a:defRPr>
            </a:lvl3pPr>
            <a:lvl4pPr algn="l">
              <a:defRPr sz="2025" b="0">
                <a:solidFill>
                  <a:srgbClr val="253B34"/>
                </a:solidFill>
                <a:latin typeface="Liberation Sans"/>
                <a:ea typeface="Liberation Sans"/>
                <a:cs typeface="Liberation Sans"/>
              </a:defRPr>
            </a:lvl4pPr>
            <a:lvl5pPr algn="l">
              <a:defRPr sz="2025" b="0">
                <a:solidFill>
                  <a:srgbClr val="253B34"/>
                </a:solidFill>
                <a:latin typeface="Liberation Sans"/>
                <a:ea typeface="Liberation Sans"/>
                <a:cs typeface="Liberation Sans"/>
              </a:defRPr>
            </a:lvl5pPr>
            <a:lvl6pPr algn="l">
              <a:defRPr sz="2025" b="0">
                <a:solidFill>
                  <a:srgbClr val="253B34"/>
                </a:solidFill>
                <a:latin typeface="Liberation Sans"/>
                <a:ea typeface="Liberation Sans"/>
                <a:cs typeface="Liberation Sans"/>
              </a:defRPr>
            </a:lvl6pPr>
            <a:lvl7pPr algn="l">
              <a:defRPr sz="2025" b="0">
                <a:solidFill>
                  <a:srgbClr val="253B34"/>
                </a:solidFill>
                <a:latin typeface="Liberation Sans"/>
                <a:ea typeface="Liberation Sans"/>
                <a:cs typeface="Liberation Sans"/>
              </a:defRPr>
            </a:lvl7pPr>
            <a:lvl8pPr algn="l">
              <a:defRPr sz="2025" b="0">
                <a:solidFill>
                  <a:srgbClr val="253B34"/>
                </a:solidFill>
                <a:latin typeface="Liberation Sans"/>
                <a:ea typeface="Liberation Sans"/>
                <a:cs typeface="Liberation Sans"/>
              </a:defRPr>
            </a:lvl8pPr>
            <a:lvl9pPr algn="l">
              <a:defRPr sz="2025" b="0">
                <a:solidFill>
                  <a:srgbClr val="253B34"/>
                </a:solidFill>
                <a:latin typeface="Liberation Sans"/>
                <a:ea typeface="Liberation Sans"/>
                <a:cs typeface="Liberation Sans"/>
              </a:defRPr>
            </a:lvl9pPr>
          </a:lstStyle>
          <a:p xmlns:a="http://schemas.openxmlformats.org/drawingml/2006/main">
            <a:pPr algn="l">
              <a:defRPr sz="2025" b="0">
                <a:solidFill>
                  <a:srgbClr val="253B34"/>
                </a:solidFill>
                <a:latin typeface="Liberation Sans"/>
                <a:ea typeface="Liberation Sans"/>
                <a:cs typeface="Liberation Sans"/>
              </a:defRPr>
            </a:pPr>
            <a:r>
              <a:rPr sz="2025" b="0">
                <a:solidFill>
                  <a:srgbClr val="253B34"/>
                </a:solidFill>
                <a:latin typeface="Liberation Sans"/>
                <a:ea typeface="Liberation Sans"/>
                <a:cs typeface="Liberation Sans"/>
              </a:rPr>
              <a:t>Trijal Burman</a:t>
            </a:r>
          </a:p>
          <a:p xmlns:a="http://schemas.openxmlformats.org/drawingml/2006/main">
            <a:pPr algn="l">
              <a:defRPr sz="2025" b="0">
                <a:solidFill>
                  <a:srgbClr val="253B34"/>
                </a:solidFill>
                <a:latin typeface="Liberation Sans"/>
                <a:ea typeface="Liberation Sans"/>
                <a:cs typeface="Liberation Sans"/>
              </a:defRPr>
            </a:pPr>
            <a:r>
              <a:rPr sz="2025" b="0">
                <a:solidFill>
                  <a:srgbClr val="253B34"/>
                </a:solidFill>
                <a:latin typeface="Liberation Sans"/>
                <a:ea typeface="Liberation Sans"/>
                <a:cs typeface="Liberation Sans"/>
              </a:rPr>
              <a:t>Gayatri Rajesh Apotikar</a:t>
            </a:r>
          </a:p>
        </p:txBody>
      </p:sp>
      <p:sp>
        <p:nvSpPr>
          <p:cNvPr id="10" name="Specialization Project VII, academic year 23–">
            <a:extLst xmlns:a="http://schemas.openxmlformats.org/drawingml/2006/main">
              <a:ext uri="{FF2B5EF4-FFF2-40B4-BE49-F238E27FC236}">
                <a16:creationId xmlns:a16="http://schemas.microsoft.com/office/drawing/2014/main" id="{52B64EE8-0CD2-4170-A8B5-9A0FE5E8B9F3}"/>
              </a:ext>
            </a:extLst>
          </p:cNvPr>
          <p:cNvSpPr>
            <a:spLocks xmlns:a="http://schemas.openxmlformats.org/drawingml/2006/main" noGrp="1"/>
          </p:cNvSpPr>
          <p:nvPr/>
        </p:nvSpPr>
        <p:spPr>
          <a:xfrm xmlns:a="http://schemas.openxmlformats.org/drawingml/2006/main">
            <a:off x="609600" y="5876925"/>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586A63"/>
                </a:solidFill>
                <a:latin typeface="Liberation Sans"/>
                <a:ea typeface="Liberation Sans"/>
                <a:cs typeface="Liberation Sans"/>
              </a:defRPr>
            </a:defPPr>
            <a:lvl1pPr algn="l">
              <a:defRPr sz="1575" b="0">
                <a:solidFill>
                  <a:srgbClr val="586A63"/>
                </a:solidFill>
                <a:latin typeface="Liberation Sans"/>
                <a:ea typeface="Liberation Sans"/>
                <a:cs typeface="Liberation Sans"/>
              </a:defRPr>
            </a:lvl1pPr>
            <a:lvl2pPr algn="l">
              <a:defRPr sz="1575" b="0">
                <a:solidFill>
                  <a:srgbClr val="586A63"/>
                </a:solidFill>
                <a:latin typeface="Liberation Sans"/>
                <a:ea typeface="Liberation Sans"/>
                <a:cs typeface="Liberation Sans"/>
              </a:defRPr>
            </a:lvl2pPr>
            <a:lvl3pPr algn="l">
              <a:defRPr sz="1575" b="0">
                <a:solidFill>
                  <a:srgbClr val="586A63"/>
                </a:solidFill>
                <a:latin typeface="Liberation Sans"/>
                <a:ea typeface="Liberation Sans"/>
                <a:cs typeface="Liberation Sans"/>
              </a:defRPr>
            </a:lvl3pPr>
            <a:lvl4pPr algn="l">
              <a:defRPr sz="1575" b="0">
                <a:solidFill>
                  <a:srgbClr val="586A63"/>
                </a:solidFill>
                <a:latin typeface="Liberation Sans"/>
                <a:ea typeface="Liberation Sans"/>
                <a:cs typeface="Liberation Sans"/>
              </a:defRPr>
            </a:lvl4pPr>
            <a:lvl5pPr algn="l">
              <a:defRPr sz="1575" b="0">
                <a:solidFill>
                  <a:srgbClr val="586A63"/>
                </a:solidFill>
                <a:latin typeface="Liberation Sans"/>
                <a:ea typeface="Liberation Sans"/>
                <a:cs typeface="Liberation Sans"/>
              </a:defRPr>
            </a:lvl5pPr>
            <a:lvl6pPr algn="l">
              <a:defRPr sz="1575" b="0">
                <a:solidFill>
                  <a:srgbClr val="586A63"/>
                </a:solidFill>
                <a:latin typeface="Liberation Sans"/>
                <a:ea typeface="Liberation Sans"/>
                <a:cs typeface="Liberation Sans"/>
              </a:defRPr>
            </a:lvl6pPr>
            <a:lvl7pPr algn="l">
              <a:defRPr sz="1575" b="0">
                <a:solidFill>
                  <a:srgbClr val="586A63"/>
                </a:solidFill>
                <a:latin typeface="Liberation Sans"/>
                <a:ea typeface="Liberation Sans"/>
                <a:cs typeface="Liberation Sans"/>
              </a:defRPr>
            </a:lvl7pPr>
            <a:lvl8pPr algn="l">
              <a:defRPr sz="1575" b="0">
                <a:solidFill>
                  <a:srgbClr val="586A63"/>
                </a:solidFill>
                <a:latin typeface="Liberation Sans"/>
                <a:ea typeface="Liberation Sans"/>
                <a:cs typeface="Liberation Sans"/>
              </a:defRPr>
            </a:lvl8pPr>
            <a:lvl9pPr algn="l">
              <a:defRPr sz="1575" b="0">
                <a:solidFill>
                  <a:srgbClr val="586A63"/>
                </a:solidFill>
                <a:latin typeface="Liberation Sans"/>
                <a:ea typeface="Liberation Sans"/>
                <a:cs typeface="Liberation Sans"/>
              </a:defRPr>
            </a:lvl9pPr>
          </a:lstStyle>
          <a:p xmlns:a="http://schemas.openxmlformats.org/drawingml/2006/main">
            <a:pPr algn="l">
              <a:defRPr sz="1575" b="0">
                <a:solidFill>
                  <a:srgbClr val="586A63"/>
                </a:solidFill>
                <a:latin typeface="Liberation Sans"/>
                <a:ea typeface="Liberation Sans"/>
                <a:cs typeface="Liberation Sans"/>
              </a:defRPr>
            </a:pPr>
            <a:r>
              <a:rPr sz="1575" b="0">
                <a:solidFill>
                  <a:srgbClr val="586A63"/>
                </a:solidFill>
                <a:latin typeface="Liberation Sans"/>
                <a:ea typeface="Liberation Sans"/>
                <a:cs typeface="Liberation Sans"/>
              </a:rPr>
              <a:t>Specialization Project VII, academic year 23–27</a:t>
            </a:r>
          </a:p>
        </p:txBody>
      </p:sp>
      <p:sp>
        <p:nvSpPr>
          <p:cNvPr id="11" name="Tiya Singh and Nimita Jestin">
            <a:extLst xmlns:a="http://schemas.openxmlformats.org/drawingml/2006/main">
              <a:ext uri="{FF2B5EF4-FFF2-40B4-BE49-F238E27FC236}">
                <a16:creationId xmlns:a16="http://schemas.microsoft.com/office/drawing/2014/main" id="{849C1F8B-94E9-49A6-ADFA-6E264077C4B8}"/>
              </a:ext>
            </a:extLst>
          </p:cNvPr>
          <p:cNvSpPr>
            <a:spLocks xmlns:a="http://schemas.openxmlformats.org/drawingml/2006/main" noGrp="1"/>
          </p:cNvSpPr>
          <p:nvPr/>
        </p:nvSpPr>
        <p:spPr>
          <a:xfrm xmlns:a="http://schemas.openxmlformats.org/drawingml/2006/main">
            <a:off x="6210300" y="4600575"/>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a:solidFill>
                  <a:srgbClr val="253B34"/>
                </a:solidFill>
                <a:latin typeface="Liberation Sans"/>
                <a:ea typeface="Liberation Sans"/>
                <a:cs typeface="Liberation Sans"/>
              </a:defRPr>
            </a:defPPr>
            <a:lvl1pPr>
              <a:defRPr sz="2025">
                <a:solidFill>
                  <a:srgbClr val="253B34"/>
                </a:solidFill>
                <a:latin typeface="Liberation Sans"/>
                <a:ea typeface="Liberation Sans"/>
                <a:cs typeface="Liberation Sans"/>
              </a:defRPr>
            </a:lvl1pPr>
            <a:lvl2pPr>
              <a:defRPr sz="2025">
                <a:solidFill>
                  <a:srgbClr val="253B34"/>
                </a:solidFill>
                <a:latin typeface="Liberation Sans"/>
                <a:ea typeface="Liberation Sans"/>
                <a:cs typeface="Liberation Sans"/>
              </a:defRPr>
            </a:lvl2pPr>
            <a:lvl3pPr>
              <a:defRPr sz="2025">
                <a:solidFill>
                  <a:srgbClr val="253B34"/>
                </a:solidFill>
                <a:latin typeface="Liberation Sans"/>
                <a:ea typeface="Liberation Sans"/>
                <a:cs typeface="Liberation Sans"/>
              </a:defRPr>
            </a:lvl3pPr>
            <a:lvl4pPr>
              <a:defRPr sz="2025">
                <a:solidFill>
                  <a:srgbClr val="253B34"/>
                </a:solidFill>
                <a:latin typeface="Liberation Sans"/>
                <a:ea typeface="Liberation Sans"/>
                <a:cs typeface="Liberation Sans"/>
              </a:defRPr>
            </a:lvl4pPr>
            <a:lvl5pPr>
              <a:defRPr sz="2025">
                <a:solidFill>
                  <a:srgbClr val="253B34"/>
                </a:solidFill>
                <a:latin typeface="Liberation Sans"/>
                <a:ea typeface="Liberation Sans"/>
                <a:cs typeface="Liberation Sans"/>
              </a:defRPr>
            </a:lvl5pPr>
            <a:lvl6pPr>
              <a:defRPr sz="2025">
                <a:solidFill>
                  <a:srgbClr val="253B34"/>
                </a:solidFill>
                <a:latin typeface="Liberation Sans"/>
                <a:ea typeface="Liberation Sans"/>
                <a:cs typeface="Liberation Sans"/>
              </a:defRPr>
            </a:lvl6pPr>
            <a:lvl7pPr>
              <a:defRPr sz="2025">
                <a:solidFill>
                  <a:srgbClr val="253B34"/>
                </a:solidFill>
                <a:latin typeface="Liberation Sans"/>
                <a:ea typeface="Liberation Sans"/>
                <a:cs typeface="Liberation Sans"/>
              </a:defRPr>
            </a:lvl7pPr>
            <a:lvl8pPr>
              <a:defRPr sz="2025">
                <a:solidFill>
                  <a:srgbClr val="253B34"/>
                </a:solidFill>
                <a:latin typeface="Liberation Sans"/>
                <a:ea typeface="Liberation Sans"/>
                <a:cs typeface="Liberation Sans"/>
              </a:defRPr>
            </a:lvl8pPr>
            <a:lvl9pPr>
              <a:defRPr sz="2025">
                <a:solidFill>
                  <a:srgbClr val="253B34"/>
                </a:solidFill>
                <a:latin typeface="Liberation Sans"/>
                <a:ea typeface="Liberation Sans"/>
                <a:cs typeface="Liberation Sans"/>
              </a:defRPr>
            </a:lvl9pPr>
          </a:lstStyle>
          <a:p xmlns:a="http://schemas.openxmlformats.org/drawingml/2006/main">
            <a:pPr>
              <a:defRPr sz="2025">
                <a:solidFill>
                  <a:srgbClr val="253B34"/>
                </a:solidFill>
                <a:latin typeface="Liberation Sans"/>
                <a:ea typeface="Liberation Sans"/>
                <a:cs typeface="Liberation Sans"/>
              </a:defRPr>
            </a:pPr>
            <a:r>
              <a:rPr sz="2025">
                <a:solidFill>
                  <a:srgbClr val="253B34"/>
                </a:solidFill>
                <a:latin typeface="Liberation Sans"/>
                <a:ea typeface="Liberation Sans"/>
                <a:cs typeface="Liberation Sans"/>
              </a:rPr>
              <a:t>Tiya Singh</a:t>
            </a:r>
          </a:p>
          <a:p xmlns:a="http://schemas.openxmlformats.org/drawingml/2006/main">
            <a:pPr>
              <a:defRPr sz="2025">
                <a:solidFill>
                  <a:srgbClr val="253B34"/>
                </a:solidFill>
                <a:latin typeface="Liberation Sans"/>
                <a:ea typeface="Liberation Sans"/>
                <a:cs typeface="Liberation Sans"/>
              </a:defRPr>
            </a:pPr>
            <a:r>
              <a:rPr sz="2025">
                <a:solidFill>
                  <a:srgbClr val="253B34"/>
                </a:solidFill>
                <a:latin typeface="Liberation Sans"/>
                <a:ea typeface="Liberation Sans"/>
                <a:cs typeface="Liberation Sans"/>
              </a:rPr>
              <a:t>Nimita Jestin</a:t>
            </a:r>
          </a:p>
        </p:txBody>
      </p:sp>
    </p:spTree>
    <p:extLst>
      <p:ext uri="{BB962C8B-B14F-4D97-AF65-F5344CB8AC3E}">
        <p14:creationId xmlns:p14="http://schemas.microsoft.com/office/powerpoint/2010/main" val="2073735826"/>
      </p:ext>
    </p:extLst>
  </p:cSld>
</p:sld>
</file>

<file path=ppt/slides/slide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CD41F21-253D-477F-93D3-53CAC8CA5CA3}"/>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73D33"/>
                </a:solidFill>
                <a:latin typeface="Liberation Sans"/>
                <a:ea typeface="Liberation Sans"/>
                <a:cs typeface="Liberation Sans"/>
              </a:defRPr>
            </a:defPPr>
            <a:lvl1pPr algn="l">
              <a:defRPr sz="3300" b="1">
                <a:solidFill>
                  <a:srgbClr val="173D33"/>
                </a:solidFill>
                <a:latin typeface="Liberation Sans"/>
                <a:ea typeface="Liberation Sans"/>
                <a:cs typeface="Liberation Sans"/>
              </a:defRPr>
            </a:lvl1pPr>
            <a:lvl2pPr algn="l">
              <a:defRPr sz="3300" b="1">
                <a:solidFill>
                  <a:srgbClr val="173D33"/>
                </a:solidFill>
                <a:latin typeface="Liberation Sans"/>
                <a:ea typeface="Liberation Sans"/>
                <a:cs typeface="Liberation Sans"/>
              </a:defRPr>
            </a:lvl2pPr>
            <a:lvl3pPr algn="l">
              <a:defRPr sz="3300" b="1">
                <a:solidFill>
                  <a:srgbClr val="173D33"/>
                </a:solidFill>
                <a:latin typeface="Liberation Sans"/>
                <a:ea typeface="Liberation Sans"/>
                <a:cs typeface="Liberation Sans"/>
              </a:defRPr>
            </a:lvl3pPr>
            <a:lvl4pPr algn="l">
              <a:defRPr sz="3300" b="1">
                <a:solidFill>
                  <a:srgbClr val="173D33"/>
                </a:solidFill>
                <a:latin typeface="Liberation Sans"/>
                <a:ea typeface="Liberation Sans"/>
                <a:cs typeface="Liberation Sans"/>
              </a:defRPr>
            </a:lvl4pPr>
            <a:lvl5pPr algn="l">
              <a:defRPr sz="3300" b="1">
                <a:solidFill>
                  <a:srgbClr val="173D33"/>
                </a:solidFill>
                <a:latin typeface="Liberation Sans"/>
                <a:ea typeface="Liberation Sans"/>
                <a:cs typeface="Liberation Sans"/>
              </a:defRPr>
            </a:lvl5pPr>
            <a:lvl6pPr algn="l">
              <a:defRPr sz="3300" b="1">
                <a:solidFill>
                  <a:srgbClr val="173D33"/>
                </a:solidFill>
                <a:latin typeface="Liberation Sans"/>
                <a:ea typeface="Liberation Sans"/>
                <a:cs typeface="Liberation Sans"/>
              </a:defRPr>
            </a:lvl6pPr>
            <a:lvl7pPr algn="l">
              <a:defRPr sz="3300" b="1">
                <a:solidFill>
                  <a:srgbClr val="173D33"/>
                </a:solidFill>
                <a:latin typeface="Liberation Sans"/>
                <a:ea typeface="Liberation Sans"/>
                <a:cs typeface="Liberation Sans"/>
              </a:defRPr>
            </a:lvl7pPr>
            <a:lvl8pPr algn="l">
              <a:defRPr sz="3300" b="1">
                <a:solidFill>
                  <a:srgbClr val="173D33"/>
                </a:solidFill>
                <a:latin typeface="Liberation Sans"/>
                <a:ea typeface="Liberation Sans"/>
                <a:cs typeface="Liberation Sans"/>
              </a:defRPr>
            </a:lvl8pPr>
            <a:lvl9pPr algn="l">
              <a:defRPr sz="3300" b="1">
                <a:solidFill>
                  <a:srgbClr val="173D33"/>
                </a:solidFill>
                <a:latin typeface="Liberation Sans"/>
                <a:ea typeface="Liberation Sans"/>
                <a:cs typeface="Liberation Sans"/>
              </a:defRPr>
            </a:lvl9pPr>
          </a:lstStyle>
          <a:p xmlns:a="http://schemas.openxmlformats.org/drawingml/2006/main">
            <a:pPr algn="l">
              <a:defRPr sz="3300" b="1">
                <a:solidFill>
                  <a:srgbClr val="173D33"/>
                </a:solidFill>
                <a:latin typeface="Liberation Sans"/>
                <a:ea typeface="Liberation Sans"/>
                <a:cs typeface="Liberation Sans"/>
              </a:defRPr>
            </a:pPr>
            <a:r>
              <a:rPr sz="3300" b="1">
                <a:solidFill>
                  <a:srgbClr val="173D33"/>
                </a:solidFill>
                <a:latin typeface="Liberation Sans"/>
                <a:ea typeface="Liberation Sans"/>
                <a:cs typeface="Liberation Sans"/>
              </a:rPr>
              <a:t>Problem statement and objectives</a:t>
            </a:r>
          </a:p>
        </p:txBody>
      </p:sp>
      <p:sp>
        <p:nvSpPr>
          <p:cNvPr id="3" name="02">
            <a:extLst xmlns:a="http://schemas.openxmlformats.org/drawingml/2006/main">
              <a:ext uri="{FF2B5EF4-FFF2-40B4-BE49-F238E27FC236}">
                <a16:creationId xmlns:a16="http://schemas.microsoft.com/office/drawing/2014/main" id="{C0E94F42-0FE0-46B3-A2F9-3BEFCA8EB01F}"/>
              </a:ext>
            </a:extLst>
          </p:cNvPr>
          <p:cNvSpPr>
            <a:spLocks xmlns:a="http://schemas.openxmlformats.org/drawingml/2006/main" noGrp="1"/>
          </p:cNvSpPr>
          <p:nvPr/>
        </p:nvSpPr>
        <p:spPr>
          <a:xfrm xmlns:a="http://schemas.openxmlformats.org/drawingml/2006/main">
            <a:off x="1106805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350" b="0">
                <a:solidFill>
                  <a:srgbClr val="708177"/>
                </a:solidFill>
                <a:latin typeface="Liberation Sans"/>
                <a:ea typeface="Liberation Sans"/>
                <a:cs typeface="Liberation Sans"/>
              </a:defRPr>
            </a:defPPr>
            <a:lvl1pPr algn="r">
              <a:defRPr sz="1350" b="0">
                <a:solidFill>
                  <a:srgbClr val="708177"/>
                </a:solidFill>
                <a:latin typeface="Liberation Sans"/>
                <a:ea typeface="Liberation Sans"/>
                <a:cs typeface="Liberation Sans"/>
              </a:defRPr>
            </a:lvl1pPr>
            <a:lvl2pPr algn="r">
              <a:defRPr sz="1350" b="0">
                <a:solidFill>
                  <a:srgbClr val="708177"/>
                </a:solidFill>
                <a:latin typeface="Liberation Sans"/>
                <a:ea typeface="Liberation Sans"/>
                <a:cs typeface="Liberation Sans"/>
              </a:defRPr>
            </a:lvl2pPr>
            <a:lvl3pPr algn="r">
              <a:defRPr sz="1350" b="0">
                <a:solidFill>
                  <a:srgbClr val="708177"/>
                </a:solidFill>
                <a:latin typeface="Liberation Sans"/>
                <a:ea typeface="Liberation Sans"/>
                <a:cs typeface="Liberation Sans"/>
              </a:defRPr>
            </a:lvl3pPr>
            <a:lvl4pPr algn="r">
              <a:defRPr sz="1350" b="0">
                <a:solidFill>
                  <a:srgbClr val="708177"/>
                </a:solidFill>
                <a:latin typeface="Liberation Sans"/>
                <a:ea typeface="Liberation Sans"/>
                <a:cs typeface="Liberation Sans"/>
              </a:defRPr>
            </a:lvl4pPr>
            <a:lvl5pPr algn="r">
              <a:defRPr sz="1350" b="0">
                <a:solidFill>
                  <a:srgbClr val="708177"/>
                </a:solidFill>
                <a:latin typeface="Liberation Sans"/>
                <a:ea typeface="Liberation Sans"/>
                <a:cs typeface="Liberation Sans"/>
              </a:defRPr>
            </a:lvl5pPr>
            <a:lvl6pPr algn="r">
              <a:defRPr sz="1350" b="0">
                <a:solidFill>
                  <a:srgbClr val="708177"/>
                </a:solidFill>
                <a:latin typeface="Liberation Sans"/>
                <a:ea typeface="Liberation Sans"/>
                <a:cs typeface="Liberation Sans"/>
              </a:defRPr>
            </a:lvl6pPr>
            <a:lvl7pPr algn="r">
              <a:defRPr sz="1350" b="0">
                <a:solidFill>
                  <a:srgbClr val="708177"/>
                </a:solidFill>
                <a:latin typeface="Liberation Sans"/>
                <a:ea typeface="Liberation Sans"/>
                <a:cs typeface="Liberation Sans"/>
              </a:defRPr>
            </a:lvl7pPr>
            <a:lvl8pPr algn="r">
              <a:defRPr sz="1350" b="0">
                <a:solidFill>
                  <a:srgbClr val="708177"/>
                </a:solidFill>
                <a:latin typeface="Liberation Sans"/>
                <a:ea typeface="Liberation Sans"/>
                <a:cs typeface="Liberation Sans"/>
              </a:defRPr>
            </a:lvl8pPr>
            <a:lvl9pPr algn="r">
              <a:defRPr sz="1350" b="0">
                <a:solidFill>
                  <a:srgbClr val="708177"/>
                </a:solidFill>
                <a:latin typeface="Liberation Sans"/>
                <a:ea typeface="Liberation Sans"/>
                <a:cs typeface="Liberation Sans"/>
              </a:defRPr>
            </a:lvl9pPr>
          </a:lstStyle>
          <a:p xmlns:a="http://schemas.openxmlformats.org/drawingml/2006/main">
            <a:pPr algn="r">
              <a:defRPr sz="1350" b="0">
                <a:solidFill>
                  <a:srgbClr val="708177"/>
                </a:solidFill>
                <a:latin typeface="Liberation Sans"/>
                <a:ea typeface="Liberation Sans"/>
                <a:cs typeface="Liberation Sans"/>
              </a:defRPr>
            </a:pPr>
            <a:r>
              <a:rPr sz="1350" b="0">
                <a:solidFill>
                  <a:srgbClr val="708177"/>
                </a:solidFill>
                <a:latin typeface="Liberation Sans"/>
                <a:ea typeface="Liberation Sans"/>
                <a:cs typeface="Liberation Sans"/>
              </a:rPr>
              <a:t>02</a:t>
            </a:r>
          </a:p>
        </p:txBody>
      </p:sp>
      <p:sp>
        <p:nvSpPr>
          <p:cNvPr id="4" name="Scattered files make useful project context h">
            <a:extLst xmlns:a="http://schemas.openxmlformats.org/drawingml/2006/main">
              <a:ext uri="{FF2B5EF4-FFF2-40B4-BE49-F238E27FC236}">
                <a16:creationId xmlns:a16="http://schemas.microsoft.com/office/drawing/2014/main" id="{DE973B2D-3857-4E0D-963E-EBEEA3D8FF51}"/>
              </a:ext>
            </a:extLst>
          </p:cNvPr>
          <p:cNvSpPr>
            <a:spLocks xmlns:a="http://schemas.openxmlformats.org/drawingml/2006/main" noGrp="1"/>
          </p:cNvSpPr>
          <p:nvPr/>
        </p:nvSpPr>
        <p:spPr>
          <a:xfrm xmlns:a="http://schemas.openxmlformats.org/drawingml/2006/main">
            <a:off x="609600" y="140017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700" b="1">
                <a:solidFill>
                  <a:srgbClr val="253B34"/>
                </a:solidFill>
                <a:latin typeface="Liberation Sans"/>
                <a:ea typeface="Liberation Sans"/>
                <a:cs typeface="Liberation Sans"/>
              </a:defRPr>
            </a:defPPr>
            <a:lvl1pPr algn="l">
              <a:defRPr sz="2700" b="1">
                <a:solidFill>
                  <a:srgbClr val="253B34"/>
                </a:solidFill>
                <a:latin typeface="Liberation Sans"/>
                <a:ea typeface="Liberation Sans"/>
                <a:cs typeface="Liberation Sans"/>
              </a:defRPr>
            </a:lvl1pPr>
            <a:lvl2pPr algn="l">
              <a:defRPr sz="2700" b="1">
                <a:solidFill>
                  <a:srgbClr val="253B34"/>
                </a:solidFill>
                <a:latin typeface="Liberation Sans"/>
                <a:ea typeface="Liberation Sans"/>
                <a:cs typeface="Liberation Sans"/>
              </a:defRPr>
            </a:lvl2pPr>
            <a:lvl3pPr algn="l">
              <a:defRPr sz="2700" b="1">
                <a:solidFill>
                  <a:srgbClr val="253B34"/>
                </a:solidFill>
                <a:latin typeface="Liberation Sans"/>
                <a:ea typeface="Liberation Sans"/>
                <a:cs typeface="Liberation Sans"/>
              </a:defRPr>
            </a:lvl3pPr>
            <a:lvl4pPr algn="l">
              <a:defRPr sz="2700" b="1">
                <a:solidFill>
                  <a:srgbClr val="253B34"/>
                </a:solidFill>
                <a:latin typeface="Liberation Sans"/>
                <a:ea typeface="Liberation Sans"/>
                <a:cs typeface="Liberation Sans"/>
              </a:defRPr>
            </a:lvl4pPr>
            <a:lvl5pPr algn="l">
              <a:defRPr sz="2700" b="1">
                <a:solidFill>
                  <a:srgbClr val="253B34"/>
                </a:solidFill>
                <a:latin typeface="Liberation Sans"/>
                <a:ea typeface="Liberation Sans"/>
                <a:cs typeface="Liberation Sans"/>
              </a:defRPr>
            </a:lvl5pPr>
            <a:lvl6pPr algn="l">
              <a:defRPr sz="2700" b="1">
                <a:solidFill>
                  <a:srgbClr val="253B34"/>
                </a:solidFill>
                <a:latin typeface="Liberation Sans"/>
                <a:ea typeface="Liberation Sans"/>
                <a:cs typeface="Liberation Sans"/>
              </a:defRPr>
            </a:lvl6pPr>
            <a:lvl7pPr algn="l">
              <a:defRPr sz="2700" b="1">
                <a:solidFill>
                  <a:srgbClr val="253B34"/>
                </a:solidFill>
                <a:latin typeface="Liberation Sans"/>
                <a:ea typeface="Liberation Sans"/>
                <a:cs typeface="Liberation Sans"/>
              </a:defRPr>
            </a:lvl7pPr>
            <a:lvl8pPr algn="l">
              <a:defRPr sz="2700" b="1">
                <a:solidFill>
                  <a:srgbClr val="253B34"/>
                </a:solidFill>
                <a:latin typeface="Liberation Sans"/>
                <a:ea typeface="Liberation Sans"/>
                <a:cs typeface="Liberation Sans"/>
              </a:defRPr>
            </a:lvl8pPr>
            <a:lvl9pPr algn="l">
              <a:defRPr sz="2700" b="1">
                <a:solidFill>
                  <a:srgbClr val="253B34"/>
                </a:solidFill>
                <a:latin typeface="Liberation Sans"/>
                <a:ea typeface="Liberation Sans"/>
                <a:cs typeface="Liberation Sans"/>
              </a:defRPr>
            </a:lvl9pPr>
          </a:lstStyle>
          <a:p xmlns:a="http://schemas.openxmlformats.org/drawingml/2006/main">
            <a:pPr algn="l">
              <a:defRPr sz="2700" b="1">
                <a:solidFill>
                  <a:srgbClr val="253B34"/>
                </a:solidFill>
                <a:latin typeface="Liberation Sans"/>
                <a:ea typeface="Liberation Sans"/>
                <a:cs typeface="Liberation Sans"/>
              </a:defRPr>
            </a:pPr>
            <a:r>
              <a:rPr sz="2700" b="1">
                <a:solidFill>
                  <a:srgbClr val="253B34"/>
                </a:solidFill>
                <a:latin typeface="Liberation Sans"/>
                <a:ea typeface="Liberation Sans"/>
                <a:cs typeface="Liberation Sans"/>
              </a:rPr>
              <a:t>Scattered files make useful project context hard to recover</a:t>
            </a:r>
          </a:p>
        </p:txBody>
      </p:sp>
      <p:sp>
        <p:nvSpPr>
          <p:cNvPr id="5" name="Find local evidence">
            <a:extLst xmlns:a="http://schemas.openxmlformats.org/drawingml/2006/main">
              <a:ext uri="{FF2B5EF4-FFF2-40B4-BE49-F238E27FC236}">
                <a16:creationId xmlns:a16="http://schemas.microsoft.com/office/drawing/2014/main" id="{F5BF81BF-2F62-4FFB-9A65-B29DED101CD0}"/>
              </a:ext>
            </a:extLst>
          </p:cNvPr>
          <p:cNvSpPr>
            <a:spLocks xmlns:a="http://schemas.openxmlformats.org/drawingml/2006/main" noGrp="1"/>
          </p:cNvSpPr>
          <p:nvPr/>
        </p:nvSpPr>
        <p:spPr>
          <a:xfrm xmlns:a="http://schemas.openxmlformats.org/drawingml/2006/main">
            <a:off x="609600" y="25146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D33"/>
                </a:solidFill>
                <a:latin typeface="Liberation Sans"/>
                <a:ea typeface="Liberation Sans"/>
                <a:cs typeface="Liberation Sans"/>
              </a:defRPr>
            </a:defPPr>
            <a:lvl1pPr algn="l">
              <a:defRPr sz="2025" b="1">
                <a:solidFill>
                  <a:srgbClr val="173D33"/>
                </a:solidFill>
                <a:latin typeface="Liberation Sans"/>
                <a:ea typeface="Liberation Sans"/>
                <a:cs typeface="Liberation Sans"/>
              </a:defRPr>
            </a:lvl1pPr>
            <a:lvl2pPr algn="l">
              <a:defRPr sz="2025" b="1">
                <a:solidFill>
                  <a:srgbClr val="173D33"/>
                </a:solidFill>
                <a:latin typeface="Liberation Sans"/>
                <a:ea typeface="Liberation Sans"/>
                <a:cs typeface="Liberation Sans"/>
              </a:defRPr>
            </a:lvl2pPr>
            <a:lvl3pPr algn="l">
              <a:defRPr sz="2025" b="1">
                <a:solidFill>
                  <a:srgbClr val="173D33"/>
                </a:solidFill>
                <a:latin typeface="Liberation Sans"/>
                <a:ea typeface="Liberation Sans"/>
                <a:cs typeface="Liberation Sans"/>
              </a:defRPr>
            </a:lvl3pPr>
            <a:lvl4pPr algn="l">
              <a:defRPr sz="2025" b="1">
                <a:solidFill>
                  <a:srgbClr val="173D33"/>
                </a:solidFill>
                <a:latin typeface="Liberation Sans"/>
                <a:ea typeface="Liberation Sans"/>
                <a:cs typeface="Liberation Sans"/>
              </a:defRPr>
            </a:lvl4pPr>
            <a:lvl5pPr algn="l">
              <a:defRPr sz="2025" b="1">
                <a:solidFill>
                  <a:srgbClr val="173D33"/>
                </a:solidFill>
                <a:latin typeface="Liberation Sans"/>
                <a:ea typeface="Liberation Sans"/>
                <a:cs typeface="Liberation Sans"/>
              </a:defRPr>
            </a:lvl5pPr>
            <a:lvl6pPr algn="l">
              <a:defRPr sz="2025" b="1">
                <a:solidFill>
                  <a:srgbClr val="173D33"/>
                </a:solidFill>
                <a:latin typeface="Liberation Sans"/>
                <a:ea typeface="Liberation Sans"/>
                <a:cs typeface="Liberation Sans"/>
              </a:defRPr>
            </a:lvl6pPr>
            <a:lvl7pPr algn="l">
              <a:defRPr sz="2025" b="1">
                <a:solidFill>
                  <a:srgbClr val="173D33"/>
                </a:solidFill>
                <a:latin typeface="Liberation Sans"/>
                <a:ea typeface="Liberation Sans"/>
                <a:cs typeface="Liberation Sans"/>
              </a:defRPr>
            </a:lvl7pPr>
            <a:lvl8pPr algn="l">
              <a:defRPr sz="2025" b="1">
                <a:solidFill>
                  <a:srgbClr val="173D33"/>
                </a:solidFill>
                <a:latin typeface="Liberation Sans"/>
                <a:ea typeface="Liberation Sans"/>
                <a:cs typeface="Liberation Sans"/>
              </a:defRPr>
            </a:lvl8pPr>
            <a:lvl9pPr algn="l">
              <a:defRPr sz="2025" b="1">
                <a:solidFill>
                  <a:srgbClr val="173D33"/>
                </a:solidFill>
                <a:latin typeface="Liberation Sans"/>
                <a:ea typeface="Liberation Sans"/>
                <a:cs typeface="Liberation Sans"/>
              </a:defRPr>
            </a:lvl9pPr>
          </a:lstStyle>
          <a:p xmlns:a="http://schemas.openxmlformats.org/drawingml/2006/main">
            <a:pPr algn="l">
              <a:defRPr sz="2025" b="1">
                <a:solidFill>
                  <a:srgbClr val="173D33"/>
                </a:solidFill>
                <a:latin typeface="Liberation Sans"/>
                <a:ea typeface="Liberation Sans"/>
                <a:cs typeface="Liberation Sans"/>
              </a:defRPr>
            </a:pPr>
            <a:r>
              <a:rPr sz="2025" b="1">
                <a:solidFill>
                  <a:srgbClr val="173D33"/>
                </a:solidFill>
                <a:latin typeface="Liberation Sans"/>
                <a:ea typeface="Liberation Sans"/>
                <a:cs typeface="Liberation Sans"/>
              </a:rPr>
              <a:t>Find local evidence</a:t>
            </a:r>
          </a:p>
        </p:txBody>
      </p:sp>
      <p:sp>
        <p:nvSpPr>
          <p:cNvPr id="6" name="Search supported files in folders that the us">
            <a:extLst xmlns:a="http://schemas.openxmlformats.org/drawingml/2006/main">
              <a:ext uri="{FF2B5EF4-FFF2-40B4-BE49-F238E27FC236}">
                <a16:creationId xmlns:a16="http://schemas.microsoft.com/office/drawing/2014/main" id="{73E6E722-EA77-4F95-96C2-834EB1930A7F}"/>
              </a:ext>
            </a:extLst>
          </p:cNvPr>
          <p:cNvSpPr>
            <a:spLocks xmlns:a="http://schemas.openxmlformats.org/drawingml/2006/main" noGrp="1"/>
          </p:cNvSpPr>
          <p:nvPr/>
        </p:nvSpPr>
        <p:spPr>
          <a:xfrm xmlns:a="http://schemas.openxmlformats.org/drawingml/2006/main">
            <a:off x="609600" y="293370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253B34"/>
                </a:solidFill>
                <a:latin typeface="Liberation Sans"/>
                <a:ea typeface="Liberation Sans"/>
                <a:cs typeface="Liberation Sans"/>
              </a:defRPr>
            </a:defPPr>
            <a:lvl1pPr algn="l">
              <a:defRPr sz="1950" b="0">
                <a:solidFill>
                  <a:srgbClr val="253B34"/>
                </a:solidFill>
                <a:latin typeface="Liberation Sans"/>
                <a:ea typeface="Liberation Sans"/>
                <a:cs typeface="Liberation Sans"/>
              </a:defRPr>
            </a:lvl1pPr>
            <a:lvl2pPr algn="l">
              <a:defRPr sz="1950" b="0">
                <a:solidFill>
                  <a:srgbClr val="253B34"/>
                </a:solidFill>
                <a:latin typeface="Liberation Sans"/>
                <a:ea typeface="Liberation Sans"/>
                <a:cs typeface="Liberation Sans"/>
              </a:defRPr>
            </a:lvl2pPr>
            <a:lvl3pPr algn="l">
              <a:defRPr sz="1950" b="0">
                <a:solidFill>
                  <a:srgbClr val="253B34"/>
                </a:solidFill>
                <a:latin typeface="Liberation Sans"/>
                <a:ea typeface="Liberation Sans"/>
                <a:cs typeface="Liberation Sans"/>
              </a:defRPr>
            </a:lvl3pPr>
            <a:lvl4pPr algn="l">
              <a:defRPr sz="1950" b="0">
                <a:solidFill>
                  <a:srgbClr val="253B34"/>
                </a:solidFill>
                <a:latin typeface="Liberation Sans"/>
                <a:ea typeface="Liberation Sans"/>
                <a:cs typeface="Liberation Sans"/>
              </a:defRPr>
            </a:lvl4pPr>
            <a:lvl5pPr algn="l">
              <a:defRPr sz="1950" b="0">
                <a:solidFill>
                  <a:srgbClr val="253B34"/>
                </a:solidFill>
                <a:latin typeface="Liberation Sans"/>
                <a:ea typeface="Liberation Sans"/>
                <a:cs typeface="Liberation Sans"/>
              </a:defRPr>
            </a:lvl5pPr>
            <a:lvl6pPr algn="l">
              <a:defRPr sz="1950" b="0">
                <a:solidFill>
                  <a:srgbClr val="253B34"/>
                </a:solidFill>
                <a:latin typeface="Liberation Sans"/>
                <a:ea typeface="Liberation Sans"/>
                <a:cs typeface="Liberation Sans"/>
              </a:defRPr>
            </a:lvl6pPr>
            <a:lvl7pPr algn="l">
              <a:defRPr sz="1950" b="0">
                <a:solidFill>
                  <a:srgbClr val="253B34"/>
                </a:solidFill>
                <a:latin typeface="Liberation Sans"/>
                <a:ea typeface="Liberation Sans"/>
                <a:cs typeface="Liberation Sans"/>
              </a:defRPr>
            </a:lvl7pPr>
            <a:lvl8pPr algn="l">
              <a:defRPr sz="1950" b="0">
                <a:solidFill>
                  <a:srgbClr val="253B34"/>
                </a:solidFill>
                <a:latin typeface="Liberation Sans"/>
                <a:ea typeface="Liberation Sans"/>
                <a:cs typeface="Liberation Sans"/>
              </a:defRPr>
            </a:lvl8pPr>
            <a:lvl9pPr algn="l">
              <a:defRPr sz="1950" b="0">
                <a:solidFill>
                  <a:srgbClr val="253B34"/>
                </a:solidFill>
                <a:latin typeface="Liberation Sans"/>
                <a:ea typeface="Liberation Sans"/>
                <a:cs typeface="Liberation Sans"/>
              </a:defRPr>
            </a:lvl9pPr>
          </a:lstStyle>
          <a:p xmlns:a="http://schemas.openxmlformats.org/drawingml/2006/main">
            <a:pPr algn="l">
              <a:defRPr sz="1950" b="0">
                <a:solidFill>
                  <a:srgbClr val="253B34"/>
                </a:solidFill>
                <a:latin typeface="Liberation Sans"/>
                <a:ea typeface="Liberation Sans"/>
                <a:cs typeface="Liberation Sans"/>
              </a:defRPr>
            </a:pPr>
            <a:r>
              <a:rPr sz="1950" b="0">
                <a:solidFill>
                  <a:srgbClr val="253B34"/>
                </a:solidFill>
                <a:latin typeface="Liberation Sans"/>
                <a:ea typeface="Liberation Sans"/>
                <a:cs typeface="Liberation Sans"/>
              </a:rPr>
              <a:t>Search supported files in folders that the user approves.</a:t>
            </a:r>
          </a:p>
        </p:txBody>
      </p:sp>
      <p:sp>
        <p:nvSpPr>
          <p:cNvPr id="7" name="Keep project context">
            <a:extLst xmlns:a="http://schemas.openxmlformats.org/drawingml/2006/main">
              <a:ext uri="{FF2B5EF4-FFF2-40B4-BE49-F238E27FC236}">
                <a16:creationId xmlns:a16="http://schemas.microsoft.com/office/drawing/2014/main" id="{F327E566-C8AD-48DB-A827-6B68CC5DB82B}"/>
              </a:ext>
            </a:extLst>
          </p:cNvPr>
          <p:cNvSpPr>
            <a:spLocks xmlns:a="http://schemas.openxmlformats.org/drawingml/2006/main" noGrp="1"/>
          </p:cNvSpPr>
          <p:nvPr/>
        </p:nvSpPr>
        <p:spPr>
          <a:xfrm xmlns:a="http://schemas.openxmlformats.org/drawingml/2006/main">
            <a:off x="609600" y="36957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D33"/>
                </a:solidFill>
                <a:latin typeface="Liberation Sans"/>
                <a:ea typeface="Liberation Sans"/>
                <a:cs typeface="Liberation Sans"/>
              </a:defRPr>
            </a:defPPr>
            <a:lvl1pPr algn="l">
              <a:defRPr sz="2025" b="1">
                <a:solidFill>
                  <a:srgbClr val="173D33"/>
                </a:solidFill>
                <a:latin typeface="Liberation Sans"/>
                <a:ea typeface="Liberation Sans"/>
                <a:cs typeface="Liberation Sans"/>
              </a:defRPr>
            </a:lvl1pPr>
            <a:lvl2pPr algn="l">
              <a:defRPr sz="2025" b="1">
                <a:solidFill>
                  <a:srgbClr val="173D33"/>
                </a:solidFill>
                <a:latin typeface="Liberation Sans"/>
                <a:ea typeface="Liberation Sans"/>
                <a:cs typeface="Liberation Sans"/>
              </a:defRPr>
            </a:lvl2pPr>
            <a:lvl3pPr algn="l">
              <a:defRPr sz="2025" b="1">
                <a:solidFill>
                  <a:srgbClr val="173D33"/>
                </a:solidFill>
                <a:latin typeface="Liberation Sans"/>
                <a:ea typeface="Liberation Sans"/>
                <a:cs typeface="Liberation Sans"/>
              </a:defRPr>
            </a:lvl3pPr>
            <a:lvl4pPr algn="l">
              <a:defRPr sz="2025" b="1">
                <a:solidFill>
                  <a:srgbClr val="173D33"/>
                </a:solidFill>
                <a:latin typeface="Liberation Sans"/>
                <a:ea typeface="Liberation Sans"/>
                <a:cs typeface="Liberation Sans"/>
              </a:defRPr>
            </a:lvl4pPr>
            <a:lvl5pPr algn="l">
              <a:defRPr sz="2025" b="1">
                <a:solidFill>
                  <a:srgbClr val="173D33"/>
                </a:solidFill>
                <a:latin typeface="Liberation Sans"/>
                <a:ea typeface="Liberation Sans"/>
                <a:cs typeface="Liberation Sans"/>
              </a:defRPr>
            </a:lvl5pPr>
            <a:lvl6pPr algn="l">
              <a:defRPr sz="2025" b="1">
                <a:solidFill>
                  <a:srgbClr val="173D33"/>
                </a:solidFill>
                <a:latin typeface="Liberation Sans"/>
                <a:ea typeface="Liberation Sans"/>
                <a:cs typeface="Liberation Sans"/>
              </a:defRPr>
            </a:lvl6pPr>
            <a:lvl7pPr algn="l">
              <a:defRPr sz="2025" b="1">
                <a:solidFill>
                  <a:srgbClr val="173D33"/>
                </a:solidFill>
                <a:latin typeface="Liberation Sans"/>
                <a:ea typeface="Liberation Sans"/>
                <a:cs typeface="Liberation Sans"/>
              </a:defRPr>
            </a:lvl7pPr>
            <a:lvl8pPr algn="l">
              <a:defRPr sz="2025" b="1">
                <a:solidFill>
                  <a:srgbClr val="173D33"/>
                </a:solidFill>
                <a:latin typeface="Liberation Sans"/>
                <a:ea typeface="Liberation Sans"/>
                <a:cs typeface="Liberation Sans"/>
              </a:defRPr>
            </a:lvl8pPr>
            <a:lvl9pPr algn="l">
              <a:defRPr sz="2025" b="1">
                <a:solidFill>
                  <a:srgbClr val="173D33"/>
                </a:solidFill>
                <a:latin typeface="Liberation Sans"/>
                <a:ea typeface="Liberation Sans"/>
                <a:cs typeface="Liberation Sans"/>
              </a:defRPr>
            </a:lvl9pPr>
          </a:lstStyle>
          <a:p xmlns:a="http://schemas.openxmlformats.org/drawingml/2006/main">
            <a:pPr algn="l">
              <a:defRPr sz="2025" b="1">
                <a:solidFill>
                  <a:srgbClr val="173D33"/>
                </a:solidFill>
                <a:latin typeface="Liberation Sans"/>
                <a:ea typeface="Liberation Sans"/>
                <a:cs typeface="Liberation Sans"/>
              </a:defRPr>
            </a:pPr>
            <a:r>
              <a:rPr sz="2025" b="1">
                <a:solidFill>
                  <a:srgbClr val="173D33"/>
                </a:solidFill>
                <a:latin typeface="Liberation Sans"/>
                <a:ea typeface="Liberation Sans"/>
                <a:cs typeface="Liberation Sans"/>
              </a:rPr>
              <a:t>Keep project context</a:t>
            </a:r>
          </a:p>
        </p:txBody>
      </p:sp>
      <p:sp>
        <p:nvSpPr>
          <p:cNvPr id="8" name="Save explicit memories and retrieve them in l">
            <a:extLst xmlns:a="http://schemas.openxmlformats.org/drawingml/2006/main">
              <a:ext uri="{FF2B5EF4-FFF2-40B4-BE49-F238E27FC236}">
                <a16:creationId xmlns:a16="http://schemas.microsoft.com/office/drawing/2014/main" id="{51C8EF33-0297-4553-BDB5-613F2A50FC20}"/>
              </a:ext>
            </a:extLst>
          </p:cNvPr>
          <p:cNvSpPr>
            <a:spLocks xmlns:a="http://schemas.openxmlformats.org/drawingml/2006/main" noGrp="1"/>
          </p:cNvSpPr>
          <p:nvPr/>
        </p:nvSpPr>
        <p:spPr>
          <a:xfrm xmlns:a="http://schemas.openxmlformats.org/drawingml/2006/main">
            <a:off x="609600" y="411480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253B34"/>
                </a:solidFill>
                <a:latin typeface="Liberation Sans"/>
                <a:ea typeface="Liberation Sans"/>
                <a:cs typeface="Liberation Sans"/>
              </a:defRPr>
            </a:defPPr>
            <a:lvl1pPr algn="l">
              <a:defRPr sz="1950" b="0">
                <a:solidFill>
                  <a:srgbClr val="253B34"/>
                </a:solidFill>
                <a:latin typeface="Liberation Sans"/>
                <a:ea typeface="Liberation Sans"/>
                <a:cs typeface="Liberation Sans"/>
              </a:defRPr>
            </a:lvl1pPr>
            <a:lvl2pPr algn="l">
              <a:defRPr sz="1950" b="0">
                <a:solidFill>
                  <a:srgbClr val="253B34"/>
                </a:solidFill>
                <a:latin typeface="Liberation Sans"/>
                <a:ea typeface="Liberation Sans"/>
                <a:cs typeface="Liberation Sans"/>
              </a:defRPr>
            </a:lvl2pPr>
            <a:lvl3pPr algn="l">
              <a:defRPr sz="1950" b="0">
                <a:solidFill>
                  <a:srgbClr val="253B34"/>
                </a:solidFill>
                <a:latin typeface="Liberation Sans"/>
                <a:ea typeface="Liberation Sans"/>
                <a:cs typeface="Liberation Sans"/>
              </a:defRPr>
            </a:lvl3pPr>
            <a:lvl4pPr algn="l">
              <a:defRPr sz="1950" b="0">
                <a:solidFill>
                  <a:srgbClr val="253B34"/>
                </a:solidFill>
                <a:latin typeface="Liberation Sans"/>
                <a:ea typeface="Liberation Sans"/>
                <a:cs typeface="Liberation Sans"/>
              </a:defRPr>
            </a:lvl4pPr>
            <a:lvl5pPr algn="l">
              <a:defRPr sz="1950" b="0">
                <a:solidFill>
                  <a:srgbClr val="253B34"/>
                </a:solidFill>
                <a:latin typeface="Liberation Sans"/>
                <a:ea typeface="Liberation Sans"/>
                <a:cs typeface="Liberation Sans"/>
              </a:defRPr>
            </a:lvl5pPr>
            <a:lvl6pPr algn="l">
              <a:defRPr sz="1950" b="0">
                <a:solidFill>
                  <a:srgbClr val="253B34"/>
                </a:solidFill>
                <a:latin typeface="Liberation Sans"/>
                <a:ea typeface="Liberation Sans"/>
                <a:cs typeface="Liberation Sans"/>
              </a:defRPr>
            </a:lvl6pPr>
            <a:lvl7pPr algn="l">
              <a:defRPr sz="1950" b="0">
                <a:solidFill>
                  <a:srgbClr val="253B34"/>
                </a:solidFill>
                <a:latin typeface="Liberation Sans"/>
                <a:ea typeface="Liberation Sans"/>
                <a:cs typeface="Liberation Sans"/>
              </a:defRPr>
            </a:lvl7pPr>
            <a:lvl8pPr algn="l">
              <a:defRPr sz="1950" b="0">
                <a:solidFill>
                  <a:srgbClr val="253B34"/>
                </a:solidFill>
                <a:latin typeface="Liberation Sans"/>
                <a:ea typeface="Liberation Sans"/>
                <a:cs typeface="Liberation Sans"/>
              </a:defRPr>
            </a:lvl8pPr>
            <a:lvl9pPr algn="l">
              <a:defRPr sz="1950" b="0">
                <a:solidFill>
                  <a:srgbClr val="253B34"/>
                </a:solidFill>
                <a:latin typeface="Liberation Sans"/>
                <a:ea typeface="Liberation Sans"/>
                <a:cs typeface="Liberation Sans"/>
              </a:defRPr>
            </a:lvl9pPr>
          </a:lstStyle>
          <a:p xmlns:a="http://schemas.openxmlformats.org/drawingml/2006/main">
            <a:pPr algn="l">
              <a:defRPr sz="1950" b="0">
                <a:solidFill>
                  <a:srgbClr val="253B34"/>
                </a:solidFill>
                <a:latin typeface="Liberation Sans"/>
                <a:ea typeface="Liberation Sans"/>
                <a:cs typeface="Liberation Sans"/>
              </a:defRPr>
            </a:pPr>
            <a:r>
              <a:rPr sz="1950" b="0">
                <a:solidFill>
                  <a:srgbClr val="253B34"/>
                </a:solidFill>
                <a:latin typeface="Liberation Sans"/>
                <a:ea typeface="Liberation Sans"/>
                <a:cs typeface="Liberation Sans"/>
              </a:rPr>
              <a:t>Save explicit memories and retrieve them in later conversations.</a:t>
            </a:r>
          </a:p>
        </p:txBody>
      </p:sp>
      <p:sp>
        <p:nvSpPr>
          <p:cNvPr id="9" name="Make answers inspectable">
            <a:extLst xmlns:a="http://schemas.openxmlformats.org/drawingml/2006/main">
              <a:ext uri="{FF2B5EF4-FFF2-40B4-BE49-F238E27FC236}">
                <a16:creationId xmlns:a16="http://schemas.microsoft.com/office/drawing/2014/main" id="{D59F1510-EFAA-457D-BC61-7B1D2D9BEE1F}"/>
              </a:ext>
            </a:extLst>
          </p:cNvPr>
          <p:cNvSpPr>
            <a:spLocks xmlns:a="http://schemas.openxmlformats.org/drawingml/2006/main" noGrp="1"/>
          </p:cNvSpPr>
          <p:nvPr/>
        </p:nvSpPr>
        <p:spPr>
          <a:xfrm xmlns:a="http://schemas.openxmlformats.org/drawingml/2006/main">
            <a:off x="609600" y="48768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D33"/>
                </a:solidFill>
                <a:latin typeface="Liberation Sans"/>
                <a:ea typeface="Liberation Sans"/>
                <a:cs typeface="Liberation Sans"/>
              </a:defRPr>
            </a:defPPr>
            <a:lvl1pPr algn="l">
              <a:defRPr sz="2025" b="1">
                <a:solidFill>
                  <a:srgbClr val="173D33"/>
                </a:solidFill>
                <a:latin typeface="Liberation Sans"/>
                <a:ea typeface="Liberation Sans"/>
                <a:cs typeface="Liberation Sans"/>
              </a:defRPr>
            </a:lvl1pPr>
            <a:lvl2pPr algn="l">
              <a:defRPr sz="2025" b="1">
                <a:solidFill>
                  <a:srgbClr val="173D33"/>
                </a:solidFill>
                <a:latin typeface="Liberation Sans"/>
                <a:ea typeface="Liberation Sans"/>
                <a:cs typeface="Liberation Sans"/>
              </a:defRPr>
            </a:lvl2pPr>
            <a:lvl3pPr algn="l">
              <a:defRPr sz="2025" b="1">
                <a:solidFill>
                  <a:srgbClr val="173D33"/>
                </a:solidFill>
                <a:latin typeface="Liberation Sans"/>
                <a:ea typeface="Liberation Sans"/>
                <a:cs typeface="Liberation Sans"/>
              </a:defRPr>
            </a:lvl3pPr>
            <a:lvl4pPr algn="l">
              <a:defRPr sz="2025" b="1">
                <a:solidFill>
                  <a:srgbClr val="173D33"/>
                </a:solidFill>
                <a:latin typeface="Liberation Sans"/>
                <a:ea typeface="Liberation Sans"/>
                <a:cs typeface="Liberation Sans"/>
              </a:defRPr>
            </a:lvl4pPr>
            <a:lvl5pPr algn="l">
              <a:defRPr sz="2025" b="1">
                <a:solidFill>
                  <a:srgbClr val="173D33"/>
                </a:solidFill>
                <a:latin typeface="Liberation Sans"/>
                <a:ea typeface="Liberation Sans"/>
                <a:cs typeface="Liberation Sans"/>
              </a:defRPr>
            </a:lvl5pPr>
            <a:lvl6pPr algn="l">
              <a:defRPr sz="2025" b="1">
                <a:solidFill>
                  <a:srgbClr val="173D33"/>
                </a:solidFill>
                <a:latin typeface="Liberation Sans"/>
                <a:ea typeface="Liberation Sans"/>
                <a:cs typeface="Liberation Sans"/>
              </a:defRPr>
            </a:lvl6pPr>
            <a:lvl7pPr algn="l">
              <a:defRPr sz="2025" b="1">
                <a:solidFill>
                  <a:srgbClr val="173D33"/>
                </a:solidFill>
                <a:latin typeface="Liberation Sans"/>
                <a:ea typeface="Liberation Sans"/>
                <a:cs typeface="Liberation Sans"/>
              </a:defRPr>
            </a:lvl7pPr>
            <a:lvl8pPr algn="l">
              <a:defRPr sz="2025" b="1">
                <a:solidFill>
                  <a:srgbClr val="173D33"/>
                </a:solidFill>
                <a:latin typeface="Liberation Sans"/>
                <a:ea typeface="Liberation Sans"/>
                <a:cs typeface="Liberation Sans"/>
              </a:defRPr>
            </a:lvl8pPr>
            <a:lvl9pPr algn="l">
              <a:defRPr sz="2025" b="1">
                <a:solidFill>
                  <a:srgbClr val="173D33"/>
                </a:solidFill>
                <a:latin typeface="Liberation Sans"/>
                <a:ea typeface="Liberation Sans"/>
                <a:cs typeface="Liberation Sans"/>
              </a:defRPr>
            </a:lvl9pPr>
          </a:lstStyle>
          <a:p xmlns:a="http://schemas.openxmlformats.org/drawingml/2006/main">
            <a:pPr algn="l">
              <a:defRPr sz="2025" b="1">
                <a:solidFill>
                  <a:srgbClr val="173D33"/>
                </a:solidFill>
                <a:latin typeface="Liberation Sans"/>
                <a:ea typeface="Liberation Sans"/>
                <a:cs typeface="Liberation Sans"/>
              </a:defRPr>
            </a:pPr>
            <a:r>
              <a:rPr sz="2025" b="1">
                <a:solidFill>
                  <a:srgbClr val="173D33"/>
                </a:solidFill>
                <a:latin typeface="Liberation Sans"/>
                <a:ea typeface="Liberation Sans"/>
                <a:cs typeface="Liberation Sans"/>
              </a:rPr>
              <a:t>Make answers inspectable</a:t>
            </a:r>
          </a:p>
        </p:txBody>
      </p:sp>
      <p:sp>
        <p:nvSpPr>
          <p:cNvPr id="10" name="Show source documents and exact file identity">
            <a:extLst xmlns:a="http://schemas.openxmlformats.org/drawingml/2006/main">
              <a:ext uri="{FF2B5EF4-FFF2-40B4-BE49-F238E27FC236}">
                <a16:creationId xmlns:a16="http://schemas.microsoft.com/office/drawing/2014/main" id="{31B77F57-0867-4F12-A5B2-7C4DDEC94105}"/>
              </a:ext>
            </a:extLst>
          </p:cNvPr>
          <p:cNvSpPr>
            <a:spLocks xmlns:a="http://schemas.openxmlformats.org/drawingml/2006/main" noGrp="1"/>
          </p:cNvSpPr>
          <p:nvPr/>
        </p:nvSpPr>
        <p:spPr>
          <a:xfrm xmlns:a="http://schemas.openxmlformats.org/drawingml/2006/main">
            <a:off x="609600" y="529590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253B34"/>
                </a:solidFill>
                <a:latin typeface="Liberation Sans"/>
                <a:ea typeface="Liberation Sans"/>
                <a:cs typeface="Liberation Sans"/>
              </a:defRPr>
            </a:defPPr>
            <a:lvl1pPr algn="l">
              <a:defRPr sz="1950" b="0">
                <a:solidFill>
                  <a:srgbClr val="253B34"/>
                </a:solidFill>
                <a:latin typeface="Liberation Sans"/>
                <a:ea typeface="Liberation Sans"/>
                <a:cs typeface="Liberation Sans"/>
              </a:defRPr>
            </a:lvl1pPr>
            <a:lvl2pPr algn="l">
              <a:defRPr sz="1950" b="0">
                <a:solidFill>
                  <a:srgbClr val="253B34"/>
                </a:solidFill>
                <a:latin typeface="Liberation Sans"/>
                <a:ea typeface="Liberation Sans"/>
                <a:cs typeface="Liberation Sans"/>
              </a:defRPr>
            </a:lvl2pPr>
            <a:lvl3pPr algn="l">
              <a:defRPr sz="1950" b="0">
                <a:solidFill>
                  <a:srgbClr val="253B34"/>
                </a:solidFill>
                <a:latin typeface="Liberation Sans"/>
                <a:ea typeface="Liberation Sans"/>
                <a:cs typeface="Liberation Sans"/>
              </a:defRPr>
            </a:lvl3pPr>
            <a:lvl4pPr algn="l">
              <a:defRPr sz="1950" b="0">
                <a:solidFill>
                  <a:srgbClr val="253B34"/>
                </a:solidFill>
                <a:latin typeface="Liberation Sans"/>
                <a:ea typeface="Liberation Sans"/>
                <a:cs typeface="Liberation Sans"/>
              </a:defRPr>
            </a:lvl4pPr>
            <a:lvl5pPr algn="l">
              <a:defRPr sz="1950" b="0">
                <a:solidFill>
                  <a:srgbClr val="253B34"/>
                </a:solidFill>
                <a:latin typeface="Liberation Sans"/>
                <a:ea typeface="Liberation Sans"/>
                <a:cs typeface="Liberation Sans"/>
              </a:defRPr>
            </a:lvl5pPr>
            <a:lvl6pPr algn="l">
              <a:defRPr sz="1950" b="0">
                <a:solidFill>
                  <a:srgbClr val="253B34"/>
                </a:solidFill>
                <a:latin typeface="Liberation Sans"/>
                <a:ea typeface="Liberation Sans"/>
                <a:cs typeface="Liberation Sans"/>
              </a:defRPr>
            </a:lvl6pPr>
            <a:lvl7pPr algn="l">
              <a:defRPr sz="1950" b="0">
                <a:solidFill>
                  <a:srgbClr val="253B34"/>
                </a:solidFill>
                <a:latin typeface="Liberation Sans"/>
                <a:ea typeface="Liberation Sans"/>
                <a:cs typeface="Liberation Sans"/>
              </a:defRPr>
            </a:lvl7pPr>
            <a:lvl8pPr algn="l">
              <a:defRPr sz="1950" b="0">
                <a:solidFill>
                  <a:srgbClr val="253B34"/>
                </a:solidFill>
                <a:latin typeface="Liberation Sans"/>
                <a:ea typeface="Liberation Sans"/>
                <a:cs typeface="Liberation Sans"/>
              </a:defRPr>
            </a:lvl8pPr>
            <a:lvl9pPr algn="l">
              <a:defRPr sz="1950" b="0">
                <a:solidFill>
                  <a:srgbClr val="253B34"/>
                </a:solidFill>
                <a:latin typeface="Liberation Sans"/>
                <a:ea typeface="Liberation Sans"/>
                <a:cs typeface="Liberation Sans"/>
              </a:defRPr>
            </a:lvl9pPr>
          </a:lstStyle>
          <a:p xmlns:a="http://schemas.openxmlformats.org/drawingml/2006/main">
            <a:pPr algn="l">
              <a:defRPr sz="1950" b="0">
                <a:solidFill>
                  <a:srgbClr val="253B34"/>
                </a:solidFill>
                <a:latin typeface="Liberation Sans"/>
                <a:ea typeface="Liberation Sans"/>
                <a:cs typeface="Liberation Sans"/>
              </a:defRPr>
            </a:pPr>
            <a:r>
              <a:rPr sz="1950" b="0">
                <a:solidFill>
                  <a:srgbClr val="253B34"/>
                </a:solidFill>
                <a:latin typeface="Liberation Sans"/>
                <a:ea typeface="Liberation Sans"/>
                <a:cs typeface="Liberation Sans"/>
              </a:rPr>
              <a:t>Show source documents and exact file identity beside responses.</a:t>
            </a:r>
          </a:p>
        </p:txBody>
      </p:sp>
    </p:spTree>
    <p:extLst>
      <p:ext uri="{BB962C8B-B14F-4D97-AF65-F5344CB8AC3E}">
        <p14:creationId xmlns:p14="http://schemas.microsoft.com/office/powerpoint/2010/main" val="196339325"/>
      </p:ext>
    </p:extLst>
  </p:cSld>
</p:sld>
</file>

<file path=ppt/slides/slide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5BF98219-F16F-4BDC-AF74-AB6F6175A227}"/>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73D33"/>
                </a:solidFill>
                <a:latin typeface="Liberation Sans"/>
                <a:ea typeface="Liberation Sans"/>
                <a:cs typeface="Liberation Sans"/>
              </a:defRPr>
            </a:defPPr>
            <a:lvl1pPr algn="l">
              <a:defRPr sz="3300" b="1">
                <a:solidFill>
                  <a:srgbClr val="173D33"/>
                </a:solidFill>
                <a:latin typeface="Liberation Sans"/>
                <a:ea typeface="Liberation Sans"/>
                <a:cs typeface="Liberation Sans"/>
              </a:defRPr>
            </a:lvl1pPr>
            <a:lvl2pPr algn="l">
              <a:defRPr sz="3300" b="1">
                <a:solidFill>
                  <a:srgbClr val="173D33"/>
                </a:solidFill>
                <a:latin typeface="Liberation Sans"/>
                <a:ea typeface="Liberation Sans"/>
                <a:cs typeface="Liberation Sans"/>
              </a:defRPr>
            </a:lvl2pPr>
            <a:lvl3pPr algn="l">
              <a:defRPr sz="3300" b="1">
                <a:solidFill>
                  <a:srgbClr val="173D33"/>
                </a:solidFill>
                <a:latin typeface="Liberation Sans"/>
                <a:ea typeface="Liberation Sans"/>
                <a:cs typeface="Liberation Sans"/>
              </a:defRPr>
            </a:lvl3pPr>
            <a:lvl4pPr algn="l">
              <a:defRPr sz="3300" b="1">
                <a:solidFill>
                  <a:srgbClr val="173D33"/>
                </a:solidFill>
                <a:latin typeface="Liberation Sans"/>
                <a:ea typeface="Liberation Sans"/>
                <a:cs typeface="Liberation Sans"/>
              </a:defRPr>
            </a:lvl4pPr>
            <a:lvl5pPr algn="l">
              <a:defRPr sz="3300" b="1">
                <a:solidFill>
                  <a:srgbClr val="173D33"/>
                </a:solidFill>
                <a:latin typeface="Liberation Sans"/>
                <a:ea typeface="Liberation Sans"/>
                <a:cs typeface="Liberation Sans"/>
              </a:defRPr>
            </a:lvl5pPr>
            <a:lvl6pPr algn="l">
              <a:defRPr sz="3300" b="1">
                <a:solidFill>
                  <a:srgbClr val="173D33"/>
                </a:solidFill>
                <a:latin typeface="Liberation Sans"/>
                <a:ea typeface="Liberation Sans"/>
                <a:cs typeface="Liberation Sans"/>
              </a:defRPr>
            </a:lvl6pPr>
            <a:lvl7pPr algn="l">
              <a:defRPr sz="3300" b="1">
                <a:solidFill>
                  <a:srgbClr val="173D33"/>
                </a:solidFill>
                <a:latin typeface="Liberation Sans"/>
                <a:ea typeface="Liberation Sans"/>
                <a:cs typeface="Liberation Sans"/>
              </a:defRPr>
            </a:lvl7pPr>
            <a:lvl8pPr algn="l">
              <a:defRPr sz="3300" b="1">
                <a:solidFill>
                  <a:srgbClr val="173D33"/>
                </a:solidFill>
                <a:latin typeface="Liberation Sans"/>
                <a:ea typeface="Liberation Sans"/>
                <a:cs typeface="Liberation Sans"/>
              </a:defRPr>
            </a:lvl8pPr>
            <a:lvl9pPr algn="l">
              <a:defRPr sz="3300" b="1">
                <a:solidFill>
                  <a:srgbClr val="173D33"/>
                </a:solidFill>
                <a:latin typeface="Liberation Sans"/>
                <a:ea typeface="Liberation Sans"/>
                <a:cs typeface="Liberation Sans"/>
              </a:defRPr>
            </a:lvl9pPr>
          </a:lstStyle>
          <a:p xmlns:a="http://schemas.openxmlformats.org/drawingml/2006/main">
            <a:pPr algn="l">
              <a:defRPr sz="3300" b="1">
                <a:solidFill>
                  <a:srgbClr val="173D33"/>
                </a:solidFill>
                <a:latin typeface="Liberation Sans"/>
                <a:ea typeface="Liberation Sans"/>
                <a:cs typeface="Liberation Sans"/>
              </a:defRPr>
            </a:pPr>
            <a:r>
              <a:rPr sz="3300" b="1">
                <a:solidFill>
                  <a:srgbClr val="173D33"/>
                </a:solidFill>
                <a:latin typeface="Liberation Sans"/>
                <a:ea typeface="Liberation Sans"/>
                <a:cs typeface="Liberation Sans"/>
              </a:rPr>
              <a:t>Literature review and project positioning</a:t>
            </a:r>
          </a:p>
        </p:txBody>
      </p:sp>
      <p:sp>
        <p:nvSpPr>
          <p:cNvPr id="3" name="03">
            <a:extLst xmlns:a="http://schemas.openxmlformats.org/drawingml/2006/main">
              <a:ext uri="{FF2B5EF4-FFF2-40B4-BE49-F238E27FC236}">
                <a16:creationId xmlns:a16="http://schemas.microsoft.com/office/drawing/2014/main" id="{B89DA6D1-6F70-4F14-AAAF-7B6C1423BE28}"/>
              </a:ext>
            </a:extLst>
          </p:cNvPr>
          <p:cNvSpPr>
            <a:spLocks xmlns:a="http://schemas.openxmlformats.org/drawingml/2006/main" noGrp="1"/>
          </p:cNvSpPr>
          <p:nvPr/>
        </p:nvSpPr>
        <p:spPr>
          <a:xfrm xmlns:a="http://schemas.openxmlformats.org/drawingml/2006/main">
            <a:off x="1106805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350" b="0">
                <a:solidFill>
                  <a:srgbClr val="708177"/>
                </a:solidFill>
                <a:latin typeface="Liberation Sans"/>
                <a:ea typeface="Liberation Sans"/>
                <a:cs typeface="Liberation Sans"/>
              </a:defRPr>
            </a:defPPr>
            <a:lvl1pPr algn="r">
              <a:defRPr sz="1350" b="0">
                <a:solidFill>
                  <a:srgbClr val="708177"/>
                </a:solidFill>
                <a:latin typeface="Liberation Sans"/>
                <a:ea typeface="Liberation Sans"/>
                <a:cs typeface="Liberation Sans"/>
              </a:defRPr>
            </a:lvl1pPr>
            <a:lvl2pPr algn="r">
              <a:defRPr sz="1350" b="0">
                <a:solidFill>
                  <a:srgbClr val="708177"/>
                </a:solidFill>
                <a:latin typeface="Liberation Sans"/>
                <a:ea typeface="Liberation Sans"/>
                <a:cs typeface="Liberation Sans"/>
              </a:defRPr>
            </a:lvl2pPr>
            <a:lvl3pPr algn="r">
              <a:defRPr sz="1350" b="0">
                <a:solidFill>
                  <a:srgbClr val="708177"/>
                </a:solidFill>
                <a:latin typeface="Liberation Sans"/>
                <a:ea typeface="Liberation Sans"/>
                <a:cs typeface="Liberation Sans"/>
              </a:defRPr>
            </a:lvl3pPr>
            <a:lvl4pPr algn="r">
              <a:defRPr sz="1350" b="0">
                <a:solidFill>
                  <a:srgbClr val="708177"/>
                </a:solidFill>
                <a:latin typeface="Liberation Sans"/>
                <a:ea typeface="Liberation Sans"/>
                <a:cs typeface="Liberation Sans"/>
              </a:defRPr>
            </a:lvl4pPr>
            <a:lvl5pPr algn="r">
              <a:defRPr sz="1350" b="0">
                <a:solidFill>
                  <a:srgbClr val="708177"/>
                </a:solidFill>
                <a:latin typeface="Liberation Sans"/>
                <a:ea typeface="Liberation Sans"/>
                <a:cs typeface="Liberation Sans"/>
              </a:defRPr>
            </a:lvl5pPr>
            <a:lvl6pPr algn="r">
              <a:defRPr sz="1350" b="0">
                <a:solidFill>
                  <a:srgbClr val="708177"/>
                </a:solidFill>
                <a:latin typeface="Liberation Sans"/>
                <a:ea typeface="Liberation Sans"/>
                <a:cs typeface="Liberation Sans"/>
              </a:defRPr>
            </a:lvl6pPr>
            <a:lvl7pPr algn="r">
              <a:defRPr sz="1350" b="0">
                <a:solidFill>
                  <a:srgbClr val="708177"/>
                </a:solidFill>
                <a:latin typeface="Liberation Sans"/>
                <a:ea typeface="Liberation Sans"/>
                <a:cs typeface="Liberation Sans"/>
              </a:defRPr>
            </a:lvl7pPr>
            <a:lvl8pPr algn="r">
              <a:defRPr sz="1350" b="0">
                <a:solidFill>
                  <a:srgbClr val="708177"/>
                </a:solidFill>
                <a:latin typeface="Liberation Sans"/>
                <a:ea typeface="Liberation Sans"/>
                <a:cs typeface="Liberation Sans"/>
              </a:defRPr>
            </a:lvl8pPr>
            <a:lvl9pPr algn="r">
              <a:defRPr sz="1350" b="0">
                <a:solidFill>
                  <a:srgbClr val="708177"/>
                </a:solidFill>
                <a:latin typeface="Liberation Sans"/>
                <a:ea typeface="Liberation Sans"/>
                <a:cs typeface="Liberation Sans"/>
              </a:defRPr>
            </a:lvl9pPr>
          </a:lstStyle>
          <a:p xmlns:a="http://schemas.openxmlformats.org/drawingml/2006/main">
            <a:pPr algn="r">
              <a:defRPr sz="1350" b="0">
                <a:solidFill>
                  <a:srgbClr val="708177"/>
                </a:solidFill>
                <a:latin typeface="Liberation Sans"/>
                <a:ea typeface="Liberation Sans"/>
                <a:cs typeface="Liberation Sans"/>
              </a:defRPr>
            </a:pPr>
            <a:r>
              <a:rPr sz="1350" b="0">
                <a:solidFill>
                  <a:srgbClr val="708177"/>
                </a:solidFill>
                <a:latin typeface="Liberation Sans"/>
                <a:ea typeface="Liberation Sans"/>
                <a:cs typeface="Liberation Sans"/>
              </a:rPr>
              <a:t>03</a:t>
            </a:r>
          </a:p>
        </p:txBody>
      </p:sp>
      <p:sp>
        <p:nvSpPr>
          <p:cNvPr id="4" name="RAG, Lewis et al. (2020) [1]">
            <a:extLst xmlns:a="http://schemas.openxmlformats.org/drawingml/2006/main">
              <a:ext uri="{FF2B5EF4-FFF2-40B4-BE49-F238E27FC236}">
                <a16:creationId xmlns:a16="http://schemas.microsoft.com/office/drawing/2014/main" id="{C5AE3847-0937-4030-8DFA-4D445D2F9E08}"/>
              </a:ext>
            </a:extLst>
          </p:cNvPr>
          <p:cNvSpPr>
            <a:spLocks xmlns:a="http://schemas.openxmlformats.org/drawingml/2006/main" noGrp="1"/>
          </p:cNvSpPr>
          <p:nvPr/>
        </p:nvSpPr>
        <p:spPr>
          <a:xfrm xmlns:a="http://schemas.openxmlformats.org/drawingml/2006/main">
            <a:off x="609600" y="1438275"/>
            <a:ext cx="581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53B34"/>
                </a:solidFill>
                <a:latin typeface="Liberation Sans"/>
                <a:ea typeface="Liberation Sans"/>
                <a:cs typeface="Liberation Sans"/>
              </a:defRPr>
            </a:defPPr>
            <a:lvl1pPr algn="l">
              <a:defRPr sz="1875" b="1">
                <a:solidFill>
                  <a:srgbClr val="253B34"/>
                </a:solidFill>
                <a:latin typeface="Liberation Sans"/>
                <a:ea typeface="Liberation Sans"/>
                <a:cs typeface="Liberation Sans"/>
              </a:defRPr>
            </a:lvl1pPr>
            <a:lvl2pPr algn="l">
              <a:defRPr sz="1875" b="1">
                <a:solidFill>
                  <a:srgbClr val="253B34"/>
                </a:solidFill>
                <a:latin typeface="Liberation Sans"/>
                <a:ea typeface="Liberation Sans"/>
                <a:cs typeface="Liberation Sans"/>
              </a:defRPr>
            </a:lvl2pPr>
            <a:lvl3pPr algn="l">
              <a:defRPr sz="1875" b="1">
                <a:solidFill>
                  <a:srgbClr val="253B34"/>
                </a:solidFill>
                <a:latin typeface="Liberation Sans"/>
                <a:ea typeface="Liberation Sans"/>
                <a:cs typeface="Liberation Sans"/>
              </a:defRPr>
            </a:lvl3pPr>
            <a:lvl4pPr algn="l">
              <a:defRPr sz="1875" b="1">
                <a:solidFill>
                  <a:srgbClr val="253B34"/>
                </a:solidFill>
                <a:latin typeface="Liberation Sans"/>
                <a:ea typeface="Liberation Sans"/>
                <a:cs typeface="Liberation Sans"/>
              </a:defRPr>
            </a:lvl4pPr>
            <a:lvl5pPr algn="l">
              <a:defRPr sz="1875" b="1">
                <a:solidFill>
                  <a:srgbClr val="253B34"/>
                </a:solidFill>
                <a:latin typeface="Liberation Sans"/>
                <a:ea typeface="Liberation Sans"/>
                <a:cs typeface="Liberation Sans"/>
              </a:defRPr>
            </a:lvl5pPr>
            <a:lvl6pPr algn="l">
              <a:defRPr sz="1875" b="1">
                <a:solidFill>
                  <a:srgbClr val="253B34"/>
                </a:solidFill>
                <a:latin typeface="Liberation Sans"/>
                <a:ea typeface="Liberation Sans"/>
                <a:cs typeface="Liberation Sans"/>
              </a:defRPr>
            </a:lvl6pPr>
            <a:lvl7pPr algn="l">
              <a:defRPr sz="1875" b="1">
                <a:solidFill>
                  <a:srgbClr val="253B34"/>
                </a:solidFill>
                <a:latin typeface="Liberation Sans"/>
                <a:ea typeface="Liberation Sans"/>
                <a:cs typeface="Liberation Sans"/>
              </a:defRPr>
            </a:lvl7pPr>
            <a:lvl8pPr algn="l">
              <a:defRPr sz="1875" b="1">
                <a:solidFill>
                  <a:srgbClr val="253B34"/>
                </a:solidFill>
                <a:latin typeface="Liberation Sans"/>
                <a:ea typeface="Liberation Sans"/>
                <a:cs typeface="Liberation Sans"/>
              </a:defRPr>
            </a:lvl8pPr>
            <a:lvl9pPr algn="l">
              <a:defRPr sz="1875" b="1">
                <a:solidFill>
                  <a:srgbClr val="253B34"/>
                </a:solidFill>
                <a:latin typeface="Liberation Sans"/>
                <a:ea typeface="Liberation Sans"/>
                <a:cs typeface="Liberation Sans"/>
              </a:defRPr>
            </a:lvl9pPr>
          </a:lstStyle>
          <a:p xmlns:a="http://schemas.openxmlformats.org/drawingml/2006/main">
            <a:pPr algn="l">
              <a:defRPr sz="1875" b="1">
                <a:solidFill>
                  <a:srgbClr val="253B34"/>
                </a:solidFill>
                <a:latin typeface="Liberation Sans"/>
                <a:ea typeface="Liberation Sans"/>
                <a:cs typeface="Liberation Sans"/>
              </a:defRPr>
            </a:pPr>
            <a:r>
              <a:rPr sz="1875" b="1">
                <a:solidFill>
                  <a:srgbClr val="253B34"/>
                </a:solidFill>
                <a:latin typeface="Liberation Sans"/>
                <a:ea typeface="Liberation Sans"/>
                <a:cs typeface="Liberation Sans"/>
              </a:rPr>
              <a:t>RAG, Lewis et al. (2020) [1]</a:t>
            </a:r>
          </a:p>
        </p:txBody>
      </p:sp>
      <p:sp>
        <p:nvSpPr>
          <p:cNvPr id="5" name="Retrieve evidence before generation">
            <a:extLst xmlns:a="http://schemas.openxmlformats.org/drawingml/2006/main">
              <a:ext uri="{FF2B5EF4-FFF2-40B4-BE49-F238E27FC236}">
                <a16:creationId xmlns:a16="http://schemas.microsoft.com/office/drawing/2014/main" id="{6DE5E376-7E62-45D9-A795-5A6C0FD88FAE}"/>
              </a:ext>
            </a:extLst>
          </p:cNvPr>
          <p:cNvSpPr>
            <a:spLocks xmlns:a="http://schemas.openxmlformats.org/drawingml/2006/main" noGrp="1"/>
          </p:cNvSpPr>
          <p:nvPr/>
        </p:nvSpPr>
        <p:spPr>
          <a:xfrm xmlns:a="http://schemas.openxmlformats.org/drawingml/2006/main">
            <a:off x="6667500" y="1438275"/>
            <a:ext cx="4762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253B34"/>
                </a:solidFill>
                <a:latin typeface="Liberation Sans"/>
                <a:ea typeface="Liberation Sans"/>
                <a:cs typeface="Liberation Sans"/>
              </a:defRPr>
            </a:defPPr>
            <a:lvl1pPr algn="l">
              <a:defRPr sz="1875" b="0">
                <a:solidFill>
                  <a:srgbClr val="253B34"/>
                </a:solidFill>
                <a:latin typeface="Liberation Sans"/>
                <a:ea typeface="Liberation Sans"/>
                <a:cs typeface="Liberation Sans"/>
              </a:defRPr>
            </a:lvl1pPr>
            <a:lvl2pPr algn="l">
              <a:defRPr sz="1875" b="0">
                <a:solidFill>
                  <a:srgbClr val="253B34"/>
                </a:solidFill>
                <a:latin typeface="Liberation Sans"/>
                <a:ea typeface="Liberation Sans"/>
                <a:cs typeface="Liberation Sans"/>
              </a:defRPr>
            </a:lvl2pPr>
            <a:lvl3pPr algn="l">
              <a:defRPr sz="1875" b="0">
                <a:solidFill>
                  <a:srgbClr val="253B34"/>
                </a:solidFill>
                <a:latin typeface="Liberation Sans"/>
                <a:ea typeface="Liberation Sans"/>
                <a:cs typeface="Liberation Sans"/>
              </a:defRPr>
            </a:lvl3pPr>
            <a:lvl4pPr algn="l">
              <a:defRPr sz="1875" b="0">
                <a:solidFill>
                  <a:srgbClr val="253B34"/>
                </a:solidFill>
                <a:latin typeface="Liberation Sans"/>
                <a:ea typeface="Liberation Sans"/>
                <a:cs typeface="Liberation Sans"/>
              </a:defRPr>
            </a:lvl4pPr>
            <a:lvl5pPr algn="l">
              <a:defRPr sz="1875" b="0">
                <a:solidFill>
                  <a:srgbClr val="253B34"/>
                </a:solidFill>
                <a:latin typeface="Liberation Sans"/>
                <a:ea typeface="Liberation Sans"/>
                <a:cs typeface="Liberation Sans"/>
              </a:defRPr>
            </a:lvl5pPr>
            <a:lvl6pPr algn="l">
              <a:defRPr sz="1875" b="0">
                <a:solidFill>
                  <a:srgbClr val="253B34"/>
                </a:solidFill>
                <a:latin typeface="Liberation Sans"/>
                <a:ea typeface="Liberation Sans"/>
                <a:cs typeface="Liberation Sans"/>
              </a:defRPr>
            </a:lvl6pPr>
            <a:lvl7pPr algn="l">
              <a:defRPr sz="1875" b="0">
                <a:solidFill>
                  <a:srgbClr val="253B34"/>
                </a:solidFill>
                <a:latin typeface="Liberation Sans"/>
                <a:ea typeface="Liberation Sans"/>
                <a:cs typeface="Liberation Sans"/>
              </a:defRPr>
            </a:lvl7pPr>
            <a:lvl8pPr algn="l">
              <a:defRPr sz="1875" b="0">
                <a:solidFill>
                  <a:srgbClr val="253B34"/>
                </a:solidFill>
                <a:latin typeface="Liberation Sans"/>
                <a:ea typeface="Liberation Sans"/>
                <a:cs typeface="Liberation Sans"/>
              </a:defRPr>
            </a:lvl8pPr>
            <a:lvl9pPr algn="l">
              <a:defRPr sz="1875" b="0">
                <a:solidFill>
                  <a:srgbClr val="253B34"/>
                </a:solidFill>
                <a:latin typeface="Liberation Sans"/>
                <a:ea typeface="Liberation Sans"/>
                <a:cs typeface="Liberation Sans"/>
              </a:defRPr>
            </a:lvl9pPr>
          </a:lstStyle>
          <a:p xmlns:a="http://schemas.openxmlformats.org/drawingml/2006/main">
            <a:pPr algn="l">
              <a:defRPr sz="1875" b="0">
                <a:solidFill>
                  <a:srgbClr val="253B34"/>
                </a:solidFill>
                <a:latin typeface="Liberation Sans"/>
                <a:ea typeface="Liberation Sans"/>
                <a:cs typeface="Liberation Sans"/>
              </a:defRPr>
            </a:pPr>
            <a:r>
              <a:rPr sz="1875" b="0">
                <a:solidFill>
                  <a:srgbClr val="253B34"/>
                </a:solidFill>
                <a:latin typeface="Liberation Sans"/>
                <a:ea typeface="Liberation Sans"/>
                <a:cs typeface="Liberation Sans"/>
              </a:rPr>
              <a:t>Retrieve evidence before generation</a:t>
            </a:r>
          </a:p>
        </p:txBody>
      </p:sp>
      <p:sp>
        <p:nvSpPr>
          <p:cNvPr id="6" name="RRF, Cormack et al. (2009) [2]">
            <a:extLst xmlns:a="http://schemas.openxmlformats.org/drawingml/2006/main">
              <a:ext uri="{FF2B5EF4-FFF2-40B4-BE49-F238E27FC236}">
                <a16:creationId xmlns:a16="http://schemas.microsoft.com/office/drawing/2014/main" id="{76F6ECF1-2BB1-4CC2-B490-F0A3FDFC44D8}"/>
              </a:ext>
            </a:extLst>
          </p:cNvPr>
          <p:cNvSpPr>
            <a:spLocks xmlns:a="http://schemas.openxmlformats.org/drawingml/2006/main" noGrp="1"/>
          </p:cNvSpPr>
          <p:nvPr/>
        </p:nvSpPr>
        <p:spPr>
          <a:xfrm xmlns:a="http://schemas.openxmlformats.org/drawingml/2006/main">
            <a:off x="609600" y="2228850"/>
            <a:ext cx="581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53B34"/>
                </a:solidFill>
                <a:latin typeface="Liberation Sans"/>
                <a:ea typeface="Liberation Sans"/>
                <a:cs typeface="Liberation Sans"/>
              </a:defRPr>
            </a:defPPr>
            <a:lvl1pPr algn="l">
              <a:defRPr sz="1875" b="1">
                <a:solidFill>
                  <a:srgbClr val="253B34"/>
                </a:solidFill>
                <a:latin typeface="Liberation Sans"/>
                <a:ea typeface="Liberation Sans"/>
                <a:cs typeface="Liberation Sans"/>
              </a:defRPr>
            </a:lvl1pPr>
            <a:lvl2pPr algn="l">
              <a:defRPr sz="1875" b="1">
                <a:solidFill>
                  <a:srgbClr val="253B34"/>
                </a:solidFill>
                <a:latin typeface="Liberation Sans"/>
                <a:ea typeface="Liberation Sans"/>
                <a:cs typeface="Liberation Sans"/>
              </a:defRPr>
            </a:lvl2pPr>
            <a:lvl3pPr algn="l">
              <a:defRPr sz="1875" b="1">
                <a:solidFill>
                  <a:srgbClr val="253B34"/>
                </a:solidFill>
                <a:latin typeface="Liberation Sans"/>
                <a:ea typeface="Liberation Sans"/>
                <a:cs typeface="Liberation Sans"/>
              </a:defRPr>
            </a:lvl3pPr>
            <a:lvl4pPr algn="l">
              <a:defRPr sz="1875" b="1">
                <a:solidFill>
                  <a:srgbClr val="253B34"/>
                </a:solidFill>
                <a:latin typeface="Liberation Sans"/>
                <a:ea typeface="Liberation Sans"/>
                <a:cs typeface="Liberation Sans"/>
              </a:defRPr>
            </a:lvl4pPr>
            <a:lvl5pPr algn="l">
              <a:defRPr sz="1875" b="1">
                <a:solidFill>
                  <a:srgbClr val="253B34"/>
                </a:solidFill>
                <a:latin typeface="Liberation Sans"/>
                <a:ea typeface="Liberation Sans"/>
                <a:cs typeface="Liberation Sans"/>
              </a:defRPr>
            </a:lvl5pPr>
            <a:lvl6pPr algn="l">
              <a:defRPr sz="1875" b="1">
                <a:solidFill>
                  <a:srgbClr val="253B34"/>
                </a:solidFill>
                <a:latin typeface="Liberation Sans"/>
                <a:ea typeface="Liberation Sans"/>
                <a:cs typeface="Liberation Sans"/>
              </a:defRPr>
            </a:lvl6pPr>
            <a:lvl7pPr algn="l">
              <a:defRPr sz="1875" b="1">
                <a:solidFill>
                  <a:srgbClr val="253B34"/>
                </a:solidFill>
                <a:latin typeface="Liberation Sans"/>
                <a:ea typeface="Liberation Sans"/>
                <a:cs typeface="Liberation Sans"/>
              </a:defRPr>
            </a:lvl7pPr>
            <a:lvl8pPr algn="l">
              <a:defRPr sz="1875" b="1">
                <a:solidFill>
                  <a:srgbClr val="253B34"/>
                </a:solidFill>
                <a:latin typeface="Liberation Sans"/>
                <a:ea typeface="Liberation Sans"/>
                <a:cs typeface="Liberation Sans"/>
              </a:defRPr>
            </a:lvl8pPr>
            <a:lvl9pPr algn="l">
              <a:defRPr sz="1875" b="1">
                <a:solidFill>
                  <a:srgbClr val="253B34"/>
                </a:solidFill>
                <a:latin typeface="Liberation Sans"/>
                <a:ea typeface="Liberation Sans"/>
                <a:cs typeface="Liberation Sans"/>
              </a:defRPr>
            </a:lvl9pPr>
          </a:lstStyle>
          <a:p xmlns:a="http://schemas.openxmlformats.org/drawingml/2006/main">
            <a:pPr algn="l">
              <a:defRPr sz="1875" b="1">
                <a:solidFill>
                  <a:srgbClr val="253B34"/>
                </a:solidFill>
                <a:latin typeface="Liberation Sans"/>
                <a:ea typeface="Liberation Sans"/>
                <a:cs typeface="Liberation Sans"/>
              </a:defRPr>
            </a:pPr>
            <a:r>
              <a:rPr sz="1875" b="1">
                <a:solidFill>
                  <a:srgbClr val="253B34"/>
                </a:solidFill>
                <a:latin typeface="Liberation Sans"/>
                <a:ea typeface="Liberation Sans"/>
                <a:cs typeface="Liberation Sans"/>
              </a:rPr>
              <a:t>RRF, Cormack et al. (2009) [2]</a:t>
            </a:r>
          </a:p>
        </p:txBody>
      </p:sp>
      <p:sp>
        <p:nvSpPr>
          <p:cNvPr id="7" name="Combine lexical and vector rankings">
            <a:extLst xmlns:a="http://schemas.openxmlformats.org/drawingml/2006/main">
              <a:ext uri="{FF2B5EF4-FFF2-40B4-BE49-F238E27FC236}">
                <a16:creationId xmlns:a16="http://schemas.microsoft.com/office/drawing/2014/main" id="{7AEED57E-AC15-49D1-8838-67A9A3B1F795}"/>
              </a:ext>
            </a:extLst>
          </p:cNvPr>
          <p:cNvSpPr>
            <a:spLocks xmlns:a="http://schemas.openxmlformats.org/drawingml/2006/main" noGrp="1"/>
          </p:cNvSpPr>
          <p:nvPr/>
        </p:nvSpPr>
        <p:spPr>
          <a:xfrm xmlns:a="http://schemas.openxmlformats.org/drawingml/2006/main">
            <a:off x="6667500" y="2228850"/>
            <a:ext cx="4762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253B34"/>
                </a:solidFill>
                <a:latin typeface="Liberation Sans"/>
                <a:ea typeface="Liberation Sans"/>
                <a:cs typeface="Liberation Sans"/>
              </a:defRPr>
            </a:defPPr>
            <a:lvl1pPr algn="l">
              <a:defRPr sz="1875" b="0">
                <a:solidFill>
                  <a:srgbClr val="253B34"/>
                </a:solidFill>
                <a:latin typeface="Liberation Sans"/>
                <a:ea typeface="Liberation Sans"/>
                <a:cs typeface="Liberation Sans"/>
              </a:defRPr>
            </a:lvl1pPr>
            <a:lvl2pPr algn="l">
              <a:defRPr sz="1875" b="0">
                <a:solidFill>
                  <a:srgbClr val="253B34"/>
                </a:solidFill>
                <a:latin typeface="Liberation Sans"/>
                <a:ea typeface="Liberation Sans"/>
                <a:cs typeface="Liberation Sans"/>
              </a:defRPr>
            </a:lvl2pPr>
            <a:lvl3pPr algn="l">
              <a:defRPr sz="1875" b="0">
                <a:solidFill>
                  <a:srgbClr val="253B34"/>
                </a:solidFill>
                <a:latin typeface="Liberation Sans"/>
                <a:ea typeface="Liberation Sans"/>
                <a:cs typeface="Liberation Sans"/>
              </a:defRPr>
            </a:lvl3pPr>
            <a:lvl4pPr algn="l">
              <a:defRPr sz="1875" b="0">
                <a:solidFill>
                  <a:srgbClr val="253B34"/>
                </a:solidFill>
                <a:latin typeface="Liberation Sans"/>
                <a:ea typeface="Liberation Sans"/>
                <a:cs typeface="Liberation Sans"/>
              </a:defRPr>
            </a:lvl4pPr>
            <a:lvl5pPr algn="l">
              <a:defRPr sz="1875" b="0">
                <a:solidFill>
                  <a:srgbClr val="253B34"/>
                </a:solidFill>
                <a:latin typeface="Liberation Sans"/>
                <a:ea typeface="Liberation Sans"/>
                <a:cs typeface="Liberation Sans"/>
              </a:defRPr>
            </a:lvl5pPr>
            <a:lvl6pPr algn="l">
              <a:defRPr sz="1875" b="0">
                <a:solidFill>
                  <a:srgbClr val="253B34"/>
                </a:solidFill>
                <a:latin typeface="Liberation Sans"/>
                <a:ea typeface="Liberation Sans"/>
                <a:cs typeface="Liberation Sans"/>
              </a:defRPr>
            </a:lvl6pPr>
            <a:lvl7pPr algn="l">
              <a:defRPr sz="1875" b="0">
                <a:solidFill>
                  <a:srgbClr val="253B34"/>
                </a:solidFill>
                <a:latin typeface="Liberation Sans"/>
                <a:ea typeface="Liberation Sans"/>
                <a:cs typeface="Liberation Sans"/>
              </a:defRPr>
            </a:lvl7pPr>
            <a:lvl8pPr algn="l">
              <a:defRPr sz="1875" b="0">
                <a:solidFill>
                  <a:srgbClr val="253B34"/>
                </a:solidFill>
                <a:latin typeface="Liberation Sans"/>
                <a:ea typeface="Liberation Sans"/>
                <a:cs typeface="Liberation Sans"/>
              </a:defRPr>
            </a:lvl8pPr>
            <a:lvl9pPr algn="l">
              <a:defRPr sz="1875" b="0">
                <a:solidFill>
                  <a:srgbClr val="253B34"/>
                </a:solidFill>
                <a:latin typeface="Liberation Sans"/>
                <a:ea typeface="Liberation Sans"/>
                <a:cs typeface="Liberation Sans"/>
              </a:defRPr>
            </a:lvl9pPr>
          </a:lstStyle>
          <a:p xmlns:a="http://schemas.openxmlformats.org/drawingml/2006/main">
            <a:pPr algn="l">
              <a:defRPr sz="1875" b="0">
                <a:solidFill>
                  <a:srgbClr val="253B34"/>
                </a:solidFill>
                <a:latin typeface="Liberation Sans"/>
                <a:ea typeface="Liberation Sans"/>
                <a:cs typeface="Liberation Sans"/>
              </a:defRPr>
            </a:pPr>
            <a:r>
              <a:rPr sz="1875" b="0">
                <a:solidFill>
                  <a:srgbClr val="253B34"/>
                </a:solidFill>
                <a:latin typeface="Liberation Sans"/>
                <a:ea typeface="Liberation Sans"/>
                <a:cs typeface="Liberation Sans"/>
              </a:rPr>
              <a:t>Combine lexical and vector rankings</a:t>
            </a:r>
          </a:p>
        </p:txBody>
      </p:sp>
      <p:sp>
        <p:nvSpPr>
          <p:cNvPr id="8" name="ReAct, Yao et al. (2023) [3]">
            <a:extLst xmlns:a="http://schemas.openxmlformats.org/drawingml/2006/main">
              <a:ext uri="{FF2B5EF4-FFF2-40B4-BE49-F238E27FC236}">
                <a16:creationId xmlns:a16="http://schemas.microsoft.com/office/drawing/2014/main" id="{7928B2C8-E3C1-443E-B78C-4D270CE117C2}"/>
              </a:ext>
            </a:extLst>
          </p:cNvPr>
          <p:cNvSpPr>
            <a:spLocks xmlns:a="http://schemas.openxmlformats.org/drawingml/2006/main" noGrp="1"/>
          </p:cNvSpPr>
          <p:nvPr/>
        </p:nvSpPr>
        <p:spPr>
          <a:xfrm xmlns:a="http://schemas.openxmlformats.org/drawingml/2006/main">
            <a:off x="609600" y="3019425"/>
            <a:ext cx="581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53B34"/>
                </a:solidFill>
                <a:latin typeface="Liberation Sans"/>
                <a:ea typeface="Liberation Sans"/>
                <a:cs typeface="Liberation Sans"/>
              </a:defRPr>
            </a:defPPr>
            <a:lvl1pPr algn="l">
              <a:defRPr sz="1875" b="1">
                <a:solidFill>
                  <a:srgbClr val="253B34"/>
                </a:solidFill>
                <a:latin typeface="Liberation Sans"/>
                <a:ea typeface="Liberation Sans"/>
                <a:cs typeface="Liberation Sans"/>
              </a:defRPr>
            </a:lvl1pPr>
            <a:lvl2pPr algn="l">
              <a:defRPr sz="1875" b="1">
                <a:solidFill>
                  <a:srgbClr val="253B34"/>
                </a:solidFill>
                <a:latin typeface="Liberation Sans"/>
                <a:ea typeface="Liberation Sans"/>
                <a:cs typeface="Liberation Sans"/>
              </a:defRPr>
            </a:lvl2pPr>
            <a:lvl3pPr algn="l">
              <a:defRPr sz="1875" b="1">
                <a:solidFill>
                  <a:srgbClr val="253B34"/>
                </a:solidFill>
                <a:latin typeface="Liberation Sans"/>
                <a:ea typeface="Liberation Sans"/>
                <a:cs typeface="Liberation Sans"/>
              </a:defRPr>
            </a:lvl3pPr>
            <a:lvl4pPr algn="l">
              <a:defRPr sz="1875" b="1">
                <a:solidFill>
                  <a:srgbClr val="253B34"/>
                </a:solidFill>
                <a:latin typeface="Liberation Sans"/>
                <a:ea typeface="Liberation Sans"/>
                <a:cs typeface="Liberation Sans"/>
              </a:defRPr>
            </a:lvl4pPr>
            <a:lvl5pPr algn="l">
              <a:defRPr sz="1875" b="1">
                <a:solidFill>
                  <a:srgbClr val="253B34"/>
                </a:solidFill>
                <a:latin typeface="Liberation Sans"/>
                <a:ea typeface="Liberation Sans"/>
                <a:cs typeface="Liberation Sans"/>
              </a:defRPr>
            </a:lvl5pPr>
            <a:lvl6pPr algn="l">
              <a:defRPr sz="1875" b="1">
                <a:solidFill>
                  <a:srgbClr val="253B34"/>
                </a:solidFill>
                <a:latin typeface="Liberation Sans"/>
                <a:ea typeface="Liberation Sans"/>
                <a:cs typeface="Liberation Sans"/>
              </a:defRPr>
            </a:lvl6pPr>
            <a:lvl7pPr algn="l">
              <a:defRPr sz="1875" b="1">
                <a:solidFill>
                  <a:srgbClr val="253B34"/>
                </a:solidFill>
                <a:latin typeface="Liberation Sans"/>
                <a:ea typeface="Liberation Sans"/>
                <a:cs typeface="Liberation Sans"/>
              </a:defRPr>
            </a:lvl7pPr>
            <a:lvl8pPr algn="l">
              <a:defRPr sz="1875" b="1">
                <a:solidFill>
                  <a:srgbClr val="253B34"/>
                </a:solidFill>
                <a:latin typeface="Liberation Sans"/>
                <a:ea typeface="Liberation Sans"/>
                <a:cs typeface="Liberation Sans"/>
              </a:defRPr>
            </a:lvl8pPr>
            <a:lvl9pPr algn="l">
              <a:defRPr sz="1875" b="1">
                <a:solidFill>
                  <a:srgbClr val="253B34"/>
                </a:solidFill>
                <a:latin typeface="Liberation Sans"/>
                <a:ea typeface="Liberation Sans"/>
                <a:cs typeface="Liberation Sans"/>
              </a:defRPr>
            </a:lvl9pPr>
          </a:lstStyle>
          <a:p xmlns:a="http://schemas.openxmlformats.org/drawingml/2006/main">
            <a:pPr algn="l">
              <a:defRPr sz="1875" b="1">
                <a:solidFill>
                  <a:srgbClr val="253B34"/>
                </a:solidFill>
                <a:latin typeface="Liberation Sans"/>
                <a:ea typeface="Liberation Sans"/>
                <a:cs typeface="Liberation Sans"/>
              </a:defRPr>
            </a:pPr>
            <a:r>
              <a:rPr sz="1875" b="1">
                <a:solidFill>
                  <a:srgbClr val="253B34"/>
                </a:solidFill>
                <a:latin typeface="Liberation Sans"/>
                <a:ea typeface="Liberation Sans"/>
                <a:cs typeface="Liberation Sans"/>
              </a:rPr>
              <a:t>ReAct, Yao et al. (2023) [3]</a:t>
            </a:r>
          </a:p>
        </p:txBody>
      </p:sp>
      <p:sp>
        <p:nvSpPr>
          <p:cNvPr id="9" name="Use bounded information-gathering tools">
            <a:extLst xmlns:a="http://schemas.openxmlformats.org/drawingml/2006/main">
              <a:ext uri="{FF2B5EF4-FFF2-40B4-BE49-F238E27FC236}">
                <a16:creationId xmlns:a16="http://schemas.microsoft.com/office/drawing/2014/main" id="{A1398FDE-F314-4BE8-B245-1B0B58D679BE}"/>
              </a:ext>
            </a:extLst>
          </p:cNvPr>
          <p:cNvSpPr>
            <a:spLocks xmlns:a="http://schemas.openxmlformats.org/drawingml/2006/main" noGrp="1"/>
          </p:cNvSpPr>
          <p:nvPr/>
        </p:nvSpPr>
        <p:spPr>
          <a:xfrm xmlns:a="http://schemas.openxmlformats.org/drawingml/2006/main">
            <a:off x="6667500" y="3019425"/>
            <a:ext cx="4762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253B34"/>
                </a:solidFill>
                <a:latin typeface="Liberation Sans"/>
                <a:ea typeface="Liberation Sans"/>
                <a:cs typeface="Liberation Sans"/>
              </a:defRPr>
            </a:defPPr>
            <a:lvl1pPr algn="l">
              <a:defRPr sz="1875" b="0">
                <a:solidFill>
                  <a:srgbClr val="253B34"/>
                </a:solidFill>
                <a:latin typeface="Liberation Sans"/>
                <a:ea typeface="Liberation Sans"/>
                <a:cs typeface="Liberation Sans"/>
              </a:defRPr>
            </a:lvl1pPr>
            <a:lvl2pPr algn="l">
              <a:defRPr sz="1875" b="0">
                <a:solidFill>
                  <a:srgbClr val="253B34"/>
                </a:solidFill>
                <a:latin typeface="Liberation Sans"/>
                <a:ea typeface="Liberation Sans"/>
                <a:cs typeface="Liberation Sans"/>
              </a:defRPr>
            </a:lvl2pPr>
            <a:lvl3pPr algn="l">
              <a:defRPr sz="1875" b="0">
                <a:solidFill>
                  <a:srgbClr val="253B34"/>
                </a:solidFill>
                <a:latin typeface="Liberation Sans"/>
                <a:ea typeface="Liberation Sans"/>
                <a:cs typeface="Liberation Sans"/>
              </a:defRPr>
            </a:lvl3pPr>
            <a:lvl4pPr algn="l">
              <a:defRPr sz="1875" b="0">
                <a:solidFill>
                  <a:srgbClr val="253B34"/>
                </a:solidFill>
                <a:latin typeface="Liberation Sans"/>
                <a:ea typeface="Liberation Sans"/>
                <a:cs typeface="Liberation Sans"/>
              </a:defRPr>
            </a:lvl4pPr>
            <a:lvl5pPr algn="l">
              <a:defRPr sz="1875" b="0">
                <a:solidFill>
                  <a:srgbClr val="253B34"/>
                </a:solidFill>
                <a:latin typeface="Liberation Sans"/>
                <a:ea typeface="Liberation Sans"/>
                <a:cs typeface="Liberation Sans"/>
              </a:defRPr>
            </a:lvl5pPr>
            <a:lvl6pPr algn="l">
              <a:defRPr sz="1875" b="0">
                <a:solidFill>
                  <a:srgbClr val="253B34"/>
                </a:solidFill>
                <a:latin typeface="Liberation Sans"/>
                <a:ea typeface="Liberation Sans"/>
                <a:cs typeface="Liberation Sans"/>
              </a:defRPr>
            </a:lvl6pPr>
            <a:lvl7pPr algn="l">
              <a:defRPr sz="1875" b="0">
                <a:solidFill>
                  <a:srgbClr val="253B34"/>
                </a:solidFill>
                <a:latin typeface="Liberation Sans"/>
                <a:ea typeface="Liberation Sans"/>
                <a:cs typeface="Liberation Sans"/>
              </a:defRPr>
            </a:lvl7pPr>
            <a:lvl8pPr algn="l">
              <a:defRPr sz="1875" b="0">
                <a:solidFill>
                  <a:srgbClr val="253B34"/>
                </a:solidFill>
                <a:latin typeface="Liberation Sans"/>
                <a:ea typeface="Liberation Sans"/>
                <a:cs typeface="Liberation Sans"/>
              </a:defRPr>
            </a:lvl8pPr>
            <a:lvl9pPr algn="l">
              <a:defRPr sz="1875" b="0">
                <a:solidFill>
                  <a:srgbClr val="253B34"/>
                </a:solidFill>
                <a:latin typeface="Liberation Sans"/>
                <a:ea typeface="Liberation Sans"/>
                <a:cs typeface="Liberation Sans"/>
              </a:defRPr>
            </a:lvl9pPr>
          </a:lstStyle>
          <a:p xmlns:a="http://schemas.openxmlformats.org/drawingml/2006/main">
            <a:pPr algn="l">
              <a:defRPr sz="1875" b="0">
                <a:solidFill>
                  <a:srgbClr val="253B34"/>
                </a:solidFill>
                <a:latin typeface="Liberation Sans"/>
                <a:ea typeface="Liberation Sans"/>
                <a:cs typeface="Liberation Sans"/>
              </a:defRPr>
            </a:pPr>
            <a:r>
              <a:rPr sz="1875" b="0">
                <a:solidFill>
                  <a:srgbClr val="253B34"/>
                </a:solidFill>
                <a:latin typeface="Liberation Sans"/>
                <a:ea typeface="Liberation Sans"/>
                <a:cs typeface="Liberation Sans"/>
              </a:rPr>
              <a:t>Gather evidence through tool calls</a:t>
            </a:r>
          </a:p>
        </p:txBody>
      </p:sp>
      <p:sp>
        <p:nvSpPr>
          <p:cNvPr id="10" name="MemGPT, Packer et al. (2023) [4]">
            <a:extLst xmlns:a="http://schemas.openxmlformats.org/drawingml/2006/main">
              <a:ext uri="{FF2B5EF4-FFF2-40B4-BE49-F238E27FC236}">
                <a16:creationId xmlns:a16="http://schemas.microsoft.com/office/drawing/2014/main" id="{4F7DE123-13B3-40F6-A0F8-2165D1FB2767}"/>
              </a:ext>
            </a:extLst>
          </p:cNvPr>
          <p:cNvSpPr>
            <a:spLocks xmlns:a="http://schemas.openxmlformats.org/drawingml/2006/main" noGrp="1"/>
          </p:cNvSpPr>
          <p:nvPr/>
        </p:nvSpPr>
        <p:spPr>
          <a:xfrm xmlns:a="http://schemas.openxmlformats.org/drawingml/2006/main">
            <a:off x="609600" y="3810000"/>
            <a:ext cx="581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53B34"/>
                </a:solidFill>
                <a:latin typeface="Liberation Sans"/>
                <a:ea typeface="Liberation Sans"/>
                <a:cs typeface="Liberation Sans"/>
              </a:defRPr>
            </a:defPPr>
            <a:lvl1pPr algn="l">
              <a:defRPr sz="1875" b="1">
                <a:solidFill>
                  <a:srgbClr val="253B34"/>
                </a:solidFill>
                <a:latin typeface="Liberation Sans"/>
                <a:ea typeface="Liberation Sans"/>
                <a:cs typeface="Liberation Sans"/>
              </a:defRPr>
            </a:lvl1pPr>
            <a:lvl2pPr algn="l">
              <a:defRPr sz="1875" b="1">
                <a:solidFill>
                  <a:srgbClr val="253B34"/>
                </a:solidFill>
                <a:latin typeface="Liberation Sans"/>
                <a:ea typeface="Liberation Sans"/>
                <a:cs typeface="Liberation Sans"/>
              </a:defRPr>
            </a:lvl2pPr>
            <a:lvl3pPr algn="l">
              <a:defRPr sz="1875" b="1">
                <a:solidFill>
                  <a:srgbClr val="253B34"/>
                </a:solidFill>
                <a:latin typeface="Liberation Sans"/>
                <a:ea typeface="Liberation Sans"/>
                <a:cs typeface="Liberation Sans"/>
              </a:defRPr>
            </a:lvl3pPr>
            <a:lvl4pPr algn="l">
              <a:defRPr sz="1875" b="1">
                <a:solidFill>
                  <a:srgbClr val="253B34"/>
                </a:solidFill>
                <a:latin typeface="Liberation Sans"/>
                <a:ea typeface="Liberation Sans"/>
                <a:cs typeface="Liberation Sans"/>
              </a:defRPr>
            </a:lvl4pPr>
            <a:lvl5pPr algn="l">
              <a:defRPr sz="1875" b="1">
                <a:solidFill>
                  <a:srgbClr val="253B34"/>
                </a:solidFill>
                <a:latin typeface="Liberation Sans"/>
                <a:ea typeface="Liberation Sans"/>
                <a:cs typeface="Liberation Sans"/>
              </a:defRPr>
            </a:lvl5pPr>
            <a:lvl6pPr algn="l">
              <a:defRPr sz="1875" b="1">
                <a:solidFill>
                  <a:srgbClr val="253B34"/>
                </a:solidFill>
                <a:latin typeface="Liberation Sans"/>
                <a:ea typeface="Liberation Sans"/>
                <a:cs typeface="Liberation Sans"/>
              </a:defRPr>
            </a:lvl6pPr>
            <a:lvl7pPr algn="l">
              <a:defRPr sz="1875" b="1">
                <a:solidFill>
                  <a:srgbClr val="253B34"/>
                </a:solidFill>
                <a:latin typeface="Liberation Sans"/>
                <a:ea typeface="Liberation Sans"/>
                <a:cs typeface="Liberation Sans"/>
              </a:defRPr>
            </a:lvl7pPr>
            <a:lvl8pPr algn="l">
              <a:defRPr sz="1875" b="1">
                <a:solidFill>
                  <a:srgbClr val="253B34"/>
                </a:solidFill>
                <a:latin typeface="Liberation Sans"/>
                <a:ea typeface="Liberation Sans"/>
                <a:cs typeface="Liberation Sans"/>
              </a:defRPr>
            </a:lvl8pPr>
            <a:lvl9pPr algn="l">
              <a:defRPr sz="1875" b="1">
                <a:solidFill>
                  <a:srgbClr val="253B34"/>
                </a:solidFill>
                <a:latin typeface="Liberation Sans"/>
                <a:ea typeface="Liberation Sans"/>
                <a:cs typeface="Liberation Sans"/>
              </a:defRPr>
            </a:lvl9pPr>
          </a:lstStyle>
          <a:p xmlns:a="http://schemas.openxmlformats.org/drawingml/2006/main">
            <a:pPr algn="l">
              <a:defRPr sz="1875" b="1">
                <a:solidFill>
                  <a:srgbClr val="253B34"/>
                </a:solidFill>
                <a:latin typeface="Liberation Sans"/>
                <a:ea typeface="Liberation Sans"/>
                <a:cs typeface="Liberation Sans"/>
              </a:defRPr>
            </a:pPr>
            <a:r>
              <a:rPr sz="1875" b="1">
                <a:solidFill>
                  <a:srgbClr val="253B34"/>
                </a:solidFill>
                <a:latin typeface="Liberation Sans"/>
                <a:ea typeface="Liberation Sans"/>
                <a:cs typeface="Liberation Sans"/>
              </a:rPr>
              <a:t>MemGPT, Packer et al. (2023) [4]</a:t>
            </a:r>
          </a:p>
        </p:txBody>
      </p:sp>
      <p:sp>
        <p:nvSpPr>
          <p:cNvPr id="11" name="Persist context beyond one model input">
            <a:extLst xmlns:a="http://schemas.openxmlformats.org/drawingml/2006/main">
              <a:ext uri="{FF2B5EF4-FFF2-40B4-BE49-F238E27FC236}">
                <a16:creationId xmlns:a16="http://schemas.microsoft.com/office/drawing/2014/main" id="{3C9D4749-8895-4BC0-95B7-53744B9A178C}"/>
              </a:ext>
            </a:extLst>
          </p:cNvPr>
          <p:cNvSpPr>
            <a:spLocks xmlns:a="http://schemas.openxmlformats.org/drawingml/2006/main" noGrp="1"/>
          </p:cNvSpPr>
          <p:nvPr/>
        </p:nvSpPr>
        <p:spPr>
          <a:xfrm xmlns:a="http://schemas.openxmlformats.org/drawingml/2006/main">
            <a:off x="6667500" y="3810000"/>
            <a:ext cx="4762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253B34"/>
                </a:solidFill>
                <a:latin typeface="Liberation Sans"/>
                <a:ea typeface="Liberation Sans"/>
                <a:cs typeface="Liberation Sans"/>
              </a:defRPr>
            </a:defPPr>
            <a:lvl1pPr algn="l">
              <a:defRPr sz="1875" b="0">
                <a:solidFill>
                  <a:srgbClr val="253B34"/>
                </a:solidFill>
                <a:latin typeface="Liberation Sans"/>
                <a:ea typeface="Liberation Sans"/>
                <a:cs typeface="Liberation Sans"/>
              </a:defRPr>
            </a:lvl1pPr>
            <a:lvl2pPr algn="l">
              <a:defRPr sz="1875" b="0">
                <a:solidFill>
                  <a:srgbClr val="253B34"/>
                </a:solidFill>
                <a:latin typeface="Liberation Sans"/>
                <a:ea typeface="Liberation Sans"/>
                <a:cs typeface="Liberation Sans"/>
              </a:defRPr>
            </a:lvl2pPr>
            <a:lvl3pPr algn="l">
              <a:defRPr sz="1875" b="0">
                <a:solidFill>
                  <a:srgbClr val="253B34"/>
                </a:solidFill>
                <a:latin typeface="Liberation Sans"/>
                <a:ea typeface="Liberation Sans"/>
                <a:cs typeface="Liberation Sans"/>
              </a:defRPr>
            </a:lvl3pPr>
            <a:lvl4pPr algn="l">
              <a:defRPr sz="1875" b="0">
                <a:solidFill>
                  <a:srgbClr val="253B34"/>
                </a:solidFill>
                <a:latin typeface="Liberation Sans"/>
                <a:ea typeface="Liberation Sans"/>
                <a:cs typeface="Liberation Sans"/>
              </a:defRPr>
            </a:lvl4pPr>
            <a:lvl5pPr algn="l">
              <a:defRPr sz="1875" b="0">
                <a:solidFill>
                  <a:srgbClr val="253B34"/>
                </a:solidFill>
                <a:latin typeface="Liberation Sans"/>
                <a:ea typeface="Liberation Sans"/>
                <a:cs typeface="Liberation Sans"/>
              </a:defRPr>
            </a:lvl5pPr>
            <a:lvl6pPr algn="l">
              <a:defRPr sz="1875" b="0">
                <a:solidFill>
                  <a:srgbClr val="253B34"/>
                </a:solidFill>
                <a:latin typeface="Liberation Sans"/>
                <a:ea typeface="Liberation Sans"/>
                <a:cs typeface="Liberation Sans"/>
              </a:defRPr>
            </a:lvl6pPr>
            <a:lvl7pPr algn="l">
              <a:defRPr sz="1875" b="0">
                <a:solidFill>
                  <a:srgbClr val="253B34"/>
                </a:solidFill>
                <a:latin typeface="Liberation Sans"/>
                <a:ea typeface="Liberation Sans"/>
                <a:cs typeface="Liberation Sans"/>
              </a:defRPr>
            </a:lvl7pPr>
            <a:lvl8pPr algn="l">
              <a:defRPr sz="1875" b="0">
                <a:solidFill>
                  <a:srgbClr val="253B34"/>
                </a:solidFill>
                <a:latin typeface="Liberation Sans"/>
                <a:ea typeface="Liberation Sans"/>
                <a:cs typeface="Liberation Sans"/>
              </a:defRPr>
            </a:lvl8pPr>
            <a:lvl9pPr algn="l">
              <a:defRPr sz="1875" b="0">
                <a:solidFill>
                  <a:srgbClr val="253B34"/>
                </a:solidFill>
                <a:latin typeface="Liberation Sans"/>
                <a:ea typeface="Liberation Sans"/>
                <a:cs typeface="Liberation Sans"/>
              </a:defRPr>
            </a:lvl9pPr>
          </a:lstStyle>
          <a:p xmlns:a="http://schemas.openxmlformats.org/drawingml/2006/main">
            <a:pPr algn="l">
              <a:defRPr sz="1875" b="0">
                <a:solidFill>
                  <a:srgbClr val="253B34"/>
                </a:solidFill>
                <a:latin typeface="Liberation Sans"/>
                <a:ea typeface="Liberation Sans"/>
                <a:cs typeface="Liberation Sans"/>
              </a:defRPr>
            </a:pPr>
            <a:r>
              <a:rPr sz="1875" b="0">
                <a:solidFill>
                  <a:srgbClr val="253B34"/>
                </a:solidFill>
                <a:latin typeface="Liberation Sans"/>
                <a:ea typeface="Liberation Sans"/>
                <a:cs typeface="Liberation Sans"/>
              </a:rPr>
              <a:t>Persist context beyond one model input</a:t>
            </a:r>
          </a:p>
        </p:txBody>
      </p:sp>
      <p:sp>
        <p:nvSpPr>
          <p:cNvPr id="12" name="MCP specification (2025) [5]">
            <a:extLst xmlns:a="http://schemas.openxmlformats.org/drawingml/2006/main">
              <a:ext uri="{FF2B5EF4-FFF2-40B4-BE49-F238E27FC236}">
                <a16:creationId xmlns:a16="http://schemas.microsoft.com/office/drawing/2014/main" id="{ACF7107D-86C0-4E26-9BB4-DDD72A79080E}"/>
              </a:ext>
            </a:extLst>
          </p:cNvPr>
          <p:cNvSpPr>
            <a:spLocks xmlns:a="http://schemas.openxmlformats.org/drawingml/2006/main" noGrp="1"/>
          </p:cNvSpPr>
          <p:nvPr/>
        </p:nvSpPr>
        <p:spPr>
          <a:xfrm xmlns:a="http://schemas.openxmlformats.org/drawingml/2006/main">
            <a:off x="609600" y="4600575"/>
            <a:ext cx="581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53B34"/>
                </a:solidFill>
                <a:latin typeface="Liberation Sans"/>
                <a:ea typeface="Liberation Sans"/>
                <a:cs typeface="Liberation Sans"/>
              </a:defRPr>
            </a:defPPr>
            <a:lvl1pPr algn="l">
              <a:defRPr sz="1875" b="1">
                <a:solidFill>
                  <a:srgbClr val="253B34"/>
                </a:solidFill>
                <a:latin typeface="Liberation Sans"/>
                <a:ea typeface="Liberation Sans"/>
                <a:cs typeface="Liberation Sans"/>
              </a:defRPr>
            </a:lvl1pPr>
            <a:lvl2pPr algn="l">
              <a:defRPr sz="1875" b="1">
                <a:solidFill>
                  <a:srgbClr val="253B34"/>
                </a:solidFill>
                <a:latin typeface="Liberation Sans"/>
                <a:ea typeface="Liberation Sans"/>
                <a:cs typeface="Liberation Sans"/>
              </a:defRPr>
            </a:lvl2pPr>
            <a:lvl3pPr algn="l">
              <a:defRPr sz="1875" b="1">
                <a:solidFill>
                  <a:srgbClr val="253B34"/>
                </a:solidFill>
                <a:latin typeface="Liberation Sans"/>
                <a:ea typeface="Liberation Sans"/>
                <a:cs typeface="Liberation Sans"/>
              </a:defRPr>
            </a:lvl3pPr>
            <a:lvl4pPr algn="l">
              <a:defRPr sz="1875" b="1">
                <a:solidFill>
                  <a:srgbClr val="253B34"/>
                </a:solidFill>
                <a:latin typeface="Liberation Sans"/>
                <a:ea typeface="Liberation Sans"/>
                <a:cs typeface="Liberation Sans"/>
              </a:defRPr>
            </a:lvl4pPr>
            <a:lvl5pPr algn="l">
              <a:defRPr sz="1875" b="1">
                <a:solidFill>
                  <a:srgbClr val="253B34"/>
                </a:solidFill>
                <a:latin typeface="Liberation Sans"/>
                <a:ea typeface="Liberation Sans"/>
                <a:cs typeface="Liberation Sans"/>
              </a:defRPr>
            </a:lvl5pPr>
            <a:lvl6pPr algn="l">
              <a:defRPr sz="1875" b="1">
                <a:solidFill>
                  <a:srgbClr val="253B34"/>
                </a:solidFill>
                <a:latin typeface="Liberation Sans"/>
                <a:ea typeface="Liberation Sans"/>
                <a:cs typeface="Liberation Sans"/>
              </a:defRPr>
            </a:lvl6pPr>
            <a:lvl7pPr algn="l">
              <a:defRPr sz="1875" b="1">
                <a:solidFill>
                  <a:srgbClr val="253B34"/>
                </a:solidFill>
                <a:latin typeface="Liberation Sans"/>
                <a:ea typeface="Liberation Sans"/>
                <a:cs typeface="Liberation Sans"/>
              </a:defRPr>
            </a:lvl7pPr>
            <a:lvl8pPr algn="l">
              <a:defRPr sz="1875" b="1">
                <a:solidFill>
                  <a:srgbClr val="253B34"/>
                </a:solidFill>
                <a:latin typeface="Liberation Sans"/>
                <a:ea typeface="Liberation Sans"/>
                <a:cs typeface="Liberation Sans"/>
              </a:defRPr>
            </a:lvl8pPr>
            <a:lvl9pPr algn="l">
              <a:defRPr sz="1875" b="1">
                <a:solidFill>
                  <a:srgbClr val="253B34"/>
                </a:solidFill>
                <a:latin typeface="Liberation Sans"/>
                <a:ea typeface="Liberation Sans"/>
                <a:cs typeface="Liberation Sans"/>
              </a:defRPr>
            </a:lvl9pPr>
          </a:lstStyle>
          <a:p xmlns:a="http://schemas.openxmlformats.org/drawingml/2006/main">
            <a:pPr algn="l">
              <a:defRPr sz="1875" b="1">
                <a:solidFill>
                  <a:srgbClr val="253B34"/>
                </a:solidFill>
                <a:latin typeface="Liberation Sans"/>
                <a:ea typeface="Liberation Sans"/>
                <a:cs typeface="Liberation Sans"/>
              </a:defRPr>
            </a:pPr>
            <a:r>
              <a:rPr sz="1875" b="1">
                <a:solidFill>
                  <a:srgbClr val="253B34"/>
                </a:solidFill>
                <a:latin typeface="Liberation Sans"/>
                <a:ea typeface="Liberation Sans"/>
                <a:cs typeface="Liberation Sans"/>
              </a:rPr>
              <a:t>MCP specification (2025) [5]</a:t>
            </a:r>
          </a:p>
        </p:txBody>
      </p:sp>
      <p:sp>
        <p:nvSpPr>
          <p:cNvPr id="13" name="Expose tools through a standard protocol">
            <a:extLst xmlns:a="http://schemas.openxmlformats.org/drawingml/2006/main">
              <a:ext uri="{FF2B5EF4-FFF2-40B4-BE49-F238E27FC236}">
                <a16:creationId xmlns:a16="http://schemas.microsoft.com/office/drawing/2014/main" id="{F2EE0165-21D7-49F3-BE69-A6DAE0AD6BC1}"/>
              </a:ext>
            </a:extLst>
          </p:cNvPr>
          <p:cNvSpPr>
            <a:spLocks xmlns:a="http://schemas.openxmlformats.org/drawingml/2006/main" noGrp="1"/>
          </p:cNvSpPr>
          <p:nvPr/>
        </p:nvSpPr>
        <p:spPr>
          <a:xfrm xmlns:a="http://schemas.openxmlformats.org/drawingml/2006/main">
            <a:off x="6667500" y="4600575"/>
            <a:ext cx="4762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253B34"/>
                </a:solidFill>
                <a:latin typeface="Liberation Sans"/>
                <a:ea typeface="Liberation Sans"/>
                <a:cs typeface="Liberation Sans"/>
              </a:defRPr>
            </a:defPPr>
            <a:lvl1pPr algn="l">
              <a:defRPr sz="1875" b="0">
                <a:solidFill>
                  <a:srgbClr val="253B34"/>
                </a:solidFill>
                <a:latin typeface="Liberation Sans"/>
                <a:ea typeface="Liberation Sans"/>
                <a:cs typeface="Liberation Sans"/>
              </a:defRPr>
            </a:lvl1pPr>
            <a:lvl2pPr algn="l">
              <a:defRPr sz="1875" b="0">
                <a:solidFill>
                  <a:srgbClr val="253B34"/>
                </a:solidFill>
                <a:latin typeface="Liberation Sans"/>
                <a:ea typeface="Liberation Sans"/>
                <a:cs typeface="Liberation Sans"/>
              </a:defRPr>
            </a:lvl2pPr>
            <a:lvl3pPr algn="l">
              <a:defRPr sz="1875" b="0">
                <a:solidFill>
                  <a:srgbClr val="253B34"/>
                </a:solidFill>
                <a:latin typeface="Liberation Sans"/>
                <a:ea typeface="Liberation Sans"/>
                <a:cs typeface="Liberation Sans"/>
              </a:defRPr>
            </a:lvl3pPr>
            <a:lvl4pPr algn="l">
              <a:defRPr sz="1875" b="0">
                <a:solidFill>
                  <a:srgbClr val="253B34"/>
                </a:solidFill>
                <a:latin typeface="Liberation Sans"/>
                <a:ea typeface="Liberation Sans"/>
                <a:cs typeface="Liberation Sans"/>
              </a:defRPr>
            </a:lvl4pPr>
            <a:lvl5pPr algn="l">
              <a:defRPr sz="1875" b="0">
                <a:solidFill>
                  <a:srgbClr val="253B34"/>
                </a:solidFill>
                <a:latin typeface="Liberation Sans"/>
                <a:ea typeface="Liberation Sans"/>
                <a:cs typeface="Liberation Sans"/>
              </a:defRPr>
            </a:lvl5pPr>
            <a:lvl6pPr algn="l">
              <a:defRPr sz="1875" b="0">
                <a:solidFill>
                  <a:srgbClr val="253B34"/>
                </a:solidFill>
                <a:latin typeface="Liberation Sans"/>
                <a:ea typeface="Liberation Sans"/>
                <a:cs typeface="Liberation Sans"/>
              </a:defRPr>
            </a:lvl6pPr>
            <a:lvl7pPr algn="l">
              <a:defRPr sz="1875" b="0">
                <a:solidFill>
                  <a:srgbClr val="253B34"/>
                </a:solidFill>
                <a:latin typeface="Liberation Sans"/>
                <a:ea typeface="Liberation Sans"/>
                <a:cs typeface="Liberation Sans"/>
              </a:defRPr>
            </a:lvl7pPr>
            <a:lvl8pPr algn="l">
              <a:defRPr sz="1875" b="0">
                <a:solidFill>
                  <a:srgbClr val="253B34"/>
                </a:solidFill>
                <a:latin typeface="Liberation Sans"/>
                <a:ea typeface="Liberation Sans"/>
                <a:cs typeface="Liberation Sans"/>
              </a:defRPr>
            </a:lvl8pPr>
            <a:lvl9pPr algn="l">
              <a:defRPr sz="1875" b="0">
                <a:solidFill>
                  <a:srgbClr val="253B34"/>
                </a:solidFill>
                <a:latin typeface="Liberation Sans"/>
                <a:ea typeface="Liberation Sans"/>
                <a:cs typeface="Liberation Sans"/>
              </a:defRPr>
            </a:lvl9pPr>
          </a:lstStyle>
          <a:p xmlns:a="http://schemas.openxmlformats.org/drawingml/2006/main">
            <a:pPr algn="l">
              <a:defRPr sz="1875" b="0">
                <a:solidFill>
                  <a:srgbClr val="253B34"/>
                </a:solidFill>
                <a:latin typeface="Liberation Sans"/>
                <a:ea typeface="Liberation Sans"/>
                <a:cs typeface="Liberation Sans"/>
              </a:defRPr>
            </a:pPr>
            <a:r>
              <a:rPr sz="1875" b="0">
                <a:solidFill>
                  <a:srgbClr val="253B34"/>
                </a:solidFill>
                <a:latin typeface="Liberation Sans"/>
                <a:ea typeface="Liberation Sans"/>
                <a:cs typeface="Liberation Sans"/>
              </a:rPr>
              <a:t>Expose tools through a standard protocol</a:t>
            </a:r>
          </a:p>
        </p:txBody>
      </p:sp>
      <p:sp>
        <p:nvSpPr>
          <p:cNvPr id="14" name="Contribution: a working local integration wit">
            <a:extLst xmlns:a="http://schemas.openxmlformats.org/drawingml/2006/main">
              <a:ext uri="{FF2B5EF4-FFF2-40B4-BE49-F238E27FC236}">
                <a16:creationId xmlns:a16="http://schemas.microsoft.com/office/drawing/2014/main" id="{F3E626C4-14C1-401B-A7C9-1CA434BF7D58}"/>
              </a:ext>
            </a:extLst>
          </p:cNvPr>
          <p:cNvSpPr>
            <a:spLocks xmlns:a="http://schemas.openxmlformats.org/drawingml/2006/main" noGrp="1"/>
          </p:cNvSpPr>
          <p:nvPr/>
        </p:nvSpPr>
        <p:spPr>
          <a:xfrm xmlns:a="http://schemas.openxmlformats.org/drawingml/2006/main">
            <a:off x="609600" y="56388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277B63"/>
                </a:solidFill>
                <a:latin typeface="Liberation Sans"/>
                <a:ea typeface="Liberation Sans"/>
                <a:cs typeface="Liberation Sans"/>
              </a:defRPr>
            </a:defPPr>
            <a:lvl1pPr algn="l">
              <a:defRPr sz="2100" b="1">
                <a:solidFill>
                  <a:srgbClr val="277B63"/>
                </a:solidFill>
                <a:latin typeface="Liberation Sans"/>
                <a:ea typeface="Liberation Sans"/>
                <a:cs typeface="Liberation Sans"/>
              </a:defRPr>
            </a:lvl1pPr>
            <a:lvl2pPr algn="l">
              <a:defRPr sz="2100" b="1">
                <a:solidFill>
                  <a:srgbClr val="277B63"/>
                </a:solidFill>
                <a:latin typeface="Liberation Sans"/>
                <a:ea typeface="Liberation Sans"/>
                <a:cs typeface="Liberation Sans"/>
              </a:defRPr>
            </a:lvl2pPr>
            <a:lvl3pPr algn="l">
              <a:defRPr sz="2100" b="1">
                <a:solidFill>
                  <a:srgbClr val="277B63"/>
                </a:solidFill>
                <a:latin typeface="Liberation Sans"/>
                <a:ea typeface="Liberation Sans"/>
                <a:cs typeface="Liberation Sans"/>
              </a:defRPr>
            </a:lvl3pPr>
            <a:lvl4pPr algn="l">
              <a:defRPr sz="2100" b="1">
                <a:solidFill>
                  <a:srgbClr val="277B63"/>
                </a:solidFill>
                <a:latin typeface="Liberation Sans"/>
                <a:ea typeface="Liberation Sans"/>
                <a:cs typeface="Liberation Sans"/>
              </a:defRPr>
            </a:lvl4pPr>
            <a:lvl5pPr algn="l">
              <a:defRPr sz="2100" b="1">
                <a:solidFill>
                  <a:srgbClr val="277B63"/>
                </a:solidFill>
                <a:latin typeface="Liberation Sans"/>
                <a:ea typeface="Liberation Sans"/>
                <a:cs typeface="Liberation Sans"/>
              </a:defRPr>
            </a:lvl5pPr>
            <a:lvl6pPr algn="l">
              <a:defRPr sz="2100" b="1">
                <a:solidFill>
                  <a:srgbClr val="277B63"/>
                </a:solidFill>
                <a:latin typeface="Liberation Sans"/>
                <a:ea typeface="Liberation Sans"/>
                <a:cs typeface="Liberation Sans"/>
              </a:defRPr>
            </a:lvl6pPr>
            <a:lvl7pPr algn="l">
              <a:defRPr sz="2100" b="1">
                <a:solidFill>
                  <a:srgbClr val="277B63"/>
                </a:solidFill>
                <a:latin typeface="Liberation Sans"/>
                <a:ea typeface="Liberation Sans"/>
                <a:cs typeface="Liberation Sans"/>
              </a:defRPr>
            </a:lvl7pPr>
            <a:lvl8pPr algn="l">
              <a:defRPr sz="2100" b="1">
                <a:solidFill>
                  <a:srgbClr val="277B63"/>
                </a:solidFill>
                <a:latin typeface="Liberation Sans"/>
                <a:ea typeface="Liberation Sans"/>
                <a:cs typeface="Liberation Sans"/>
              </a:defRPr>
            </a:lvl8pPr>
            <a:lvl9pPr algn="l">
              <a:defRPr sz="2100" b="1">
                <a:solidFill>
                  <a:srgbClr val="277B63"/>
                </a:solidFill>
                <a:latin typeface="Liberation Sans"/>
                <a:ea typeface="Liberation Sans"/>
                <a:cs typeface="Liberation Sans"/>
              </a:defRPr>
            </a:lvl9pPr>
          </a:lstStyle>
          <a:p xmlns:a="http://schemas.openxmlformats.org/drawingml/2006/main">
            <a:pPr algn="l">
              <a:defRPr sz="2100" b="1">
                <a:solidFill>
                  <a:srgbClr val="277B63"/>
                </a:solidFill>
                <a:latin typeface="Liberation Sans"/>
                <a:ea typeface="Liberation Sans"/>
                <a:cs typeface="Liberation Sans"/>
              </a:defRPr>
            </a:pPr>
            <a:r>
              <a:rPr sz="2100" b="1">
                <a:solidFill>
                  <a:srgbClr val="277B63"/>
                </a:solidFill>
                <a:latin typeface="Liberation Sans"/>
                <a:ea typeface="Liberation Sans"/>
                <a:cs typeface="Liberation Sans"/>
              </a:rPr>
              <a:t>Contribution: a working local integration with reproducible evidence</a:t>
            </a:r>
          </a:p>
        </p:txBody>
      </p:sp>
    </p:spTree>
    <p:extLst>
      <p:ext uri="{BB962C8B-B14F-4D97-AF65-F5344CB8AC3E}">
        <p14:creationId xmlns:p14="http://schemas.microsoft.com/office/powerpoint/2010/main" val="886050441"/>
      </p:ext>
    </p:extLst>
  </p:cSld>
</p:sld>
</file>

<file path=ppt/slides/slide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33CFB67-CB60-4FB4-93D6-FA88373B2FB3}"/>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73D33"/>
                </a:solidFill>
                <a:latin typeface="Liberation Sans"/>
                <a:ea typeface="Liberation Sans"/>
                <a:cs typeface="Liberation Sans"/>
              </a:defRPr>
            </a:defPPr>
            <a:lvl1pPr algn="l">
              <a:defRPr sz="3300" b="1">
                <a:solidFill>
                  <a:srgbClr val="173D33"/>
                </a:solidFill>
                <a:latin typeface="Liberation Sans"/>
                <a:ea typeface="Liberation Sans"/>
                <a:cs typeface="Liberation Sans"/>
              </a:defRPr>
            </a:lvl1pPr>
            <a:lvl2pPr algn="l">
              <a:defRPr sz="3300" b="1">
                <a:solidFill>
                  <a:srgbClr val="173D33"/>
                </a:solidFill>
                <a:latin typeface="Liberation Sans"/>
                <a:ea typeface="Liberation Sans"/>
                <a:cs typeface="Liberation Sans"/>
              </a:defRPr>
            </a:lvl2pPr>
            <a:lvl3pPr algn="l">
              <a:defRPr sz="3300" b="1">
                <a:solidFill>
                  <a:srgbClr val="173D33"/>
                </a:solidFill>
                <a:latin typeface="Liberation Sans"/>
                <a:ea typeface="Liberation Sans"/>
                <a:cs typeface="Liberation Sans"/>
              </a:defRPr>
            </a:lvl3pPr>
            <a:lvl4pPr algn="l">
              <a:defRPr sz="3300" b="1">
                <a:solidFill>
                  <a:srgbClr val="173D33"/>
                </a:solidFill>
                <a:latin typeface="Liberation Sans"/>
                <a:ea typeface="Liberation Sans"/>
                <a:cs typeface="Liberation Sans"/>
              </a:defRPr>
            </a:lvl4pPr>
            <a:lvl5pPr algn="l">
              <a:defRPr sz="3300" b="1">
                <a:solidFill>
                  <a:srgbClr val="173D33"/>
                </a:solidFill>
                <a:latin typeface="Liberation Sans"/>
                <a:ea typeface="Liberation Sans"/>
                <a:cs typeface="Liberation Sans"/>
              </a:defRPr>
            </a:lvl5pPr>
            <a:lvl6pPr algn="l">
              <a:defRPr sz="3300" b="1">
                <a:solidFill>
                  <a:srgbClr val="173D33"/>
                </a:solidFill>
                <a:latin typeface="Liberation Sans"/>
                <a:ea typeface="Liberation Sans"/>
                <a:cs typeface="Liberation Sans"/>
              </a:defRPr>
            </a:lvl6pPr>
            <a:lvl7pPr algn="l">
              <a:defRPr sz="3300" b="1">
                <a:solidFill>
                  <a:srgbClr val="173D33"/>
                </a:solidFill>
                <a:latin typeface="Liberation Sans"/>
                <a:ea typeface="Liberation Sans"/>
                <a:cs typeface="Liberation Sans"/>
              </a:defRPr>
            </a:lvl7pPr>
            <a:lvl8pPr algn="l">
              <a:defRPr sz="3300" b="1">
                <a:solidFill>
                  <a:srgbClr val="173D33"/>
                </a:solidFill>
                <a:latin typeface="Liberation Sans"/>
                <a:ea typeface="Liberation Sans"/>
                <a:cs typeface="Liberation Sans"/>
              </a:defRPr>
            </a:lvl8pPr>
            <a:lvl9pPr algn="l">
              <a:defRPr sz="3300" b="1">
                <a:solidFill>
                  <a:srgbClr val="173D33"/>
                </a:solidFill>
                <a:latin typeface="Liberation Sans"/>
                <a:ea typeface="Liberation Sans"/>
                <a:cs typeface="Liberation Sans"/>
              </a:defRPr>
            </a:lvl9pPr>
          </a:lstStyle>
          <a:p xmlns:a="http://schemas.openxmlformats.org/drawingml/2006/main">
            <a:pPr algn="l">
              <a:defRPr sz="3300" b="1">
                <a:solidFill>
                  <a:srgbClr val="173D33"/>
                </a:solidFill>
                <a:latin typeface="Liberation Sans"/>
                <a:ea typeface="Liberation Sans"/>
                <a:cs typeface="Liberation Sans"/>
              </a:defRPr>
            </a:pPr>
            <a:r>
              <a:rPr sz="3300" b="1">
                <a:solidFill>
                  <a:srgbClr val="173D33"/>
                </a:solidFill>
                <a:latin typeface="Liberation Sans"/>
                <a:ea typeface="Liberation Sans"/>
                <a:cs typeface="Liberation Sans"/>
              </a:rPr>
              <a:t>System architecture</a:t>
            </a:r>
          </a:p>
        </p:txBody>
      </p:sp>
      <p:sp>
        <p:nvSpPr>
          <p:cNvPr id="3" name="04">
            <a:extLst xmlns:a="http://schemas.openxmlformats.org/drawingml/2006/main">
              <a:ext uri="{FF2B5EF4-FFF2-40B4-BE49-F238E27FC236}">
                <a16:creationId xmlns:a16="http://schemas.microsoft.com/office/drawing/2014/main" id="{2CDBF406-5A51-4475-9672-AD44E1AB7C08}"/>
              </a:ext>
            </a:extLst>
          </p:cNvPr>
          <p:cNvSpPr>
            <a:spLocks xmlns:a="http://schemas.openxmlformats.org/drawingml/2006/main" noGrp="1"/>
          </p:cNvSpPr>
          <p:nvPr/>
        </p:nvSpPr>
        <p:spPr>
          <a:xfrm xmlns:a="http://schemas.openxmlformats.org/drawingml/2006/main">
            <a:off x="1106805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350" b="0">
                <a:solidFill>
                  <a:srgbClr val="708177"/>
                </a:solidFill>
                <a:latin typeface="Liberation Sans"/>
                <a:ea typeface="Liberation Sans"/>
                <a:cs typeface="Liberation Sans"/>
              </a:defRPr>
            </a:defPPr>
            <a:lvl1pPr algn="r">
              <a:defRPr sz="1350" b="0">
                <a:solidFill>
                  <a:srgbClr val="708177"/>
                </a:solidFill>
                <a:latin typeface="Liberation Sans"/>
                <a:ea typeface="Liberation Sans"/>
                <a:cs typeface="Liberation Sans"/>
              </a:defRPr>
            </a:lvl1pPr>
            <a:lvl2pPr algn="r">
              <a:defRPr sz="1350" b="0">
                <a:solidFill>
                  <a:srgbClr val="708177"/>
                </a:solidFill>
                <a:latin typeface="Liberation Sans"/>
                <a:ea typeface="Liberation Sans"/>
                <a:cs typeface="Liberation Sans"/>
              </a:defRPr>
            </a:lvl2pPr>
            <a:lvl3pPr algn="r">
              <a:defRPr sz="1350" b="0">
                <a:solidFill>
                  <a:srgbClr val="708177"/>
                </a:solidFill>
                <a:latin typeface="Liberation Sans"/>
                <a:ea typeface="Liberation Sans"/>
                <a:cs typeface="Liberation Sans"/>
              </a:defRPr>
            </a:lvl3pPr>
            <a:lvl4pPr algn="r">
              <a:defRPr sz="1350" b="0">
                <a:solidFill>
                  <a:srgbClr val="708177"/>
                </a:solidFill>
                <a:latin typeface="Liberation Sans"/>
                <a:ea typeface="Liberation Sans"/>
                <a:cs typeface="Liberation Sans"/>
              </a:defRPr>
            </a:lvl4pPr>
            <a:lvl5pPr algn="r">
              <a:defRPr sz="1350" b="0">
                <a:solidFill>
                  <a:srgbClr val="708177"/>
                </a:solidFill>
                <a:latin typeface="Liberation Sans"/>
                <a:ea typeface="Liberation Sans"/>
                <a:cs typeface="Liberation Sans"/>
              </a:defRPr>
            </a:lvl5pPr>
            <a:lvl6pPr algn="r">
              <a:defRPr sz="1350" b="0">
                <a:solidFill>
                  <a:srgbClr val="708177"/>
                </a:solidFill>
                <a:latin typeface="Liberation Sans"/>
                <a:ea typeface="Liberation Sans"/>
                <a:cs typeface="Liberation Sans"/>
              </a:defRPr>
            </a:lvl6pPr>
            <a:lvl7pPr algn="r">
              <a:defRPr sz="1350" b="0">
                <a:solidFill>
                  <a:srgbClr val="708177"/>
                </a:solidFill>
                <a:latin typeface="Liberation Sans"/>
                <a:ea typeface="Liberation Sans"/>
                <a:cs typeface="Liberation Sans"/>
              </a:defRPr>
            </a:lvl7pPr>
            <a:lvl8pPr algn="r">
              <a:defRPr sz="1350" b="0">
                <a:solidFill>
                  <a:srgbClr val="708177"/>
                </a:solidFill>
                <a:latin typeface="Liberation Sans"/>
                <a:ea typeface="Liberation Sans"/>
                <a:cs typeface="Liberation Sans"/>
              </a:defRPr>
            </a:lvl8pPr>
            <a:lvl9pPr algn="r">
              <a:defRPr sz="1350" b="0">
                <a:solidFill>
                  <a:srgbClr val="708177"/>
                </a:solidFill>
                <a:latin typeface="Liberation Sans"/>
                <a:ea typeface="Liberation Sans"/>
                <a:cs typeface="Liberation Sans"/>
              </a:defRPr>
            </a:lvl9pPr>
          </a:lstStyle>
          <a:p xmlns:a="http://schemas.openxmlformats.org/drawingml/2006/main">
            <a:pPr algn="r">
              <a:defRPr sz="1350" b="0">
                <a:solidFill>
                  <a:srgbClr val="708177"/>
                </a:solidFill>
                <a:latin typeface="Liberation Sans"/>
                <a:ea typeface="Liberation Sans"/>
                <a:cs typeface="Liberation Sans"/>
              </a:defRPr>
            </a:pPr>
            <a:r>
              <a:rPr sz="1350" b="0">
                <a:solidFill>
                  <a:srgbClr val="708177"/>
                </a:solidFill>
                <a:latin typeface="Liberation Sans"/>
                <a:ea typeface="Liberation Sans"/>
                <a:cs typeface="Liberation Sans"/>
              </a:rPr>
              <a:t>04</a:t>
            </a:r>
          </a:p>
        </p:txBody>
      </p:sp>
      <p:pic>
        <p:nvPicPr>
          <p:cNvPr id="4" name="">
            <a:extLst xmlns:a="http://schemas.openxmlformats.org/drawingml/2006/main">
              <a:ext uri="{FF2B5EF4-FFF2-40B4-BE49-F238E27FC236}">
                <a16:creationId xmlns:a16="http://schemas.microsoft.com/office/drawing/2014/main" id="{8114A50B-3CF6-4BD5-8031-4127A93E00FF}"/>
              </a:ext>
            </a:extLst>
          </p:cNvPr>
          <p:cNvPicPr>
            <a:picLocks xmlns:a="http://schemas.openxmlformats.org/drawingml/2006/main" noChangeAspect="1"/>
          </p:cNvPicPr>
          <p:nvPr/>
        </p:nvPicPr>
        <p:blipFill>
          <a:blip xmlns:r="http://schemas.openxmlformats.org/officeDocument/2006/relationships" xmlns:a="http://schemas.openxmlformats.org/drawingml/2006/main" r:embed="R1d5b2ef688cd49f6"/>
          <a:stretch xmlns:a="http://schemas.openxmlformats.org/drawingml/2006/main"/>
        </p:blipFill>
        <p:spPr>
          <a:xfrm xmlns:a="http://schemas.openxmlformats.org/drawingml/2006/main">
            <a:off x="650421" y="1200150"/>
            <a:ext cx="7538357" cy="5276850"/>
          </a:xfrm>
          <a:prstGeom xmlns:a="http://schemas.openxmlformats.org/drawingml/2006/main" prst="rect">
            <a:avLst/>
          </a:prstGeom>
        </p:spPr>
      </p:pic>
      <p:sp>
        <p:nvSpPr>
          <p:cNvPr id="5" name="Approved folders">
            <a:extLst xmlns:a="http://schemas.openxmlformats.org/drawingml/2006/main">
              <a:ext uri="{FF2B5EF4-FFF2-40B4-BE49-F238E27FC236}">
                <a16:creationId xmlns:a16="http://schemas.microsoft.com/office/drawing/2014/main" id="{54A24EC4-CFF3-4383-8E4E-6DA4363733B7}"/>
              </a:ext>
            </a:extLst>
          </p:cNvPr>
          <p:cNvSpPr>
            <a:spLocks xmlns:a="http://schemas.openxmlformats.org/drawingml/2006/main" noGrp="1"/>
          </p:cNvSpPr>
          <p:nvPr/>
        </p:nvSpPr>
        <p:spPr>
          <a:xfrm xmlns:a="http://schemas.openxmlformats.org/drawingml/2006/main">
            <a:off x="8629650" y="1552575"/>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253B34"/>
                </a:solidFill>
                <a:latin typeface="Liberation Sans"/>
                <a:ea typeface="Liberation Sans"/>
                <a:cs typeface="Liberation Sans"/>
              </a:defRPr>
            </a:defPPr>
            <a:lvl1pPr algn="l">
              <a:defRPr sz="2100" b="1">
                <a:solidFill>
                  <a:srgbClr val="253B34"/>
                </a:solidFill>
                <a:latin typeface="Liberation Sans"/>
                <a:ea typeface="Liberation Sans"/>
                <a:cs typeface="Liberation Sans"/>
              </a:defRPr>
            </a:lvl1pPr>
            <a:lvl2pPr algn="l">
              <a:defRPr sz="2100" b="1">
                <a:solidFill>
                  <a:srgbClr val="253B34"/>
                </a:solidFill>
                <a:latin typeface="Liberation Sans"/>
                <a:ea typeface="Liberation Sans"/>
                <a:cs typeface="Liberation Sans"/>
              </a:defRPr>
            </a:lvl2pPr>
            <a:lvl3pPr algn="l">
              <a:defRPr sz="2100" b="1">
                <a:solidFill>
                  <a:srgbClr val="253B34"/>
                </a:solidFill>
                <a:latin typeface="Liberation Sans"/>
                <a:ea typeface="Liberation Sans"/>
                <a:cs typeface="Liberation Sans"/>
              </a:defRPr>
            </a:lvl3pPr>
            <a:lvl4pPr algn="l">
              <a:defRPr sz="2100" b="1">
                <a:solidFill>
                  <a:srgbClr val="253B34"/>
                </a:solidFill>
                <a:latin typeface="Liberation Sans"/>
                <a:ea typeface="Liberation Sans"/>
                <a:cs typeface="Liberation Sans"/>
              </a:defRPr>
            </a:lvl4pPr>
            <a:lvl5pPr algn="l">
              <a:defRPr sz="2100" b="1">
                <a:solidFill>
                  <a:srgbClr val="253B34"/>
                </a:solidFill>
                <a:latin typeface="Liberation Sans"/>
                <a:ea typeface="Liberation Sans"/>
                <a:cs typeface="Liberation Sans"/>
              </a:defRPr>
            </a:lvl5pPr>
            <a:lvl6pPr algn="l">
              <a:defRPr sz="2100" b="1">
                <a:solidFill>
                  <a:srgbClr val="253B34"/>
                </a:solidFill>
                <a:latin typeface="Liberation Sans"/>
                <a:ea typeface="Liberation Sans"/>
                <a:cs typeface="Liberation Sans"/>
              </a:defRPr>
            </a:lvl6pPr>
            <a:lvl7pPr algn="l">
              <a:defRPr sz="2100" b="1">
                <a:solidFill>
                  <a:srgbClr val="253B34"/>
                </a:solidFill>
                <a:latin typeface="Liberation Sans"/>
                <a:ea typeface="Liberation Sans"/>
                <a:cs typeface="Liberation Sans"/>
              </a:defRPr>
            </a:lvl7pPr>
            <a:lvl8pPr algn="l">
              <a:defRPr sz="2100" b="1">
                <a:solidFill>
                  <a:srgbClr val="253B34"/>
                </a:solidFill>
                <a:latin typeface="Liberation Sans"/>
                <a:ea typeface="Liberation Sans"/>
                <a:cs typeface="Liberation Sans"/>
              </a:defRPr>
            </a:lvl8pPr>
            <a:lvl9pPr algn="l">
              <a:defRPr sz="2100" b="1">
                <a:solidFill>
                  <a:srgbClr val="253B34"/>
                </a:solidFill>
                <a:latin typeface="Liberation Sans"/>
                <a:ea typeface="Liberation Sans"/>
                <a:cs typeface="Liberation Sans"/>
              </a:defRPr>
            </a:lvl9pPr>
          </a:lstStyle>
          <a:p xmlns:a="http://schemas.openxmlformats.org/drawingml/2006/main">
            <a:pPr algn="l">
              <a:defRPr sz="2100" b="1">
                <a:solidFill>
                  <a:srgbClr val="253B34"/>
                </a:solidFill>
                <a:latin typeface="Liberation Sans"/>
                <a:ea typeface="Liberation Sans"/>
                <a:cs typeface="Liberation Sans"/>
              </a:defRPr>
            </a:pPr>
            <a:r>
              <a:rPr sz="2100" b="1">
                <a:solidFill>
                  <a:srgbClr val="253B34"/>
                </a:solidFill>
                <a:latin typeface="Liberation Sans"/>
                <a:ea typeface="Liberation Sans"/>
                <a:cs typeface="Liberation Sans"/>
              </a:rPr>
              <a:t>Approved folders</a:t>
            </a:r>
          </a:p>
        </p:txBody>
      </p:sp>
      <p:sp>
        <p:nvSpPr>
          <p:cNvPr id="6" name="Extracted text and chunks enter the local ind">
            <a:extLst xmlns:a="http://schemas.openxmlformats.org/drawingml/2006/main">
              <a:ext uri="{FF2B5EF4-FFF2-40B4-BE49-F238E27FC236}">
                <a16:creationId xmlns:a16="http://schemas.microsoft.com/office/drawing/2014/main" id="{275A28DD-C4D9-479E-A31E-4D4D695EB0FA}"/>
              </a:ext>
            </a:extLst>
          </p:cNvPr>
          <p:cNvSpPr>
            <a:spLocks xmlns:a="http://schemas.openxmlformats.org/drawingml/2006/main" noGrp="1"/>
          </p:cNvSpPr>
          <p:nvPr/>
        </p:nvSpPr>
        <p:spPr>
          <a:xfrm xmlns:a="http://schemas.openxmlformats.org/drawingml/2006/main">
            <a:off x="8629650" y="2028825"/>
            <a:ext cx="285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253B34"/>
                </a:solidFill>
                <a:latin typeface="Liberation Sans"/>
                <a:ea typeface="Liberation Sans"/>
                <a:cs typeface="Liberation Sans"/>
              </a:defRPr>
            </a:defPPr>
            <a:lvl1pPr algn="l">
              <a:defRPr sz="1875" b="0">
                <a:solidFill>
                  <a:srgbClr val="253B34"/>
                </a:solidFill>
                <a:latin typeface="Liberation Sans"/>
                <a:ea typeface="Liberation Sans"/>
                <a:cs typeface="Liberation Sans"/>
              </a:defRPr>
            </a:lvl1pPr>
            <a:lvl2pPr algn="l">
              <a:defRPr sz="1875" b="0">
                <a:solidFill>
                  <a:srgbClr val="253B34"/>
                </a:solidFill>
                <a:latin typeface="Liberation Sans"/>
                <a:ea typeface="Liberation Sans"/>
                <a:cs typeface="Liberation Sans"/>
              </a:defRPr>
            </a:lvl2pPr>
            <a:lvl3pPr algn="l">
              <a:defRPr sz="1875" b="0">
                <a:solidFill>
                  <a:srgbClr val="253B34"/>
                </a:solidFill>
                <a:latin typeface="Liberation Sans"/>
                <a:ea typeface="Liberation Sans"/>
                <a:cs typeface="Liberation Sans"/>
              </a:defRPr>
            </a:lvl3pPr>
            <a:lvl4pPr algn="l">
              <a:defRPr sz="1875" b="0">
                <a:solidFill>
                  <a:srgbClr val="253B34"/>
                </a:solidFill>
                <a:latin typeface="Liberation Sans"/>
                <a:ea typeface="Liberation Sans"/>
                <a:cs typeface="Liberation Sans"/>
              </a:defRPr>
            </a:lvl4pPr>
            <a:lvl5pPr algn="l">
              <a:defRPr sz="1875" b="0">
                <a:solidFill>
                  <a:srgbClr val="253B34"/>
                </a:solidFill>
                <a:latin typeface="Liberation Sans"/>
                <a:ea typeface="Liberation Sans"/>
                <a:cs typeface="Liberation Sans"/>
              </a:defRPr>
            </a:lvl5pPr>
            <a:lvl6pPr algn="l">
              <a:defRPr sz="1875" b="0">
                <a:solidFill>
                  <a:srgbClr val="253B34"/>
                </a:solidFill>
                <a:latin typeface="Liberation Sans"/>
                <a:ea typeface="Liberation Sans"/>
                <a:cs typeface="Liberation Sans"/>
              </a:defRPr>
            </a:lvl6pPr>
            <a:lvl7pPr algn="l">
              <a:defRPr sz="1875" b="0">
                <a:solidFill>
                  <a:srgbClr val="253B34"/>
                </a:solidFill>
                <a:latin typeface="Liberation Sans"/>
                <a:ea typeface="Liberation Sans"/>
                <a:cs typeface="Liberation Sans"/>
              </a:defRPr>
            </a:lvl7pPr>
            <a:lvl8pPr algn="l">
              <a:defRPr sz="1875" b="0">
                <a:solidFill>
                  <a:srgbClr val="253B34"/>
                </a:solidFill>
                <a:latin typeface="Liberation Sans"/>
                <a:ea typeface="Liberation Sans"/>
                <a:cs typeface="Liberation Sans"/>
              </a:defRPr>
            </a:lvl8pPr>
            <a:lvl9pPr algn="l">
              <a:defRPr sz="1875" b="0">
                <a:solidFill>
                  <a:srgbClr val="253B34"/>
                </a:solidFill>
                <a:latin typeface="Liberation Sans"/>
                <a:ea typeface="Liberation Sans"/>
                <a:cs typeface="Liberation Sans"/>
              </a:defRPr>
            </a:lvl9pPr>
          </a:lstStyle>
          <a:p xmlns:a="http://schemas.openxmlformats.org/drawingml/2006/main">
            <a:pPr algn="l">
              <a:defRPr sz="1875" b="0">
                <a:solidFill>
                  <a:srgbClr val="253B34"/>
                </a:solidFill>
                <a:latin typeface="Liberation Sans"/>
                <a:ea typeface="Liberation Sans"/>
                <a:cs typeface="Liberation Sans"/>
              </a:defRPr>
            </a:pPr>
            <a:r>
              <a:rPr sz="1875" b="0">
                <a:solidFill>
                  <a:srgbClr val="253B34"/>
                </a:solidFill>
                <a:latin typeface="Liberation Sans"/>
                <a:ea typeface="Liberation Sans"/>
                <a:cs typeface="Liberation Sans"/>
              </a:rPr>
              <a:t>Extracted text and chunks enter the local index.</a:t>
            </a:r>
          </a:p>
        </p:txBody>
      </p:sp>
      <p:sp>
        <p:nvSpPr>
          <p:cNvPr id="7" name="Local inference">
            <a:extLst xmlns:a="http://schemas.openxmlformats.org/drawingml/2006/main">
              <a:ext uri="{FF2B5EF4-FFF2-40B4-BE49-F238E27FC236}">
                <a16:creationId xmlns:a16="http://schemas.microsoft.com/office/drawing/2014/main" id="{47BEAF26-3ED5-4594-BF21-63F6AA145C40}"/>
              </a:ext>
            </a:extLst>
          </p:cNvPr>
          <p:cNvSpPr>
            <a:spLocks xmlns:a="http://schemas.openxmlformats.org/drawingml/2006/main" noGrp="1"/>
          </p:cNvSpPr>
          <p:nvPr/>
        </p:nvSpPr>
        <p:spPr>
          <a:xfrm xmlns:a="http://schemas.openxmlformats.org/drawingml/2006/main">
            <a:off x="8629650" y="3476625"/>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253B34"/>
                </a:solidFill>
                <a:latin typeface="Liberation Sans"/>
                <a:ea typeface="Liberation Sans"/>
                <a:cs typeface="Liberation Sans"/>
              </a:defRPr>
            </a:defPPr>
            <a:lvl1pPr algn="l">
              <a:defRPr sz="2100" b="1">
                <a:solidFill>
                  <a:srgbClr val="253B34"/>
                </a:solidFill>
                <a:latin typeface="Liberation Sans"/>
                <a:ea typeface="Liberation Sans"/>
                <a:cs typeface="Liberation Sans"/>
              </a:defRPr>
            </a:lvl1pPr>
            <a:lvl2pPr algn="l">
              <a:defRPr sz="2100" b="1">
                <a:solidFill>
                  <a:srgbClr val="253B34"/>
                </a:solidFill>
                <a:latin typeface="Liberation Sans"/>
                <a:ea typeface="Liberation Sans"/>
                <a:cs typeface="Liberation Sans"/>
              </a:defRPr>
            </a:lvl2pPr>
            <a:lvl3pPr algn="l">
              <a:defRPr sz="2100" b="1">
                <a:solidFill>
                  <a:srgbClr val="253B34"/>
                </a:solidFill>
                <a:latin typeface="Liberation Sans"/>
                <a:ea typeface="Liberation Sans"/>
                <a:cs typeface="Liberation Sans"/>
              </a:defRPr>
            </a:lvl3pPr>
            <a:lvl4pPr algn="l">
              <a:defRPr sz="2100" b="1">
                <a:solidFill>
                  <a:srgbClr val="253B34"/>
                </a:solidFill>
                <a:latin typeface="Liberation Sans"/>
                <a:ea typeface="Liberation Sans"/>
                <a:cs typeface="Liberation Sans"/>
              </a:defRPr>
            </a:lvl4pPr>
            <a:lvl5pPr algn="l">
              <a:defRPr sz="2100" b="1">
                <a:solidFill>
                  <a:srgbClr val="253B34"/>
                </a:solidFill>
                <a:latin typeface="Liberation Sans"/>
                <a:ea typeface="Liberation Sans"/>
                <a:cs typeface="Liberation Sans"/>
              </a:defRPr>
            </a:lvl5pPr>
            <a:lvl6pPr algn="l">
              <a:defRPr sz="2100" b="1">
                <a:solidFill>
                  <a:srgbClr val="253B34"/>
                </a:solidFill>
                <a:latin typeface="Liberation Sans"/>
                <a:ea typeface="Liberation Sans"/>
                <a:cs typeface="Liberation Sans"/>
              </a:defRPr>
            </a:lvl6pPr>
            <a:lvl7pPr algn="l">
              <a:defRPr sz="2100" b="1">
                <a:solidFill>
                  <a:srgbClr val="253B34"/>
                </a:solidFill>
                <a:latin typeface="Liberation Sans"/>
                <a:ea typeface="Liberation Sans"/>
                <a:cs typeface="Liberation Sans"/>
              </a:defRPr>
            </a:lvl7pPr>
            <a:lvl8pPr algn="l">
              <a:defRPr sz="2100" b="1">
                <a:solidFill>
                  <a:srgbClr val="253B34"/>
                </a:solidFill>
                <a:latin typeface="Liberation Sans"/>
                <a:ea typeface="Liberation Sans"/>
                <a:cs typeface="Liberation Sans"/>
              </a:defRPr>
            </a:lvl8pPr>
            <a:lvl9pPr algn="l">
              <a:defRPr sz="2100" b="1">
                <a:solidFill>
                  <a:srgbClr val="253B34"/>
                </a:solidFill>
                <a:latin typeface="Liberation Sans"/>
                <a:ea typeface="Liberation Sans"/>
                <a:cs typeface="Liberation Sans"/>
              </a:defRPr>
            </a:lvl9pPr>
          </a:lstStyle>
          <a:p xmlns:a="http://schemas.openxmlformats.org/drawingml/2006/main">
            <a:pPr algn="l">
              <a:defRPr sz="2100" b="1">
                <a:solidFill>
                  <a:srgbClr val="253B34"/>
                </a:solidFill>
                <a:latin typeface="Liberation Sans"/>
                <a:ea typeface="Liberation Sans"/>
                <a:cs typeface="Liberation Sans"/>
              </a:defRPr>
            </a:pPr>
            <a:r>
              <a:rPr sz="2100" b="1">
                <a:solidFill>
                  <a:srgbClr val="253B34"/>
                </a:solidFill>
                <a:latin typeface="Liberation Sans"/>
                <a:ea typeface="Liberation Sans"/>
                <a:cs typeface="Liberation Sans"/>
              </a:rPr>
              <a:t>Local inference</a:t>
            </a:r>
          </a:p>
        </p:txBody>
      </p:sp>
      <p:sp>
        <p:nvSpPr>
          <p:cNvPr id="8" name="Ollama serves chat and embedding models over ">
            <a:extLst xmlns:a="http://schemas.openxmlformats.org/drawingml/2006/main">
              <a:ext uri="{FF2B5EF4-FFF2-40B4-BE49-F238E27FC236}">
                <a16:creationId xmlns:a16="http://schemas.microsoft.com/office/drawing/2014/main" id="{D1D03D2D-0A4C-4AF0-870B-872AB28C77E4}"/>
              </a:ext>
            </a:extLst>
          </p:cNvPr>
          <p:cNvSpPr>
            <a:spLocks xmlns:a="http://schemas.openxmlformats.org/drawingml/2006/main" noGrp="1"/>
          </p:cNvSpPr>
          <p:nvPr/>
        </p:nvSpPr>
        <p:spPr>
          <a:xfrm xmlns:a="http://schemas.openxmlformats.org/drawingml/2006/main">
            <a:off x="8629650" y="3952875"/>
            <a:ext cx="28575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253B34"/>
                </a:solidFill>
                <a:latin typeface="Liberation Sans"/>
                <a:ea typeface="Liberation Sans"/>
                <a:cs typeface="Liberation Sans"/>
              </a:defRPr>
            </a:defPPr>
            <a:lvl1pPr algn="l">
              <a:defRPr sz="1875" b="0">
                <a:solidFill>
                  <a:srgbClr val="253B34"/>
                </a:solidFill>
                <a:latin typeface="Liberation Sans"/>
                <a:ea typeface="Liberation Sans"/>
                <a:cs typeface="Liberation Sans"/>
              </a:defRPr>
            </a:lvl1pPr>
            <a:lvl2pPr algn="l">
              <a:defRPr sz="1875" b="0">
                <a:solidFill>
                  <a:srgbClr val="253B34"/>
                </a:solidFill>
                <a:latin typeface="Liberation Sans"/>
                <a:ea typeface="Liberation Sans"/>
                <a:cs typeface="Liberation Sans"/>
              </a:defRPr>
            </a:lvl2pPr>
            <a:lvl3pPr algn="l">
              <a:defRPr sz="1875" b="0">
                <a:solidFill>
                  <a:srgbClr val="253B34"/>
                </a:solidFill>
                <a:latin typeface="Liberation Sans"/>
                <a:ea typeface="Liberation Sans"/>
                <a:cs typeface="Liberation Sans"/>
              </a:defRPr>
            </a:lvl3pPr>
            <a:lvl4pPr algn="l">
              <a:defRPr sz="1875" b="0">
                <a:solidFill>
                  <a:srgbClr val="253B34"/>
                </a:solidFill>
                <a:latin typeface="Liberation Sans"/>
                <a:ea typeface="Liberation Sans"/>
                <a:cs typeface="Liberation Sans"/>
              </a:defRPr>
            </a:lvl4pPr>
            <a:lvl5pPr algn="l">
              <a:defRPr sz="1875" b="0">
                <a:solidFill>
                  <a:srgbClr val="253B34"/>
                </a:solidFill>
                <a:latin typeface="Liberation Sans"/>
                <a:ea typeface="Liberation Sans"/>
                <a:cs typeface="Liberation Sans"/>
              </a:defRPr>
            </a:lvl5pPr>
            <a:lvl6pPr algn="l">
              <a:defRPr sz="1875" b="0">
                <a:solidFill>
                  <a:srgbClr val="253B34"/>
                </a:solidFill>
                <a:latin typeface="Liberation Sans"/>
                <a:ea typeface="Liberation Sans"/>
                <a:cs typeface="Liberation Sans"/>
              </a:defRPr>
            </a:lvl6pPr>
            <a:lvl7pPr algn="l">
              <a:defRPr sz="1875" b="0">
                <a:solidFill>
                  <a:srgbClr val="253B34"/>
                </a:solidFill>
                <a:latin typeface="Liberation Sans"/>
                <a:ea typeface="Liberation Sans"/>
                <a:cs typeface="Liberation Sans"/>
              </a:defRPr>
            </a:lvl7pPr>
            <a:lvl8pPr algn="l">
              <a:defRPr sz="1875" b="0">
                <a:solidFill>
                  <a:srgbClr val="253B34"/>
                </a:solidFill>
                <a:latin typeface="Liberation Sans"/>
                <a:ea typeface="Liberation Sans"/>
                <a:cs typeface="Liberation Sans"/>
              </a:defRPr>
            </a:lvl8pPr>
            <a:lvl9pPr algn="l">
              <a:defRPr sz="1875" b="0">
                <a:solidFill>
                  <a:srgbClr val="253B34"/>
                </a:solidFill>
                <a:latin typeface="Liberation Sans"/>
                <a:ea typeface="Liberation Sans"/>
                <a:cs typeface="Liberation Sans"/>
              </a:defRPr>
            </a:lvl9pPr>
          </a:lstStyle>
          <a:p xmlns:a="http://schemas.openxmlformats.org/drawingml/2006/main">
            <a:pPr algn="l">
              <a:defRPr sz="1875" b="0">
                <a:solidFill>
                  <a:srgbClr val="253B34"/>
                </a:solidFill>
                <a:latin typeface="Liberation Sans"/>
                <a:ea typeface="Liberation Sans"/>
                <a:cs typeface="Liberation Sans"/>
              </a:defRPr>
            </a:pPr>
            <a:r>
              <a:rPr sz="1875" b="0">
                <a:solidFill>
                  <a:srgbClr val="253B34"/>
                </a:solidFill>
                <a:latin typeface="Liberation Sans"/>
                <a:ea typeface="Liberation Sans"/>
                <a:cs typeface="Liberation Sans"/>
              </a:rPr>
              <a:t>Ollama serves chat and embedding models over loopback.</a:t>
            </a:r>
          </a:p>
        </p:txBody>
      </p:sp>
    </p:spTree>
    <p:extLst>
      <p:ext uri="{BB962C8B-B14F-4D97-AF65-F5344CB8AC3E}">
        <p14:creationId xmlns:p14="http://schemas.microsoft.com/office/powerpoint/2010/main" val="2048657290"/>
      </p:ext>
    </p:extLst>
  </p:cSld>
</p:sld>
</file>

<file path=ppt/slides/slide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45B37A25-9EF9-4897-BEB6-8CDEF7545D7F}"/>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73D33"/>
                </a:solidFill>
                <a:latin typeface="Liberation Sans"/>
                <a:ea typeface="Liberation Sans"/>
                <a:cs typeface="Liberation Sans"/>
              </a:defRPr>
            </a:defPPr>
            <a:lvl1pPr algn="l">
              <a:defRPr sz="3300" b="1">
                <a:solidFill>
                  <a:srgbClr val="173D33"/>
                </a:solidFill>
                <a:latin typeface="Liberation Sans"/>
                <a:ea typeface="Liberation Sans"/>
                <a:cs typeface="Liberation Sans"/>
              </a:defRPr>
            </a:lvl1pPr>
            <a:lvl2pPr algn="l">
              <a:defRPr sz="3300" b="1">
                <a:solidFill>
                  <a:srgbClr val="173D33"/>
                </a:solidFill>
                <a:latin typeface="Liberation Sans"/>
                <a:ea typeface="Liberation Sans"/>
                <a:cs typeface="Liberation Sans"/>
              </a:defRPr>
            </a:lvl2pPr>
            <a:lvl3pPr algn="l">
              <a:defRPr sz="3300" b="1">
                <a:solidFill>
                  <a:srgbClr val="173D33"/>
                </a:solidFill>
                <a:latin typeface="Liberation Sans"/>
                <a:ea typeface="Liberation Sans"/>
                <a:cs typeface="Liberation Sans"/>
              </a:defRPr>
            </a:lvl3pPr>
            <a:lvl4pPr algn="l">
              <a:defRPr sz="3300" b="1">
                <a:solidFill>
                  <a:srgbClr val="173D33"/>
                </a:solidFill>
                <a:latin typeface="Liberation Sans"/>
                <a:ea typeface="Liberation Sans"/>
                <a:cs typeface="Liberation Sans"/>
              </a:defRPr>
            </a:lvl4pPr>
            <a:lvl5pPr algn="l">
              <a:defRPr sz="3300" b="1">
                <a:solidFill>
                  <a:srgbClr val="173D33"/>
                </a:solidFill>
                <a:latin typeface="Liberation Sans"/>
                <a:ea typeface="Liberation Sans"/>
                <a:cs typeface="Liberation Sans"/>
              </a:defRPr>
            </a:lvl5pPr>
            <a:lvl6pPr algn="l">
              <a:defRPr sz="3300" b="1">
                <a:solidFill>
                  <a:srgbClr val="173D33"/>
                </a:solidFill>
                <a:latin typeface="Liberation Sans"/>
                <a:ea typeface="Liberation Sans"/>
                <a:cs typeface="Liberation Sans"/>
              </a:defRPr>
            </a:lvl6pPr>
            <a:lvl7pPr algn="l">
              <a:defRPr sz="3300" b="1">
                <a:solidFill>
                  <a:srgbClr val="173D33"/>
                </a:solidFill>
                <a:latin typeface="Liberation Sans"/>
                <a:ea typeface="Liberation Sans"/>
                <a:cs typeface="Liberation Sans"/>
              </a:defRPr>
            </a:lvl7pPr>
            <a:lvl8pPr algn="l">
              <a:defRPr sz="3300" b="1">
                <a:solidFill>
                  <a:srgbClr val="173D33"/>
                </a:solidFill>
                <a:latin typeface="Liberation Sans"/>
                <a:ea typeface="Liberation Sans"/>
                <a:cs typeface="Liberation Sans"/>
              </a:defRPr>
            </a:lvl8pPr>
            <a:lvl9pPr algn="l">
              <a:defRPr sz="3300" b="1">
                <a:solidFill>
                  <a:srgbClr val="173D33"/>
                </a:solidFill>
                <a:latin typeface="Liberation Sans"/>
                <a:ea typeface="Liberation Sans"/>
                <a:cs typeface="Liberation Sans"/>
              </a:defRPr>
            </a:lvl9pPr>
          </a:lstStyle>
          <a:p xmlns:a="http://schemas.openxmlformats.org/drawingml/2006/main">
            <a:pPr algn="l">
              <a:defRPr sz="3300" b="1">
                <a:solidFill>
                  <a:srgbClr val="173D33"/>
                </a:solidFill>
                <a:latin typeface="Liberation Sans"/>
                <a:ea typeface="Liberation Sans"/>
                <a:cs typeface="Liberation Sans"/>
              </a:defRPr>
            </a:pPr>
            <a:r>
              <a:rPr sz="3300" b="1">
                <a:solidFill>
                  <a:srgbClr val="173D33"/>
                </a:solidFill>
                <a:latin typeface="Liberation Sans"/>
                <a:ea typeface="Liberation Sans"/>
                <a:cs typeface="Liberation Sans"/>
              </a:rPr>
              <a:t>Retrieval, memory and MCP</a:t>
            </a:r>
          </a:p>
        </p:txBody>
      </p:sp>
      <p:sp>
        <p:nvSpPr>
          <p:cNvPr id="3" name="05">
            <a:extLst xmlns:a="http://schemas.openxmlformats.org/drawingml/2006/main">
              <a:ext uri="{FF2B5EF4-FFF2-40B4-BE49-F238E27FC236}">
                <a16:creationId xmlns:a16="http://schemas.microsoft.com/office/drawing/2014/main" id="{D808C4DF-87CB-4EDC-824D-0638B5C40760}"/>
              </a:ext>
            </a:extLst>
          </p:cNvPr>
          <p:cNvSpPr>
            <a:spLocks xmlns:a="http://schemas.openxmlformats.org/drawingml/2006/main" noGrp="1"/>
          </p:cNvSpPr>
          <p:nvPr/>
        </p:nvSpPr>
        <p:spPr>
          <a:xfrm xmlns:a="http://schemas.openxmlformats.org/drawingml/2006/main">
            <a:off x="1106805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350" b="0">
                <a:solidFill>
                  <a:srgbClr val="708177"/>
                </a:solidFill>
                <a:latin typeface="Liberation Sans"/>
                <a:ea typeface="Liberation Sans"/>
                <a:cs typeface="Liberation Sans"/>
              </a:defRPr>
            </a:defPPr>
            <a:lvl1pPr algn="r">
              <a:defRPr sz="1350" b="0">
                <a:solidFill>
                  <a:srgbClr val="708177"/>
                </a:solidFill>
                <a:latin typeface="Liberation Sans"/>
                <a:ea typeface="Liberation Sans"/>
                <a:cs typeface="Liberation Sans"/>
              </a:defRPr>
            </a:lvl1pPr>
            <a:lvl2pPr algn="r">
              <a:defRPr sz="1350" b="0">
                <a:solidFill>
                  <a:srgbClr val="708177"/>
                </a:solidFill>
                <a:latin typeface="Liberation Sans"/>
                <a:ea typeface="Liberation Sans"/>
                <a:cs typeface="Liberation Sans"/>
              </a:defRPr>
            </a:lvl2pPr>
            <a:lvl3pPr algn="r">
              <a:defRPr sz="1350" b="0">
                <a:solidFill>
                  <a:srgbClr val="708177"/>
                </a:solidFill>
                <a:latin typeface="Liberation Sans"/>
                <a:ea typeface="Liberation Sans"/>
                <a:cs typeface="Liberation Sans"/>
              </a:defRPr>
            </a:lvl3pPr>
            <a:lvl4pPr algn="r">
              <a:defRPr sz="1350" b="0">
                <a:solidFill>
                  <a:srgbClr val="708177"/>
                </a:solidFill>
                <a:latin typeface="Liberation Sans"/>
                <a:ea typeface="Liberation Sans"/>
                <a:cs typeface="Liberation Sans"/>
              </a:defRPr>
            </a:lvl4pPr>
            <a:lvl5pPr algn="r">
              <a:defRPr sz="1350" b="0">
                <a:solidFill>
                  <a:srgbClr val="708177"/>
                </a:solidFill>
                <a:latin typeface="Liberation Sans"/>
                <a:ea typeface="Liberation Sans"/>
                <a:cs typeface="Liberation Sans"/>
              </a:defRPr>
            </a:lvl5pPr>
            <a:lvl6pPr algn="r">
              <a:defRPr sz="1350" b="0">
                <a:solidFill>
                  <a:srgbClr val="708177"/>
                </a:solidFill>
                <a:latin typeface="Liberation Sans"/>
                <a:ea typeface="Liberation Sans"/>
                <a:cs typeface="Liberation Sans"/>
              </a:defRPr>
            </a:lvl6pPr>
            <a:lvl7pPr algn="r">
              <a:defRPr sz="1350" b="0">
                <a:solidFill>
                  <a:srgbClr val="708177"/>
                </a:solidFill>
                <a:latin typeface="Liberation Sans"/>
                <a:ea typeface="Liberation Sans"/>
                <a:cs typeface="Liberation Sans"/>
              </a:defRPr>
            </a:lvl7pPr>
            <a:lvl8pPr algn="r">
              <a:defRPr sz="1350" b="0">
                <a:solidFill>
                  <a:srgbClr val="708177"/>
                </a:solidFill>
                <a:latin typeface="Liberation Sans"/>
                <a:ea typeface="Liberation Sans"/>
                <a:cs typeface="Liberation Sans"/>
              </a:defRPr>
            </a:lvl8pPr>
            <a:lvl9pPr algn="r">
              <a:defRPr sz="1350" b="0">
                <a:solidFill>
                  <a:srgbClr val="708177"/>
                </a:solidFill>
                <a:latin typeface="Liberation Sans"/>
                <a:ea typeface="Liberation Sans"/>
                <a:cs typeface="Liberation Sans"/>
              </a:defRPr>
            </a:lvl9pPr>
          </a:lstStyle>
          <a:p xmlns:a="http://schemas.openxmlformats.org/drawingml/2006/main">
            <a:pPr algn="r">
              <a:defRPr sz="1350" b="0">
                <a:solidFill>
                  <a:srgbClr val="708177"/>
                </a:solidFill>
                <a:latin typeface="Liberation Sans"/>
                <a:ea typeface="Liberation Sans"/>
                <a:cs typeface="Liberation Sans"/>
              </a:defRPr>
            </a:pPr>
            <a:r>
              <a:rPr sz="1350" b="0">
                <a:solidFill>
                  <a:srgbClr val="708177"/>
                </a:solidFill>
                <a:latin typeface="Liberation Sans"/>
                <a:ea typeface="Liberation Sans"/>
                <a:cs typeface="Liberation Sans"/>
              </a:rPr>
              <a:t>05</a:t>
            </a:r>
          </a:p>
        </p:txBody>
      </p:sp>
      <p:sp>
        <p:nvSpPr>
          <p:cNvPr id="4" name="Hybrid document retrieval">
            <a:extLst xmlns:a="http://schemas.openxmlformats.org/drawingml/2006/main">
              <a:ext uri="{FF2B5EF4-FFF2-40B4-BE49-F238E27FC236}">
                <a16:creationId xmlns:a16="http://schemas.microsoft.com/office/drawing/2014/main" id="{EC5FC560-492E-468E-A030-C42A325D0AF1}"/>
              </a:ext>
            </a:extLst>
          </p:cNvPr>
          <p:cNvSpPr>
            <a:spLocks xmlns:a="http://schemas.openxmlformats.org/drawingml/2006/main" noGrp="1"/>
          </p:cNvSpPr>
          <p:nvPr/>
        </p:nvSpPr>
        <p:spPr>
          <a:xfrm xmlns:a="http://schemas.openxmlformats.org/drawingml/2006/main">
            <a:off x="609600" y="14192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D33"/>
                </a:solidFill>
                <a:latin typeface="Liberation Sans"/>
                <a:ea typeface="Liberation Sans"/>
                <a:cs typeface="Liberation Sans"/>
              </a:defRPr>
            </a:defPPr>
            <a:lvl1pPr algn="l">
              <a:defRPr sz="2025" b="1">
                <a:solidFill>
                  <a:srgbClr val="173D33"/>
                </a:solidFill>
                <a:latin typeface="Liberation Sans"/>
                <a:ea typeface="Liberation Sans"/>
                <a:cs typeface="Liberation Sans"/>
              </a:defRPr>
            </a:lvl1pPr>
            <a:lvl2pPr algn="l">
              <a:defRPr sz="2025" b="1">
                <a:solidFill>
                  <a:srgbClr val="173D33"/>
                </a:solidFill>
                <a:latin typeface="Liberation Sans"/>
                <a:ea typeface="Liberation Sans"/>
                <a:cs typeface="Liberation Sans"/>
              </a:defRPr>
            </a:lvl2pPr>
            <a:lvl3pPr algn="l">
              <a:defRPr sz="2025" b="1">
                <a:solidFill>
                  <a:srgbClr val="173D33"/>
                </a:solidFill>
                <a:latin typeface="Liberation Sans"/>
                <a:ea typeface="Liberation Sans"/>
                <a:cs typeface="Liberation Sans"/>
              </a:defRPr>
            </a:lvl3pPr>
            <a:lvl4pPr algn="l">
              <a:defRPr sz="2025" b="1">
                <a:solidFill>
                  <a:srgbClr val="173D33"/>
                </a:solidFill>
                <a:latin typeface="Liberation Sans"/>
                <a:ea typeface="Liberation Sans"/>
                <a:cs typeface="Liberation Sans"/>
              </a:defRPr>
            </a:lvl4pPr>
            <a:lvl5pPr algn="l">
              <a:defRPr sz="2025" b="1">
                <a:solidFill>
                  <a:srgbClr val="173D33"/>
                </a:solidFill>
                <a:latin typeface="Liberation Sans"/>
                <a:ea typeface="Liberation Sans"/>
                <a:cs typeface="Liberation Sans"/>
              </a:defRPr>
            </a:lvl5pPr>
            <a:lvl6pPr algn="l">
              <a:defRPr sz="2025" b="1">
                <a:solidFill>
                  <a:srgbClr val="173D33"/>
                </a:solidFill>
                <a:latin typeface="Liberation Sans"/>
                <a:ea typeface="Liberation Sans"/>
                <a:cs typeface="Liberation Sans"/>
              </a:defRPr>
            </a:lvl6pPr>
            <a:lvl7pPr algn="l">
              <a:defRPr sz="2025" b="1">
                <a:solidFill>
                  <a:srgbClr val="173D33"/>
                </a:solidFill>
                <a:latin typeface="Liberation Sans"/>
                <a:ea typeface="Liberation Sans"/>
                <a:cs typeface="Liberation Sans"/>
              </a:defRPr>
            </a:lvl7pPr>
            <a:lvl8pPr algn="l">
              <a:defRPr sz="2025" b="1">
                <a:solidFill>
                  <a:srgbClr val="173D33"/>
                </a:solidFill>
                <a:latin typeface="Liberation Sans"/>
                <a:ea typeface="Liberation Sans"/>
                <a:cs typeface="Liberation Sans"/>
              </a:defRPr>
            </a:lvl8pPr>
            <a:lvl9pPr algn="l">
              <a:defRPr sz="2025" b="1">
                <a:solidFill>
                  <a:srgbClr val="173D33"/>
                </a:solidFill>
                <a:latin typeface="Liberation Sans"/>
                <a:ea typeface="Liberation Sans"/>
                <a:cs typeface="Liberation Sans"/>
              </a:defRPr>
            </a:lvl9pPr>
          </a:lstStyle>
          <a:p xmlns:a="http://schemas.openxmlformats.org/drawingml/2006/main">
            <a:pPr algn="l">
              <a:defRPr sz="2025" b="1">
                <a:solidFill>
                  <a:srgbClr val="173D33"/>
                </a:solidFill>
                <a:latin typeface="Liberation Sans"/>
                <a:ea typeface="Liberation Sans"/>
                <a:cs typeface="Liberation Sans"/>
              </a:defRPr>
            </a:pPr>
            <a:r>
              <a:rPr sz="2025" b="1">
                <a:solidFill>
                  <a:srgbClr val="173D33"/>
                </a:solidFill>
                <a:latin typeface="Liberation Sans"/>
                <a:ea typeface="Liberation Sans"/>
                <a:cs typeface="Liberation Sans"/>
              </a:rPr>
              <a:t>Hybrid document retrieval</a:t>
            </a:r>
          </a:p>
        </p:txBody>
      </p:sp>
      <p:sp>
        <p:nvSpPr>
          <p:cNvPr id="5" name="SQLite FTS5 finds words. EmbeddingGemma suppl">
            <a:extLst xmlns:a="http://schemas.openxmlformats.org/drawingml/2006/main">
              <a:ext uri="{FF2B5EF4-FFF2-40B4-BE49-F238E27FC236}">
                <a16:creationId xmlns:a16="http://schemas.microsoft.com/office/drawing/2014/main" id="{4C147068-810B-4896-9828-6AF7FE3009A1}"/>
              </a:ext>
            </a:extLst>
          </p:cNvPr>
          <p:cNvSpPr>
            <a:spLocks xmlns:a="http://schemas.openxmlformats.org/drawingml/2006/main" noGrp="1"/>
          </p:cNvSpPr>
          <p:nvPr/>
        </p:nvSpPr>
        <p:spPr>
          <a:xfrm xmlns:a="http://schemas.openxmlformats.org/drawingml/2006/main">
            <a:off x="609600" y="183832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253B34"/>
                </a:solidFill>
                <a:latin typeface="Liberation Sans"/>
                <a:ea typeface="Liberation Sans"/>
                <a:cs typeface="Liberation Sans"/>
              </a:defRPr>
            </a:defPPr>
            <a:lvl1pPr algn="l">
              <a:defRPr sz="1950" b="0">
                <a:solidFill>
                  <a:srgbClr val="253B34"/>
                </a:solidFill>
                <a:latin typeface="Liberation Sans"/>
                <a:ea typeface="Liberation Sans"/>
                <a:cs typeface="Liberation Sans"/>
              </a:defRPr>
            </a:lvl1pPr>
            <a:lvl2pPr algn="l">
              <a:defRPr sz="1950" b="0">
                <a:solidFill>
                  <a:srgbClr val="253B34"/>
                </a:solidFill>
                <a:latin typeface="Liberation Sans"/>
                <a:ea typeface="Liberation Sans"/>
                <a:cs typeface="Liberation Sans"/>
              </a:defRPr>
            </a:lvl2pPr>
            <a:lvl3pPr algn="l">
              <a:defRPr sz="1950" b="0">
                <a:solidFill>
                  <a:srgbClr val="253B34"/>
                </a:solidFill>
                <a:latin typeface="Liberation Sans"/>
                <a:ea typeface="Liberation Sans"/>
                <a:cs typeface="Liberation Sans"/>
              </a:defRPr>
            </a:lvl3pPr>
            <a:lvl4pPr algn="l">
              <a:defRPr sz="1950" b="0">
                <a:solidFill>
                  <a:srgbClr val="253B34"/>
                </a:solidFill>
                <a:latin typeface="Liberation Sans"/>
                <a:ea typeface="Liberation Sans"/>
                <a:cs typeface="Liberation Sans"/>
              </a:defRPr>
            </a:lvl4pPr>
            <a:lvl5pPr algn="l">
              <a:defRPr sz="1950" b="0">
                <a:solidFill>
                  <a:srgbClr val="253B34"/>
                </a:solidFill>
                <a:latin typeface="Liberation Sans"/>
                <a:ea typeface="Liberation Sans"/>
                <a:cs typeface="Liberation Sans"/>
              </a:defRPr>
            </a:lvl5pPr>
            <a:lvl6pPr algn="l">
              <a:defRPr sz="1950" b="0">
                <a:solidFill>
                  <a:srgbClr val="253B34"/>
                </a:solidFill>
                <a:latin typeface="Liberation Sans"/>
                <a:ea typeface="Liberation Sans"/>
                <a:cs typeface="Liberation Sans"/>
              </a:defRPr>
            </a:lvl6pPr>
            <a:lvl7pPr algn="l">
              <a:defRPr sz="1950" b="0">
                <a:solidFill>
                  <a:srgbClr val="253B34"/>
                </a:solidFill>
                <a:latin typeface="Liberation Sans"/>
                <a:ea typeface="Liberation Sans"/>
                <a:cs typeface="Liberation Sans"/>
              </a:defRPr>
            </a:lvl7pPr>
            <a:lvl8pPr algn="l">
              <a:defRPr sz="1950" b="0">
                <a:solidFill>
                  <a:srgbClr val="253B34"/>
                </a:solidFill>
                <a:latin typeface="Liberation Sans"/>
                <a:ea typeface="Liberation Sans"/>
                <a:cs typeface="Liberation Sans"/>
              </a:defRPr>
            </a:lvl8pPr>
            <a:lvl9pPr algn="l">
              <a:defRPr sz="1950" b="0">
                <a:solidFill>
                  <a:srgbClr val="253B34"/>
                </a:solidFill>
                <a:latin typeface="Liberation Sans"/>
                <a:ea typeface="Liberation Sans"/>
                <a:cs typeface="Liberation Sans"/>
              </a:defRPr>
            </a:lvl9pPr>
          </a:lstStyle>
          <a:p xmlns:a="http://schemas.openxmlformats.org/drawingml/2006/main">
            <a:pPr algn="l">
              <a:defRPr sz="1950" b="0">
                <a:solidFill>
                  <a:srgbClr val="253B34"/>
                </a:solidFill>
                <a:latin typeface="Liberation Sans"/>
                <a:ea typeface="Liberation Sans"/>
                <a:cs typeface="Liberation Sans"/>
              </a:defRPr>
            </a:pPr>
            <a:r>
              <a:rPr sz="1950" b="0">
                <a:solidFill>
                  <a:srgbClr val="253B34"/>
                </a:solidFill>
                <a:latin typeface="Liberation Sans"/>
                <a:ea typeface="Liberation Sans"/>
                <a:cs typeface="Liberation Sans"/>
              </a:rPr>
              <a:t>SQLite FTS5 finds words. EmbeddingGemma supplies vector similarity. RRF combines the rankings.</a:t>
            </a:r>
          </a:p>
        </p:txBody>
      </p:sp>
      <p:sp>
        <p:nvSpPr>
          <p:cNvPr id="6" name="Persistent memory">
            <a:extLst xmlns:a="http://schemas.openxmlformats.org/drawingml/2006/main">
              <a:ext uri="{FF2B5EF4-FFF2-40B4-BE49-F238E27FC236}">
                <a16:creationId xmlns:a16="http://schemas.microsoft.com/office/drawing/2014/main" id="{27123350-5914-4A32-B4F3-13070163F4EC}"/>
              </a:ext>
            </a:extLst>
          </p:cNvPr>
          <p:cNvSpPr>
            <a:spLocks xmlns:a="http://schemas.openxmlformats.org/drawingml/2006/main" noGrp="1"/>
          </p:cNvSpPr>
          <p:nvPr/>
        </p:nvSpPr>
        <p:spPr>
          <a:xfrm xmlns:a="http://schemas.openxmlformats.org/drawingml/2006/main">
            <a:off x="609600" y="29527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D33"/>
                </a:solidFill>
                <a:latin typeface="Liberation Sans"/>
                <a:ea typeface="Liberation Sans"/>
                <a:cs typeface="Liberation Sans"/>
              </a:defRPr>
            </a:defPPr>
            <a:lvl1pPr algn="l">
              <a:defRPr sz="2025" b="1">
                <a:solidFill>
                  <a:srgbClr val="173D33"/>
                </a:solidFill>
                <a:latin typeface="Liberation Sans"/>
                <a:ea typeface="Liberation Sans"/>
                <a:cs typeface="Liberation Sans"/>
              </a:defRPr>
            </a:lvl1pPr>
            <a:lvl2pPr algn="l">
              <a:defRPr sz="2025" b="1">
                <a:solidFill>
                  <a:srgbClr val="173D33"/>
                </a:solidFill>
                <a:latin typeface="Liberation Sans"/>
                <a:ea typeface="Liberation Sans"/>
                <a:cs typeface="Liberation Sans"/>
              </a:defRPr>
            </a:lvl2pPr>
            <a:lvl3pPr algn="l">
              <a:defRPr sz="2025" b="1">
                <a:solidFill>
                  <a:srgbClr val="173D33"/>
                </a:solidFill>
                <a:latin typeface="Liberation Sans"/>
                <a:ea typeface="Liberation Sans"/>
                <a:cs typeface="Liberation Sans"/>
              </a:defRPr>
            </a:lvl3pPr>
            <a:lvl4pPr algn="l">
              <a:defRPr sz="2025" b="1">
                <a:solidFill>
                  <a:srgbClr val="173D33"/>
                </a:solidFill>
                <a:latin typeface="Liberation Sans"/>
                <a:ea typeface="Liberation Sans"/>
                <a:cs typeface="Liberation Sans"/>
              </a:defRPr>
            </a:lvl4pPr>
            <a:lvl5pPr algn="l">
              <a:defRPr sz="2025" b="1">
                <a:solidFill>
                  <a:srgbClr val="173D33"/>
                </a:solidFill>
                <a:latin typeface="Liberation Sans"/>
                <a:ea typeface="Liberation Sans"/>
                <a:cs typeface="Liberation Sans"/>
              </a:defRPr>
            </a:lvl5pPr>
            <a:lvl6pPr algn="l">
              <a:defRPr sz="2025" b="1">
                <a:solidFill>
                  <a:srgbClr val="173D33"/>
                </a:solidFill>
                <a:latin typeface="Liberation Sans"/>
                <a:ea typeface="Liberation Sans"/>
                <a:cs typeface="Liberation Sans"/>
              </a:defRPr>
            </a:lvl6pPr>
            <a:lvl7pPr algn="l">
              <a:defRPr sz="2025" b="1">
                <a:solidFill>
                  <a:srgbClr val="173D33"/>
                </a:solidFill>
                <a:latin typeface="Liberation Sans"/>
                <a:ea typeface="Liberation Sans"/>
                <a:cs typeface="Liberation Sans"/>
              </a:defRPr>
            </a:lvl7pPr>
            <a:lvl8pPr algn="l">
              <a:defRPr sz="2025" b="1">
                <a:solidFill>
                  <a:srgbClr val="173D33"/>
                </a:solidFill>
                <a:latin typeface="Liberation Sans"/>
                <a:ea typeface="Liberation Sans"/>
                <a:cs typeface="Liberation Sans"/>
              </a:defRPr>
            </a:lvl8pPr>
            <a:lvl9pPr algn="l">
              <a:defRPr sz="2025" b="1">
                <a:solidFill>
                  <a:srgbClr val="173D33"/>
                </a:solidFill>
                <a:latin typeface="Liberation Sans"/>
                <a:ea typeface="Liberation Sans"/>
                <a:cs typeface="Liberation Sans"/>
              </a:defRPr>
            </a:lvl9pPr>
          </a:lstStyle>
          <a:p xmlns:a="http://schemas.openxmlformats.org/drawingml/2006/main">
            <a:pPr algn="l">
              <a:defRPr sz="2025" b="1">
                <a:solidFill>
                  <a:srgbClr val="173D33"/>
                </a:solidFill>
                <a:latin typeface="Liberation Sans"/>
                <a:ea typeface="Liberation Sans"/>
                <a:cs typeface="Liberation Sans"/>
              </a:defRPr>
            </a:pPr>
            <a:r>
              <a:rPr sz="2025" b="1">
                <a:solidFill>
                  <a:srgbClr val="173D33"/>
                </a:solidFill>
                <a:latin typeface="Liberation Sans"/>
                <a:ea typeface="Liberation Sans"/>
                <a:cs typeface="Liberation Sans"/>
              </a:rPr>
              <a:t>Persistent memory</a:t>
            </a:r>
          </a:p>
        </p:txBody>
      </p:sp>
      <p:sp>
        <p:nvSpPr>
          <p:cNvPr id="7" name="SQLite stores conversations, project records ">
            <a:extLst xmlns:a="http://schemas.openxmlformats.org/drawingml/2006/main">
              <a:ext uri="{FF2B5EF4-FFF2-40B4-BE49-F238E27FC236}">
                <a16:creationId xmlns:a16="http://schemas.microsoft.com/office/drawing/2014/main" id="{C71DB2C5-0720-411B-8F51-5626A7F2A048}"/>
              </a:ext>
            </a:extLst>
          </p:cNvPr>
          <p:cNvSpPr>
            <a:spLocks xmlns:a="http://schemas.openxmlformats.org/drawingml/2006/main" noGrp="1"/>
          </p:cNvSpPr>
          <p:nvPr/>
        </p:nvSpPr>
        <p:spPr>
          <a:xfrm xmlns:a="http://schemas.openxmlformats.org/drawingml/2006/main">
            <a:off x="609600" y="33718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253B34"/>
                </a:solidFill>
                <a:latin typeface="Liberation Sans"/>
                <a:ea typeface="Liberation Sans"/>
                <a:cs typeface="Liberation Sans"/>
              </a:defRPr>
            </a:defPPr>
            <a:lvl1pPr algn="l">
              <a:defRPr sz="1950" b="0">
                <a:solidFill>
                  <a:srgbClr val="253B34"/>
                </a:solidFill>
                <a:latin typeface="Liberation Sans"/>
                <a:ea typeface="Liberation Sans"/>
                <a:cs typeface="Liberation Sans"/>
              </a:defRPr>
            </a:lvl1pPr>
            <a:lvl2pPr algn="l">
              <a:defRPr sz="1950" b="0">
                <a:solidFill>
                  <a:srgbClr val="253B34"/>
                </a:solidFill>
                <a:latin typeface="Liberation Sans"/>
                <a:ea typeface="Liberation Sans"/>
                <a:cs typeface="Liberation Sans"/>
              </a:defRPr>
            </a:lvl2pPr>
            <a:lvl3pPr algn="l">
              <a:defRPr sz="1950" b="0">
                <a:solidFill>
                  <a:srgbClr val="253B34"/>
                </a:solidFill>
                <a:latin typeface="Liberation Sans"/>
                <a:ea typeface="Liberation Sans"/>
                <a:cs typeface="Liberation Sans"/>
              </a:defRPr>
            </a:lvl3pPr>
            <a:lvl4pPr algn="l">
              <a:defRPr sz="1950" b="0">
                <a:solidFill>
                  <a:srgbClr val="253B34"/>
                </a:solidFill>
                <a:latin typeface="Liberation Sans"/>
                <a:ea typeface="Liberation Sans"/>
                <a:cs typeface="Liberation Sans"/>
              </a:defRPr>
            </a:lvl4pPr>
            <a:lvl5pPr algn="l">
              <a:defRPr sz="1950" b="0">
                <a:solidFill>
                  <a:srgbClr val="253B34"/>
                </a:solidFill>
                <a:latin typeface="Liberation Sans"/>
                <a:ea typeface="Liberation Sans"/>
                <a:cs typeface="Liberation Sans"/>
              </a:defRPr>
            </a:lvl5pPr>
            <a:lvl6pPr algn="l">
              <a:defRPr sz="1950" b="0">
                <a:solidFill>
                  <a:srgbClr val="253B34"/>
                </a:solidFill>
                <a:latin typeface="Liberation Sans"/>
                <a:ea typeface="Liberation Sans"/>
                <a:cs typeface="Liberation Sans"/>
              </a:defRPr>
            </a:lvl6pPr>
            <a:lvl7pPr algn="l">
              <a:defRPr sz="1950" b="0">
                <a:solidFill>
                  <a:srgbClr val="253B34"/>
                </a:solidFill>
                <a:latin typeface="Liberation Sans"/>
                <a:ea typeface="Liberation Sans"/>
                <a:cs typeface="Liberation Sans"/>
              </a:defRPr>
            </a:lvl7pPr>
            <a:lvl8pPr algn="l">
              <a:defRPr sz="1950" b="0">
                <a:solidFill>
                  <a:srgbClr val="253B34"/>
                </a:solidFill>
                <a:latin typeface="Liberation Sans"/>
                <a:ea typeface="Liberation Sans"/>
                <a:cs typeface="Liberation Sans"/>
              </a:defRPr>
            </a:lvl8pPr>
            <a:lvl9pPr algn="l">
              <a:defRPr sz="1950" b="0">
                <a:solidFill>
                  <a:srgbClr val="253B34"/>
                </a:solidFill>
                <a:latin typeface="Liberation Sans"/>
                <a:ea typeface="Liberation Sans"/>
                <a:cs typeface="Liberation Sans"/>
              </a:defRPr>
            </a:lvl9pPr>
          </a:lstStyle>
          <a:p xmlns:a="http://schemas.openxmlformats.org/drawingml/2006/main">
            <a:pPr algn="l">
              <a:defRPr sz="1950" b="0">
                <a:solidFill>
                  <a:srgbClr val="253B34"/>
                </a:solidFill>
                <a:latin typeface="Liberation Sans"/>
                <a:ea typeface="Liberation Sans"/>
                <a:cs typeface="Liberation Sans"/>
              </a:defRPr>
            </a:pPr>
            <a:r>
              <a:rPr sz="1950" b="0">
                <a:solidFill>
                  <a:srgbClr val="253B34"/>
                </a:solidFill>
                <a:latin typeface="Liberation Sans"/>
                <a:ea typeface="Liberation Sans"/>
                <a:cs typeface="Liberation Sans"/>
              </a:rPr>
              <a:t>SQLite stores conversations, project records and explicit saved memories across sessions.</a:t>
            </a:r>
          </a:p>
        </p:txBody>
      </p:sp>
      <p:sp>
        <p:nvSpPr>
          <p:cNvPr id="8" name="Bounded agent tools">
            <a:extLst xmlns:a="http://schemas.openxmlformats.org/drawingml/2006/main">
              <a:ext uri="{FF2B5EF4-FFF2-40B4-BE49-F238E27FC236}">
                <a16:creationId xmlns:a16="http://schemas.microsoft.com/office/drawing/2014/main" id="{8432263C-4275-4312-AD9F-8080B75C6D0C}"/>
              </a:ext>
            </a:extLst>
          </p:cNvPr>
          <p:cNvSpPr>
            <a:spLocks xmlns:a="http://schemas.openxmlformats.org/drawingml/2006/main" noGrp="1"/>
          </p:cNvSpPr>
          <p:nvPr/>
        </p:nvSpPr>
        <p:spPr>
          <a:xfrm xmlns:a="http://schemas.openxmlformats.org/drawingml/2006/main">
            <a:off x="609600" y="448627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D33"/>
                </a:solidFill>
                <a:latin typeface="Liberation Sans"/>
                <a:ea typeface="Liberation Sans"/>
                <a:cs typeface="Liberation Sans"/>
              </a:defRPr>
            </a:defPPr>
            <a:lvl1pPr algn="l">
              <a:defRPr sz="2025" b="1">
                <a:solidFill>
                  <a:srgbClr val="173D33"/>
                </a:solidFill>
                <a:latin typeface="Liberation Sans"/>
                <a:ea typeface="Liberation Sans"/>
                <a:cs typeface="Liberation Sans"/>
              </a:defRPr>
            </a:lvl1pPr>
            <a:lvl2pPr algn="l">
              <a:defRPr sz="2025" b="1">
                <a:solidFill>
                  <a:srgbClr val="173D33"/>
                </a:solidFill>
                <a:latin typeface="Liberation Sans"/>
                <a:ea typeface="Liberation Sans"/>
                <a:cs typeface="Liberation Sans"/>
              </a:defRPr>
            </a:lvl2pPr>
            <a:lvl3pPr algn="l">
              <a:defRPr sz="2025" b="1">
                <a:solidFill>
                  <a:srgbClr val="173D33"/>
                </a:solidFill>
                <a:latin typeface="Liberation Sans"/>
                <a:ea typeface="Liberation Sans"/>
                <a:cs typeface="Liberation Sans"/>
              </a:defRPr>
            </a:lvl3pPr>
            <a:lvl4pPr algn="l">
              <a:defRPr sz="2025" b="1">
                <a:solidFill>
                  <a:srgbClr val="173D33"/>
                </a:solidFill>
                <a:latin typeface="Liberation Sans"/>
                <a:ea typeface="Liberation Sans"/>
                <a:cs typeface="Liberation Sans"/>
              </a:defRPr>
            </a:lvl4pPr>
            <a:lvl5pPr algn="l">
              <a:defRPr sz="2025" b="1">
                <a:solidFill>
                  <a:srgbClr val="173D33"/>
                </a:solidFill>
                <a:latin typeface="Liberation Sans"/>
                <a:ea typeface="Liberation Sans"/>
                <a:cs typeface="Liberation Sans"/>
              </a:defRPr>
            </a:lvl5pPr>
            <a:lvl6pPr algn="l">
              <a:defRPr sz="2025" b="1">
                <a:solidFill>
                  <a:srgbClr val="173D33"/>
                </a:solidFill>
                <a:latin typeface="Liberation Sans"/>
                <a:ea typeface="Liberation Sans"/>
                <a:cs typeface="Liberation Sans"/>
              </a:defRPr>
            </a:lvl6pPr>
            <a:lvl7pPr algn="l">
              <a:defRPr sz="2025" b="1">
                <a:solidFill>
                  <a:srgbClr val="173D33"/>
                </a:solidFill>
                <a:latin typeface="Liberation Sans"/>
                <a:ea typeface="Liberation Sans"/>
                <a:cs typeface="Liberation Sans"/>
              </a:defRPr>
            </a:lvl7pPr>
            <a:lvl8pPr algn="l">
              <a:defRPr sz="2025" b="1">
                <a:solidFill>
                  <a:srgbClr val="173D33"/>
                </a:solidFill>
                <a:latin typeface="Liberation Sans"/>
                <a:ea typeface="Liberation Sans"/>
                <a:cs typeface="Liberation Sans"/>
              </a:defRPr>
            </a:lvl8pPr>
            <a:lvl9pPr algn="l">
              <a:defRPr sz="2025" b="1">
                <a:solidFill>
                  <a:srgbClr val="173D33"/>
                </a:solidFill>
                <a:latin typeface="Liberation Sans"/>
                <a:ea typeface="Liberation Sans"/>
                <a:cs typeface="Liberation Sans"/>
              </a:defRPr>
            </a:lvl9pPr>
          </a:lstStyle>
          <a:p xmlns:a="http://schemas.openxmlformats.org/drawingml/2006/main">
            <a:pPr algn="l">
              <a:defRPr sz="2025" b="1">
                <a:solidFill>
                  <a:srgbClr val="173D33"/>
                </a:solidFill>
                <a:latin typeface="Liberation Sans"/>
                <a:ea typeface="Liberation Sans"/>
                <a:cs typeface="Liberation Sans"/>
              </a:defRPr>
            </a:pPr>
            <a:r>
              <a:rPr sz="2025" b="1">
                <a:solidFill>
                  <a:srgbClr val="173D33"/>
                </a:solidFill>
                <a:latin typeface="Liberation Sans"/>
                <a:ea typeface="Liberation Sans"/>
                <a:cs typeface="Liberation Sans"/>
              </a:rPr>
              <a:t>Bounded agent tools</a:t>
            </a:r>
          </a:p>
        </p:txBody>
      </p:sp>
      <p:sp>
        <p:nvSpPr>
          <p:cNvPr id="9" name="Seven read tools support search, document acc">
            <a:extLst xmlns:a="http://schemas.openxmlformats.org/drawingml/2006/main">
              <a:ext uri="{FF2B5EF4-FFF2-40B4-BE49-F238E27FC236}">
                <a16:creationId xmlns:a16="http://schemas.microsoft.com/office/drawing/2014/main" id="{107DA393-6CFF-43D1-B776-46A5C64451BD}"/>
              </a:ext>
            </a:extLst>
          </p:cNvPr>
          <p:cNvSpPr>
            <a:spLocks xmlns:a="http://schemas.openxmlformats.org/drawingml/2006/main" noGrp="1"/>
          </p:cNvSpPr>
          <p:nvPr/>
        </p:nvSpPr>
        <p:spPr>
          <a:xfrm xmlns:a="http://schemas.openxmlformats.org/drawingml/2006/main">
            <a:off x="609600" y="49053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253B34"/>
                </a:solidFill>
                <a:latin typeface="Liberation Sans"/>
                <a:ea typeface="Liberation Sans"/>
                <a:cs typeface="Liberation Sans"/>
              </a:defRPr>
            </a:defPPr>
            <a:lvl1pPr algn="l">
              <a:defRPr sz="1950" b="0">
                <a:solidFill>
                  <a:srgbClr val="253B34"/>
                </a:solidFill>
                <a:latin typeface="Liberation Sans"/>
                <a:ea typeface="Liberation Sans"/>
                <a:cs typeface="Liberation Sans"/>
              </a:defRPr>
            </a:lvl1pPr>
            <a:lvl2pPr algn="l">
              <a:defRPr sz="1950" b="0">
                <a:solidFill>
                  <a:srgbClr val="253B34"/>
                </a:solidFill>
                <a:latin typeface="Liberation Sans"/>
                <a:ea typeface="Liberation Sans"/>
                <a:cs typeface="Liberation Sans"/>
              </a:defRPr>
            </a:lvl2pPr>
            <a:lvl3pPr algn="l">
              <a:defRPr sz="1950" b="0">
                <a:solidFill>
                  <a:srgbClr val="253B34"/>
                </a:solidFill>
                <a:latin typeface="Liberation Sans"/>
                <a:ea typeface="Liberation Sans"/>
                <a:cs typeface="Liberation Sans"/>
              </a:defRPr>
            </a:lvl3pPr>
            <a:lvl4pPr algn="l">
              <a:defRPr sz="1950" b="0">
                <a:solidFill>
                  <a:srgbClr val="253B34"/>
                </a:solidFill>
                <a:latin typeface="Liberation Sans"/>
                <a:ea typeface="Liberation Sans"/>
                <a:cs typeface="Liberation Sans"/>
              </a:defRPr>
            </a:lvl4pPr>
            <a:lvl5pPr algn="l">
              <a:defRPr sz="1950" b="0">
                <a:solidFill>
                  <a:srgbClr val="253B34"/>
                </a:solidFill>
                <a:latin typeface="Liberation Sans"/>
                <a:ea typeface="Liberation Sans"/>
                <a:cs typeface="Liberation Sans"/>
              </a:defRPr>
            </a:lvl5pPr>
            <a:lvl6pPr algn="l">
              <a:defRPr sz="1950" b="0">
                <a:solidFill>
                  <a:srgbClr val="253B34"/>
                </a:solidFill>
                <a:latin typeface="Liberation Sans"/>
                <a:ea typeface="Liberation Sans"/>
                <a:cs typeface="Liberation Sans"/>
              </a:defRPr>
            </a:lvl6pPr>
            <a:lvl7pPr algn="l">
              <a:defRPr sz="1950" b="0">
                <a:solidFill>
                  <a:srgbClr val="253B34"/>
                </a:solidFill>
                <a:latin typeface="Liberation Sans"/>
                <a:ea typeface="Liberation Sans"/>
                <a:cs typeface="Liberation Sans"/>
              </a:defRPr>
            </a:lvl7pPr>
            <a:lvl8pPr algn="l">
              <a:defRPr sz="1950" b="0">
                <a:solidFill>
                  <a:srgbClr val="253B34"/>
                </a:solidFill>
                <a:latin typeface="Liberation Sans"/>
                <a:ea typeface="Liberation Sans"/>
                <a:cs typeface="Liberation Sans"/>
              </a:defRPr>
            </a:lvl8pPr>
            <a:lvl9pPr algn="l">
              <a:defRPr sz="1950" b="0">
                <a:solidFill>
                  <a:srgbClr val="253B34"/>
                </a:solidFill>
                <a:latin typeface="Liberation Sans"/>
                <a:ea typeface="Liberation Sans"/>
                <a:cs typeface="Liberation Sans"/>
              </a:defRPr>
            </a:lvl9pPr>
          </a:lstStyle>
          <a:p xmlns:a="http://schemas.openxmlformats.org/drawingml/2006/main">
            <a:pPr algn="l">
              <a:defRPr sz="1950" b="0">
                <a:solidFill>
                  <a:srgbClr val="253B34"/>
                </a:solidFill>
                <a:latin typeface="Liberation Sans"/>
                <a:ea typeface="Liberation Sans"/>
                <a:cs typeface="Liberation Sans"/>
              </a:defRPr>
            </a:pPr>
            <a:r>
              <a:rPr sz="1950" b="0">
                <a:solidFill>
                  <a:srgbClr val="253B34"/>
                </a:solidFill>
                <a:latin typeface="Liberation Sans"/>
                <a:ea typeface="Liberation Sans"/>
                <a:cs typeface="Liberation Sans"/>
              </a:rPr>
              <a:t>Seven read tools support search, document access, memory recall and catalog inspection.</a:t>
            </a:r>
          </a:p>
        </p:txBody>
      </p:sp>
    </p:spTree>
    <p:extLst>
      <p:ext uri="{BB962C8B-B14F-4D97-AF65-F5344CB8AC3E}">
        <p14:creationId xmlns:p14="http://schemas.microsoft.com/office/powerpoint/2010/main" val="563552990"/>
      </p:ext>
    </p:extLst>
  </p:cSld>
</p:sld>
</file>

<file path=ppt/slides/slide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4B7FF1A-DE4F-4FD2-BE4C-9C80F62D3B88}"/>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73D33"/>
                </a:solidFill>
                <a:latin typeface="Liberation Sans"/>
                <a:ea typeface="Liberation Sans"/>
                <a:cs typeface="Liberation Sans"/>
              </a:defRPr>
            </a:defPPr>
            <a:lvl1pPr algn="l">
              <a:defRPr sz="3300" b="1">
                <a:solidFill>
                  <a:srgbClr val="173D33"/>
                </a:solidFill>
                <a:latin typeface="Liberation Sans"/>
                <a:ea typeface="Liberation Sans"/>
                <a:cs typeface="Liberation Sans"/>
              </a:defRPr>
            </a:lvl1pPr>
            <a:lvl2pPr algn="l">
              <a:defRPr sz="3300" b="1">
                <a:solidFill>
                  <a:srgbClr val="173D33"/>
                </a:solidFill>
                <a:latin typeface="Liberation Sans"/>
                <a:ea typeface="Liberation Sans"/>
                <a:cs typeface="Liberation Sans"/>
              </a:defRPr>
            </a:lvl2pPr>
            <a:lvl3pPr algn="l">
              <a:defRPr sz="3300" b="1">
                <a:solidFill>
                  <a:srgbClr val="173D33"/>
                </a:solidFill>
                <a:latin typeface="Liberation Sans"/>
                <a:ea typeface="Liberation Sans"/>
                <a:cs typeface="Liberation Sans"/>
              </a:defRPr>
            </a:lvl3pPr>
            <a:lvl4pPr algn="l">
              <a:defRPr sz="3300" b="1">
                <a:solidFill>
                  <a:srgbClr val="173D33"/>
                </a:solidFill>
                <a:latin typeface="Liberation Sans"/>
                <a:ea typeface="Liberation Sans"/>
                <a:cs typeface="Liberation Sans"/>
              </a:defRPr>
            </a:lvl4pPr>
            <a:lvl5pPr algn="l">
              <a:defRPr sz="3300" b="1">
                <a:solidFill>
                  <a:srgbClr val="173D33"/>
                </a:solidFill>
                <a:latin typeface="Liberation Sans"/>
                <a:ea typeface="Liberation Sans"/>
                <a:cs typeface="Liberation Sans"/>
              </a:defRPr>
            </a:lvl5pPr>
            <a:lvl6pPr algn="l">
              <a:defRPr sz="3300" b="1">
                <a:solidFill>
                  <a:srgbClr val="173D33"/>
                </a:solidFill>
                <a:latin typeface="Liberation Sans"/>
                <a:ea typeface="Liberation Sans"/>
                <a:cs typeface="Liberation Sans"/>
              </a:defRPr>
            </a:lvl6pPr>
            <a:lvl7pPr algn="l">
              <a:defRPr sz="3300" b="1">
                <a:solidFill>
                  <a:srgbClr val="173D33"/>
                </a:solidFill>
                <a:latin typeface="Liberation Sans"/>
                <a:ea typeface="Liberation Sans"/>
                <a:cs typeface="Liberation Sans"/>
              </a:defRPr>
            </a:lvl7pPr>
            <a:lvl8pPr algn="l">
              <a:defRPr sz="3300" b="1">
                <a:solidFill>
                  <a:srgbClr val="173D33"/>
                </a:solidFill>
                <a:latin typeface="Liberation Sans"/>
                <a:ea typeface="Liberation Sans"/>
                <a:cs typeface="Liberation Sans"/>
              </a:defRPr>
            </a:lvl8pPr>
            <a:lvl9pPr algn="l">
              <a:defRPr sz="3300" b="1">
                <a:solidFill>
                  <a:srgbClr val="173D33"/>
                </a:solidFill>
                <a:latin typeface="Liberation Sans"/>
                <a:ea typeface="Liberation Sans"/>
                <a:cs typeface="Liberation Sans"/>
              </a:defRPr>
            </a:lvl9pPr>
          </a:lstStyle>
          <a:p xmlns:a="http://schemas.openxmlformats.org/drawingml/2006/main">
            <a:pPr algn="l">
              <a:defRPr sz="3300" b="1">
                <a:solidFill>
                  <a:srgbClr val="173D33"/>
                </a:solidFill>
                <a:latin typeface="Liberation Sans"/>
                <a:ea typeface="Liberation Sans"/>
                <a:cs typeface="Liberation Sans"/>
              </a:defRPr>
            </a:pPr>
            <a:r>
              <a:rPr sz="3300" b="1">
                <a:solidFill>
                  <a:srgbClr val="173D33"/>
                </a:solidFill>
                <a:latin typeface="Liberation Sans"/>
                <a:ea typeface="Liberation Sans"/>
                <a:cs typeface="Liberation Sans"/>
              </a:rPr>
              <a:t>Grounding controls</a:t>
            </a:r>
          </a:p>
        </p:txBody>
      </p:sp>
      <p:sp>
        <p:nvSpPr>
          <p:cNvPr id="3" name="06">
            <a:extLst xmlns:a="http://schemas.openxmlformats.org/drawingml/2006/main">
              <a:ext uri="{FF2B5EF4-FFF2-40B4-BE49-F238E27FC236}">
                <a16:creationId xmlns:a16="http://schemas.microsoft.com/office/drawing/2014/main" id="{AFAC4706-BBBA-4EC2-9111-1AD0600F1DE7}"/>
              </a:ext>
            </a:extLst>
          </p:cNvPr>
          <p:cNvSpPr>
            <a:spLocks xmlns:a="http://schemas.openxmlformats.org/drawingml/2006/main" noGrp="1"/>
          </p:cNvSpPr>
          <p:nvPr/>
        </p:nvSpPr>
        <p:spPr>
          <a:xfrm xmlns:a="http://schemas.openxmlformats.org/drawingml/2006/main">
            <a:off x="1106805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350" b="0">
                <a:solidFill>
                  <a:srgbClr val="708177"/>
                </a:solidFill>
                <a:latin typeface="Liberation Sans"/>
                <a:ea typeface="Liberation Sans"/>
                <a:cs typeface="Liberation Sans"/>
              </a:defRPr>
            </a:defPPr>
            <a:lvl1pPr algn="r">
              <a:defRPr sz="1350" b="0">
                <a:solidFill>
                  <a:srgbClr val="708177"/>
                </a:solidFill>
                <a:latin typeface="Liberation Sans"/>
                <a:ea typeface="Liberation Sans"/>
                <a:cs typeface="Liberation Sans"/>
              </a:defRPr>
            </a:lvl1pPr>
            <a:lvl2pPr algn="r">
              <a:defRPr sz="1350" b="0">
                <a:solidFill>
                  <a:srgbClr val="708177"/>
                </a:solidFill>
                <a:latin typeface="Liberation Sans"/>
                <a:ea typeface="Liberation Sans"/>
                <a:cs typeface="Liberation Sans"/>
              </a:defRPr>
            </a:lvl2pPr>
            <a:lvl3pPr algn="r">
              <a:defRPr sz="1350" b="0">
                <a:solidFill>
                  <a:srgbClr val="708177"/>
                </a:solidFill>
                <a:latin typeface="Liberation Sans"/>
                <a:ea typeface="Liberation Sans"/>
                <a:cs typeface="Liberation Sans"/>
              </a:defRPr>
            </a:lvl3pPr>
            <a:lvl4pPr algn="r">
              <a:defRPr sz="1350" b="0">
                <a:solidFill>
                  <a:srgbClr val="708177"/>
                </a:solidFill>
                <a:latin typeface="Liberation Sans"/>
                <a:ea typeface="Liberation Sans"/>
                <a:cs typeface="Liberation Sans"/>
              </a:defRPr>
            </a:lvl4pPr>
            <a:lvl5pPr algn="r">
              <a:defRPr sz="1350" b="0">
                <a:solidFill>
                  <a:srgbClr val="708177"/>
                </a:solidFill>
                <a:latin typeface="Liberation Sans"/>
                <a:ea typeface="Liberation Sans"/>
                <a:cs typeface="Liberation Sans"/>
              </a:defRPr>
            </a:lvl5pPr>
            <a:lvl6pPr algn="r">
              <a:defRPr sz="1350" b="0">
                <a:solidFill>
                  <a:srgbClr val="708177"/>
                </a:solidFill>
                <a:latin typeface="Liberation Sans"/>
                <a:ea typeface="Liberation Sans"/>
                <a:cs typeface="Liberation Sans"/>
              </a:defRPr>
            </a:lvl6pPr>
            <a:lvl7pPr algn="r">
              <a:defRPr sz="1350" b="0">
                <a:solidFill>
                  <a:srgbClr val="708177"/>
                </a:solidFill>
                <a:latin typeface="Liberation Sans"/>
                <a:ea typeface="Liberation Sans"/>
                <a:cs typeface="Liberation Sans"/>
              </a:defRPr>
            </a:lvl7pPr>
            <a:lvl8pPr algn="r">
              <a:defRPr sz="1350" b="0">
                <a:solidFill>
                  <a:srgbClr val="708177"/>
                </a:solidFill>
                <a:latin typeface="Liberation Sans"/>
                <a:ea typeface="Liberation Sans"/>
                <a:cs typeface="Liberation Sans"/>
              </a:defRPr>
            </a:lvl8pPr>
            <a:lvl9pPr algn="r">
              <a:defRPr sz="1350" b="0">
                <a:solidFill>
                  <a:srgbClr val="708177"/>
                </a:solidFill>
                <a:latin typeface="Liberation Sans"/>
                <a:ea typeface="Liberation Sans"/>
                <a:cs typeface="Liberation Sans"/>
              </a:defRPr>
            </a:lvl9pPr>
          </a:lstStyle>
          <a:p xmlns:a="http://schemas.openxmlformats.org/drawingml/2006/main">
            <a:pPr algn="r">
              <a:defRPr sz="1350" b="0">
                <a:solidFill>
                  <a:srgbClr val="708177"/>
                </a:solidFill>
                <a:latin typeface="Liberation Sans"/>
                <a:ea typeface="Liberation Sans"/>
                <a:cs typeface="Liberation Sans"/>
              </a:defRPr>
            </a:pPr>
            <a:r>
              <a:rPr sz="1350" b="0">
                <a:solidFill>
                  <a:srgbClr val="708177"/>
                </a:solidFill>
                <a:latin typeface="Liberation Sans"/>
                <a:ea typeface="Liberation Sans"/>
                <a:cs typeface="Liberation Sans"/>
              </a:rPr>
              <a:t>06</a:t>
            </a:r>
          </a:p>
        </p:txBody>
      </p:sp>
      <p:sp>
        <p:nvSpPr>
          <p:cNvPr id="4" name="Exact file questions use the catalog">
            <a:extLst xmlns:a="http://schemas.openxmlformats.org/drawingml/2006/main">
              <a:ext uri="{FF2B5EF4-FFF2-40B4-BE49-F238E27FC236}">
                <a16:creationId xmlns:a16="http://schemas.microsoft.com/office/drawing/2014/main" id="{1C070C61-F8A3-4998-8805-8CE0A58B9BB6}"/>
              </a:ext>
            </a:extLst>
          </p:cNvPr>
          <p:cNvSpPr>
            <a:spLocks xmlns:a="http://schemas.openxmlformats.org/drawingml/2006/main" noGrp="1"/>
          </p:cNvSpPr>
          <p:nvPr/>
        </p:nvSpPr>
        <p:spPr>
          <a:xfrm xmlns:a="http://schemas.openxmlformats.org/drawingml/2006/main">
            <a:off x="609600" y="1381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D33"/>
                </a:solidFill>
                <a:latin typeface="Liberation Sans"/>
                <a:ea typeface="Liberation Sans"/>
                <a:cs typeface="Liberation Sans"/>
              </a:defRPr>
            </a:defPPr>
            <a:lvl1pPr algn="l">
              <a:defRPr sz="2025" b="1">
                <a:solidFill>
                  <a:srgbClr val="173D33"/>
                </a:solidFill>
                <a:latin typeface="Liberation Sans"/>
                <a:ea typeface="Liberation Sans"/>
                <a:cs typeface="Liberation Sans"/>
              </a:defRPr>
            </a:lvl1pPr>
            <a:lvl2pPr algn="l">
              <a:defRPr sz="2025" b="1">
                <a:solidFill>
                  <a:srgbClr val="173D33"/>
                </a:solidFill>
                <a:latin typeface="Liberation Sans"/>
                <a:ea typeface="Liberation Sans"/>
                <a:cs typeface="Liberation Sans"/>
              </a:defRPr>
            </a:lvl2pPr>
            <a:lvl3pPr algn="l">
              <a:defRPr sz="2025" b="1">
                <a:solidFill>
                  <a:srgbClr val="173D33"/>
                </a:solidFill>
                <a:latin typeface="Liberation Sans"/>
                <a:ea typeface="Liberation Sans"/>
                <a:cs typeface="Liberation Sans"/>
              </a:defRPr>
            </a:lvl3pPr>
            <a:lvl4pPr algn="l">
              <a:defRPr sz="2025" b="1">
                <a:solidFill>
                  <a:srgbClr val="173D33"/>
                </a:solidFill>
                <a:latin typeface="Liberation Sans"/>
                <a:ea typeface="Liberation Sans"/>
                <a:cs typeface="Liberation Sans"/>
              </a:defRPr>
            </a:lvl4pPr>
            <a:lvl5pPr algn="l">
              <a:defRPr sz="2025" b="1">
                <a:solidFill>
                  <a:srgbClr val="173D33"/>
                </a:solidFill>
                <a:latin typeface="Liberation Sans"/>
                <a:ea typeface="Liberation Sans"/>
                <a:cs typeface="Liberation Sans"/>
              </a:defRPr>
            </a:lvl5pPr>
            <a:lvl6pPr algn="l">
              <a:defRPr sz="2025" b="1">
                <a:solidFill>
                  <a:srgbClr val="173D33"/>
                </a:solidFill>
                <a:latin typeface="Liberation Sans"/>
                <a:ea typeface="Liberation Sans"/>
                <a:cs typeface="Liberation Sans"/>
              </a:defRPr>
            </a:lvl6pPr>
            <a:lvl7pPr algn="l">
              <a:defRPr sz="2025" b="1">
                <a:solidFill>
                  <a:srgbClr val="173D33"/>
                </a:solidFill>
                <a:latin typeface="Liberation Sans"/>
                <a:ea typeface="Liberation Sans"/>
                <a:cs typeface="Liberation Sans"/>
              </a:defRPr>
            </a:lvl7pPr>
            <a:lvl8pPr algn="l">
              <a:defRPr sz="2025" b="1">
                <a:solidFill>
                  <a:srgbClr val="173D33"/>
                </a:solidFill>
                <a:latin typeface="Liberation Sans"/>
                <a:ea typeface="Liberation Sans"/>
                <a:cs typeface="Liberation Sans"/>
              </a:defRPr>
            </a:lvl8pPr>
            <a:lvl9pPr algn="l">
              <a:defRPr sz="2025" b="1">
                <a:solidFill>
                  <a:srgbClr val="173D33"/>
                </a:solidFill>
                <a:latin typeface="Liberation Sans"/>
                <a:ea typeface="Liberation Sans"/>
                <a:cs typeface="Liberation Sans"/>
              </a:defRPr>
            </a:lvl9pPr>
          </a:lstStyle>
          <a:p xmlns:a="http://schemas.openxmlformats.org/drawingml/2006/main">
            <a:pPr algn="l">
              <a:defRPr sz="2025" b="1">
                <a:solidFill>
                  <a:srgbClr val="173D33"/>
                </a:solidFill>
                <a:latin typeface="Liberation Sans"/>
                <a:ea typeface="Liberation Sans"/>
                <a:cs typeface="Liberation Sans"/>
              </a:defRPr>
            </a:pPr>
            <a:r>
              <a:rPr sz="2025" b="1">
                <a:solidFill>
                  <a:srgbClr val="173D33"/>
                </a:solidFill>
                <a:latin typeface="Liberation Sans"/>
                <a:ea typeface="Liberation Sans"/>
                <a:cs typeface="Liberation Sans"/>
              </a:rPr>
              <a:t>Exact file questions use the catalog</a:t>
            </a:r>
          </a:p>
        </p:txBody>
      </p:sp>
      <p:sp>
        <p:nvSpPr>
          <p:cNvPr id="5" name="File lists and filename checks read index met">
            <a:extLst xmlns:a="http://schemas.openxmlformats.org/drawingml/2006/main">
              <a:ext uri="{FF2B5EF4-FFF2-40B4-BE49-F238E27FC236}">
                <a16:creationId xmlns:a16="http://schemas.microsoft.com/office/drawing/2014/main" id="{F0E066D8-D688-415F-BAEB-3C87E29F999B}"/>
              </a:ext>
            </a:extLst>
          </p:cNvPr>
          <p:cNvSpPr>
            <a:spLocks xmlns:a="http://schemas.openxmlformats.org/drawingml/2006/main" noGrp="1"/>
          </p:cNvSpPr>
          <p:nvPr/>
        </p:nvSpPr>
        <p:spPr>
          <a:xfrm xmlns:a="http://schemas.openxmlformats.org/drawingml/2006/main">
            <a:off x="609600" y="180022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253B34"/>
                </a:solidFill>
                <a:latin typeface="Liberation Sans"/>
                <a:ea typeface="Liberation Sans"/>
                <a:cs typeface="Liberation Sans"/>
              </a:defRPr>
            </a:defPPr>
            <a:lvl1pPr algn="l">
              <a:defRPr sz="1950" b="0">
                <a:solidFill>
                  <a:srgbClr val="253B34"/>
                </a:solidFill>
                <a:latin typeface="Liberation Sans"/>
                <a:ea typeface="Liberation Sans"/>
                <a:cs typeface="Liberation Sans"/>
              </a:defRPr>
            </a:lvl1pPr>
            <a:lvl2pPr algn="l">
              <a:defRPr sz="1950" b="0">
                <a:solidFill>
                  <a:srgbClr val="253B34"/>
                </a:solidFill>
                <a:latin typeface="Liberation Sans"/>
                <a:ea typeface="Liberation Sans"/>
                <a:cs typeface="Liberation Sans"/>
              </a:defRPr>
            </a:lvl2pPr>
            <a:lvl3pPr algn="l">
              <a:defRPr sz="1950" b="0">
                <a:solidFill>
                  <a:srgbClr val="253B34"/>
                </a:solidFill>
                <a:latin typeface="Liberation Sans"/>
                <a:ea typeface="Liberation Sans"/>
                <a:cs typeface="Liberation Sans"/>
              </a:defRPr>
            </a:lvl3pPr>
            <a:lvl4pPr algn="l">
              <a:defRPr sz="1950" b="0">
                <a:solidFill>
                  <a:srgbClr val="253B34"/>
                </a:solidFill>
                <a:latin typeface="Liberation Sans"/>
                <a:ea typeface="Liberation Sans"/>
                <a:cs typeface="Liberation Sans"/>
              </a:defRPr>
            </a:lvl4pPr>
            <a:lvl5pPr algn="l">
              <a:defRPr sz="1950" b="0">
                <a:solidFill>
                  <a:srgbClr val="253B34"/>
                </a:solidFill>
                <a:latin typeface="Liberation Sans"/>
                <a:ea typeface="Liberation Sans"/>
                <a:cs typeface="Liberation Sans"/>
              </a:defRPr>
            </a:lvl5pPr>
            <a:lvl6pPr algn="l">
              <a:defRPr sz="1950" b="0">
                <a:solidFill>
                  <a:srgbClr val="253B34"/>
                </a:solidFill>
                <a:latin typeface="Liberation Sans"/>
                <a:ea typeface="Liberation Sans"/>
                <a:cs typeface="Liberation Sans"/>
              </a:defRPr>
            </a:lvl6pPr>
            <a:lvl7pPr algn="l">
              <a:defRPr sz="1950" b="0">
                <a:solidFill>
                  <a:srgbClr val="253B34"/>
                </a:solidFill>
                <a:latin typeface="Liberation Sans"/>
                <a:ea typeface="Liberation Sans"/>
                <a:cs typeface="Liberation Sans"/>
              </a:defRPr>
            </a:lvl7pPr>
            <a:lvl8pPr algn="l">
              <a:defRPr sz="1950" b="0">
                <a:solidFill>
                  <a:srgbClr val="253B34"/>
                </a:solidFill>
                <a:latin typeface="Liberation Sans"/>
                <a:ea typeface="Liberation Sans"/>
                <a:cs typeface="Liberation Sans"/>
              </a:defRPr>
            </a:lvl8pPr>
            <a:lvl9pPr algn="l">
              <a:defRPr sz="1950" b="0">
                <a:solidFill>
                  <a:srgbClr val="253B34"/>
                </a:solidFill>
                <a:latin typeface="Liberation Sans"/>
                <a:ea typeface="Liberation Sans"/>
                <a:cs typeface="Liberation Sans"/>
              </a:defRPr>
            </a:lvl9pPr>
          </a:lstStyle>
          <a:p xmlns:a="http://schemas.openxmlformats.org/drawingml/2006/main">
            <a:pPr algn="l">
              <a:defRPr sz="1950" b="0">
                <a:solidFill>
                  <a:srgbClr val="253B34"/>
                </a:solidFill>
                <a:latin typeface="Liberation Sans"/>
                <a:ea typeface="Liberation Sans"/>
                <a:cs typeface="Liberation Sans"/>
              </a:defRPr>
            </a:pPr>
            <a:r>
              <a:rPr sz="1950" b="0">
                <a:solidFill>
                  <a:srgbClr val="253B34"/>
                </a:solidFill>
                <a:latin typeface="Liberation Sans"/>
                <a:ea typeface="Liberation Sans"/>
                <a:cs typeface="Liberation Sans"/>
              </a:rPr>
              <a:t>File lists and filename checks read index metadata through MCP.</a:t>
            </a:r>
          </a:p>
        </p:txBody>
      </p:sp>
      <p:sp>
        <p:nvSpPr>
          <p:cNvPr id="6" name="Greetings avoid document retrieval">
            <a:extLst xmlns:a="http://schemas.openxmlformats.org/drawingml/2006/main">
              <a:ext uri="{FF2B5EF4-FFF2-40B4-BE49-F238E27FC236}">
                <a16:creationId xmlns:a16="http://schemas.microsoft.com/office/drawing/2014/main" id="{D8A2330C-6BA9-4C6B-9360-166C1EA0028A}"/>
              </a:ext>
            </a:extLst>
          </p:cNvPr>
          <p:cNvSpPr>
            <a:spLocks xmlns:a="http://schemas.openxmlformats.org/drawingml/2006/main" noGrp="1"/>
          </p:cNvSpPr>
          <p:nvPr/>
        </p:nvSpPr>
        <p:spPr>
          <a:xfrm xmlns:a="http://schemas.openxmlformats.org/drawingml/2006/main">
            <a:off x="609600" y="277177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D33"/>
                </a:solidFill>
                <a:latin typeface="Liberation Sans"/>
                <a:ea typeface="Liberation Sans"/>
                <a:cs typeface="Liberation Sans"/>
              </a:defRPr>
            </a:defPPr>
            <a:lvl1pPr algn="l">
              <a:defRPr sz="2025" b="1">
                <a:solidFill>
                  <a:srgbClr val="173D33"/>
                </a:solidFill>
                <a:latin typeface="Liberation Sans"/>
                <a:ea typeface="Liberation Sans"/>
                <a:cs typeface="Liberation Sans"/>
              </a:defRPr>
            </a:lvl1pPr>
            <a:lvl2pPr algn="l">
              <a:defRPr sz="2025" b="1">
                <a:solidFill>
                  <a:srgbClr val="173D33"/>
                </a:solidFill>
                <a:latin typeface="Liberation Sans"/>
                <a:ea typeface="Liberation Sans"/>
                <a:cs typeface="Liberation Sans"/>
              </a:defRPr>
            </a:lvl2pPr>
            <a:lvl3pPr algn="l">
              <a:defRPr sz="2025" b="1">
                <a:solidFill>
                  <a:srgbClr val="173D33"/>
                </a:solidFill>
                <a:latin typeface="Liberation Sans"/>
                <a:ea typeface="Liberation Sans"/>
                <a:cs typeface="Liberation Sans"/>
              </a:defRPr>
            </a:lvl3pPr>
            <a:lvl4pPr algn="l">
              <a:defRPr sz="2025" b="1">
                <a:solidFill>
                  <a:srgbClr val="173D33"/>
                </a:solidFill>
                <a:latin typeface="Liberation Sans"/>
                <a:ea typeface="Liberation Sans"/>
                <a:cs typeface="Liberation Sans"/>
              </a:defRPr>
            </a:lvl4pPr>
            <a:lvl5pPr algn="l">
              <a:defRPr sz="2025" b="1">
                <a:solidFill>
                  <a:srgbClr val="173D33"/>
                </a:solidFill>
                <a:latin typeface="Liberation Sans"/>
                <a:ea typeface="Liberation Sans"/>
                <a:cs typeface="Liberation Sans"/>
              </a:defRPr>
            </a:lvl5pPr>
            <a:lvl6pPr algn="l">
              <a:defRPr sz="2025" b="1">
                <a:solidFill>
                  <a:srgbClr val="173D33"/>
                </a:solidFill>
                <a:latin typeface="Liberation Sans"/>
                <a:ea typeface="Liberation Sans"/>
                <a:cs typeface="Liberation Sans"/>
              </a:defRPr>
            </a:lvl6pPr>
            <a:lvl7pPr algn="l">
              <a:defRPr sz="2025" b="1">
                <a:solidFill>
                  <a:srgbClr val="173D33"/>
                </a:solidFill>
                <a:latin typeface="Liberation Sans"/>
                <a:ea typeface="Liberation Sans"/>
                <a:cs typeface="Liberation Sans"/>
              </a:defRPr>
            </a:lvl7pPr>
            <a:lvl8pPr algn="l">
              <a:defRPr sz="2025" b="1">
                <a:solidFill>
                  <a:srgbClr val="173D33"/>
                </a:solidFill>
                <a:latin typeface="Liberation Sans"/>
                <a:ea typeface="Liberation Sans"/>
                <a:cs typeface="Liberation Sans"/>
              </a:defRPr>
            </a:lvl8pPr>
            <a:lvl9pPr algn="l">
              <a:defRPr sz="2025" b="1">
                <a:solidFill>
                  <a:srgbClr val="173D33"/>
                </a:solidFill>
                <a:latin typeface="Liberation Sans"/>
                <a:ea typeface="Liberation Sans"/>
                <a:cs typeface="Liberation Sans"/>
              </a:defRPr>
            </a:lvl9pPr>
          </a:lstStyle>
          <a:p xmlns:a="http://schemas.openxmlformats.org/drawingml/2006/main">
            <a:pPr algn="l">
              <a:defRPr sz="2025" b="1">
                <a:solidFill>
                  <a:srgbClr val="173D33"/>
                </a:solidFill>
                <a:latin typeface="Liberation Sans"/>
                <a:ea typeface="Liberation Sans"/>
                <a:cs typeface="Liberation Sans"/>
              </a:defRPr>
            </a:pPr>
            <a:r>
              <a:rPr sz="2025" b="1">
                <a:solidFill>
                  <a:srgbClr val="173D33"/>
                </a:solidFill>
                <a:latin typeface="Liberation Sans"/>
                <a:ea typeface="Liberation Sans"/>
                <a:cs typeface="Liberation Sans"/>
              </a:rPr>
              <a:t>Greetings avoid document retrieval</a:t>
            </a:r>
          </a:p>
        </p:txBody>
      </p:sp>
      <p:sp>
        <p:nvSpPr>
          <p:cNvPr id="7" name="A neutral greeting needs no model call or pro">
            <a:extLst xmlns:a="http://schemas.openxmlformats.org/drawingml/2006/main">
              <a:ext uri="{FF2B5EF4-FFF2-40B4-BE49-F238E27FC236}">
                <a16:creationId xmlns:a16="http://schemas.microsoft.com/office/drawing/2014/main" id="{C37A0CA7-F550-4D1E-A3BE-5EA14FAE6E6C}"/>
              </a:ext>
            </a:extLst>
          </p:cNvPr>
          <p:cNvSpPr>
            <a:spLocks xmlns:a="http://schemas.openxmlformats.org/drawingml/2006/main" noGrp="1"/>
          </p:cNvSpPr>
          <p:nvPr/>
        </p:nvSpPr>
        <p:spPr>
          <a:xfrm xmlns:a="http://schemas.openxmlformats.org/drawingml/2006/main">
            <a:off x="609600" y="31908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253B34"/>
                </a:solidFill>
                <a:latin typeface="Liberation Sans"/>
                <a:ea typeface="Liberation Sans"/>
                <a:cs typeface="Liberation Sans"/>
              </a:defRPr>
            </a:defPPr>
            <a:lvl1pPr algn="l">
              <a:defRPr sz="1950" b="0">
                <a:solidFill>
                  <a:srgbClr val="253B34"/>
                </a:solidFill>
                <a:latin typeface="Liberation Sans"/>
                <a:ea typeface="Liberation Sans"/>
                <a:cs typeface="Liberation Sans"/>
              </a:defRPr>
            </a:lvl1pPr>
            <a:lvl2pPr algn="l">
              <a:defRPr sz="1950" b="0">
                <a:solidFill>
                  <a:srgbClr val="253B34"/>
                </a:solidFill>
                <a:latin typeface="Liberation Sans"/>
                <a:ea typeface="Liberation Sans"/>
                <a:cs typeface="Liberation Sans"/>
              </a:defRPr>
            </a:lvl2pPr>
            <a:lvl3pPr algn="l">
              <a:defRPr sz="1950" b="0">
                <a:solidFill>
                  <a:srgbClr val="253B34"/>
                </a:solidFill>
                <a:latin typeface="Liberation Sans"/>
                <a:ea typeface="Liberation Sans"/>
                <a:cs typeface="Liberation Sans"/>
              </a:defRPr>
            </a:lvl3pPr>
            <a:lvl4pPr algn="l">
              <a:defRPr sz="1950" b="0">
                <a:solidFill>
                  <a:srgbClr val="253B34"/>
                </a:solidFill>
                <a:latin typeface="Liberation Sans"/>
                <a:ea typeface="Liberation Sans"/>
                <a:cs typeface="Liberation Sans"/>
              </a:defRPr>
            </a:lvl4pPr>
            <a:lvl5pPr algn="l">
              <a:defRPr sz="1950" b="0">
                <a:solidFill>
                  <a:srgbClr val="253B34"/>
                </a:solidFill>
                <a:latin typeface="Liberation Sans"/>
                <a:ea typeface="Liberation Sans"/>
                <a:cs typeface="Liberation Sans"/>
              </a:defRPr>
            </a:lvl5pPr>
            <a:lvl6pPr algn="l">
              <a:defRPr sz="1950" b="0">
                <a:solidFill>
                  <a:srgbClr val="253B34"/>
                </a:solidFill>
                <a:latin typeface="Liberation Sans"/>
                <a:ea typeface="Liberation Sans"/>
                <a:cs typeface="Liberation Sans"/>
              </a:defRPr>
            </a:lvl6pPr>
            <a:lvl7pPr algn="l">
              <a:defRPr sz="1950" b="0">
                <a:solidFill>
                  <a:srgbClr val="253B34"/>
                </a:solidFill>
                <a:latin typeface="Liberation Sans"/>
                <a:ea typeface="Liberation Sans"/>
                <a:cs typeface="Liberation Sans"/>
              </a:defRPr>
            </a:lvl7pPr>
            <a:lvl8pPr algn="l">
              <a:defRPr sz="1950" b="0">
                <a:solidFill>
                  <a:srgbClr val="253B34"/>
                </a:solidFill>
                <a:latin typeface="Liberation Sans"/>
                <a:ea typeface="Liberation Sans"/>
                <a:cs typeface="Liberation Sans"/>
              </a:defRPr>
            </a:lvl8pPr>
            <a:lvl9pPr algn="l">
              <a:defRPr sz="1950" b="0">
                <a:solidFill>
                  <a:srgbClr val="253B34"/>
                </a:solidFill>
                <a:latin typeface="Liberation Sans"/>
                <a:ea typeface="Liberation Sans"/>
                <a:cs typeface="Liberation Sans"/>
              </a:defRPr>
            </a:lvl9pPr>
          </a:lstStyle>
          <a:p xmlns:a="http://schemas.openxmlformats.org/drawingml/2006/main">
            <a:pPr algn="l">
              <a:defRPr sz="1950" b="0">
                <a:solidFill>
                  <a:srgbClr val="253B34"/>
                </a:solidFill>
                <a:latin typeface="Liberation Sans"/>
                <a:ea typeface="Liberation Sans"/>
                <a:cs typeface="Liberation Sans"/>
              </a:defRPr>
            </a:pPr>
            <a:r>
              <a:rPr sz="1950" b="0">
                <a:solidFill>
                  <a:srgbClr val="253B34"/>
                </a:solidFill>
                <a:latin typeface="Liberation Sans"/>
                <a:ea typeface="Liberation Sans"/>
                <a:cs typeface="Liberation Sans"/>
              </a:rPr>
              <a:t>A neutral greeting needs no model call or project assumption.</a:t>
            </a:r>
          </a:p>
        </p:txBody>
      </p:sp>
      <p:sp>
        <p:nvSpPr>
          <p:cNvPr id="8" name="Document answers retain inspectable evidence">
            <a:extLst xmlns:a="http://schemas.openxmlformats.org/drawingml/2006/main">
              <a:ext uri="{FF2B5EF4-FFF2-40B4-BE49-F238E27FC236}">
                <a16:creationId xmlns:a16="http://schemas.microsoft.com/office/drawing/2014/main" id="{C6B5CE59-D858-4412-B597-7870C1135F04}"/>
              </a:ext>
            </a:extLst>
          </p:cNvPr>
          <p:cNvSpPr>
            <a:spLocks xmlns:a="http://schemas.openxmlformats.org/drawingml/2006/main" noGrp="1"/>
          </p:cNvSpPr>
          <p:nvPr/>
        </p:nvSpPr>
        <p:spPr>
          <a:xfrm xmlns:a="http://schemas.openxmlformats.org/drawingml/2006/main">
            <a:off x="609600" y="41624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D33"/>
                </a:solidFill>
                <a:latin typeface="Liberation Sans"/>
                <a:ea typeface="Liberation Sans"/>
                <a:cs typeface="Liberation Sans"/>
              </a:defRPr>
            </a:defPPr>
            <a:lvl1pPr algn="l">
              <a:defRPr sz="2025" b="1">
                <a:solidFill>
                  <a:srgbClr val="173D33"/>
                </a:solidFill>
                <a:latin typeface="Liberation Sans"/>
                <a:ea typeface="Liberation Sans"/>
                <a:cs typeface="Liberation Sans"/>
              </a:defRPr>
            </a:lvl1pPr>
            <a:lvl2pPr algn="l">
              <a:defRPr sz="2025" b="1">
                <a:solidFill>
                  <a:srgbClr val="173D33"/>
                </a:solidFill>
                <a:latin typeface="Liberation Sans"/>
                <a:ea typeface="Liberation Sans"/>
                <a:cs typeface="Liberation Sans"/>
              </a:defRPr>
            </a:lvl2pPr>
            <a:lvl3pPr algn="l">
              <a:defRPr sz="2025" b="1">
                <a:solidFill>
                  <a:srgbClr val="173D33"/>
                </a:solidFill>
                <a:latin typeface="Liberation Sans"/>
                <a:ea typeface="Liberation Sans"/>
                <a:cs typeface="Liberation Sans"/>
              </a:defRPr>
            </a:lvl3pPr>
            <a:lvl4pPr algn="l">
              <a:defRPr sz="2025" b="1">
                <a:solidFill>
                  <a:srgbClr val="173D33"/>
                </a:solidFill>
                <a:latin typeface="Liberation Sans"/>
                <a:ea typeface="Liberation Sans"/>
                <a:cs typeface="Liberation Sans"/>
              </a:defRPr>
            </a:lvl4pPr>
            <a:lvl5pPr algn="l">
              <a:defRPr sz="2025" b="1">
                <a:solidFill>
                  <a:srgbClr val="173D33"/>
                </a:solidFill>
                <a:latin typeface="Liberation Sans"/>
                <a:ea typeface="Liberation Sans"/>
                <a:cs typeface="Liberation Sans"/>
              </a:defRPr>
            </a:lvl5pPr>
            <a:lvl6pPr algn="l">
              <a:defRPr sz="2025" b="1">
                <a:solidFill>
                  <a:srgbClr val="173D33"/>
                </a:solidFill>
                <a:latin typeface="Liberation Sans"/>
                <a:ea typeface="Liberation Sans"/>
                <a:cs typeface="Liberation Sans"/>
              </a:defRPr>
            </a:lvl6pPr>
            <a:lvl7pPr algn="l">
              <a:defRPr sz="2025" b="1">
                <a:solidFill>
                  <a:srgbClr val="173D33"/>
                </a:solidFill>
                <a:latin typeface="Liberation Sans"/>
                <a:ea typeface="Liberation Sans"/>
                <a:cs typeface="Liberation Sans"/>
              </a:defRPr>
            </a:lvl7pPr>
            <a:lvl8pPr algn="l">
              <a:defRPr sz="2025" b="1">
                <a:solidFill>
                  <a:srgbClr val="173D33"/>
                </a:solidFill>
                <a:latin typeface="Liberation Sans"/>
                <a:ea typeface="Liberation Sans"/>
                <a:cs typeface="Liberation Sans"/>
              </a:defRPr>
            </a:lvl8pPr>
            <a:lvl9pPr algn="l">
              <a:defRPr sz="2025" b="1">
                <a:solidFill>
                  <a:srgbClr val="173D33"/>
                </a:solidFill>
                <a:latin typeface="Liberation Sans"/>
                <a:ea typeface="Liberation Sans"/>
                <a:cs typeface="Liberation Sans"/>
              </a:defRPr>
            </a:lvl9pPr>
          </a:lstStyle>
          <a:p xmlns:a="http://schemas.openxmlformats.org/drawingml/2006/main">
            <a:pPr algn="l">
              <a:defRPr sz="2025" b="1">
                <a:solidFill>
                  <a:srgbClr val="173D33"/>
                </a:solidFill>
                <a:latin typeface="Liberation Sans"/>
                <a:ea typeface="Liberation Sans"/>
                <a:cs typeface="Liberation Sans"/>
              </a:defRPr>
            </a:pPr>
            <a:r>
              <a:rPr sz="2025" b="1">
                <a:solidFill>
                  <a:srgbClr val="173D33"/>
                </a:solidFill>
                <a:latin typeface="Liberation Sans"/>
                <a:ea typeface="Liberation Sans"/>
                <a:cs typeface="Liberation Sans"/>
              </a:rPr>
              <a:t>Document answers retain inspectable evidence</a:t>
            </a:r>
          </a:p>
        </p:txBody>
      </p:sp>
      <p:sp>
        <p:nvSpPr>
          <p:cNvPr id="9" name="Serialized context fitting preserves whole ev">
            <a:extLst xmlns:a="http://schemas.openxmlformats.org/drawingml/2006/main">
              <a:ext uri="{FF2B5EF4-FFF2-40B4-BE49-F238E27FC236}">
                <a16:creationId xmlns:a16="http://schemas.microsoft.com/office/drawing/2014/main" id="{ACD8F2A0-E13B-481C-BCE2-F96D8BCE4B69}"/>
              </a:ext>
            </a:extLst>
          </p:cNvPr>
          <p:cNvSpPr>
            <a:spLocks xmlns:a="http://schemas.openxmlformats.org/drawingml/2006/main" noGrp="1"/>
          </p:cNvSpPr>
          <p:nvPr/>
        </p:nvSpPr>
        <p:spPr>
          <a:xfrm xmlns:a="http://schemas.openxmlformats.org/drawingml/2006/main">
            <a:off x="609600" y="458152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0">
                <a:solidFill>
                  <a:srgbClr val="253B34"/>
                </a:solidFill>
                <a:latin typeface="Liberation Sans"/>
                <a:ea typeface="Liberation Sans"/>
                <a:cs typeface="Liberation Sans"/>
              </a:defRPr>
            </a:defPPr>
            <a:lvl1pPr algn="l">
              <a:defRPr sz="1950" b="0">
                <a:solidFill>
                  <a:srgbClr val="253B34"/>
                </a:solidFill>
                <a:latin typeface="Liberation Sans"/>
                <a:ea typeface="Liberation Sans"/>
                <a:cs typeface="Liberation Sans"/>
              </a:defRPr>
            </a:lvl1pPr>
            <a:lvl2pPr algn="l">
              <a:defRPr sz="1950" b="0">
                <a:solidFill>
                  <a:srgbClr val="253B34"/>
                </a:solidFill>
                <a:latin typeface="Liberation Sans"/>
                <a:ea typeface="Liberation Sans"/>
                <a:cs typeface="Liberation Sans"/>
              </a:defRPr>
            </a:lvl2pPr>
            <a:lvl3pPr algn="l">
              <a:defRPr sz="1950" b="0">
                <a:solidFill>
                  <a:srgbClr val="253B34"/>
                </a:solidFill>
                <a:latin typeface="Liberation Sans"/>
                <a:ea typeface="Liberation Sans"/>
                <a:cs typeface="Liberation Sans"/>
              </a:defRPr>
            </a:lvl3pPr>
            <a:lvl4pPr algn="l">
              <a:defRPr sz="1950" b="0">
                <a:solidFill>
                  <a:srgbClr val="253B34"/>
                </a:solidFill>
                <a:latin typeface="Liberation Sans"/>
                <a:ea typeface="Liberation Sans"/>
                <a:cs typeface="Liberation Sans"/>
              </a:defRPr>
            </a:lvl4pPr>
            <a:lvl5pPr algn="l">
              <a:defRPr sz="1950" b="0">
                <a:solidFill>
                  <a:srgbClr val="253B34"/>
                </a:solidFill>
                <a:latin typeface="Liberation Sans"/>
                <a:ea typeface="Liberation Sans"/>
                <a:cs typeface="Liberation Sans"/>
              </a:defRPr>
            </a:lvl5pPr>
            <a:lvl6pPr algn="l">
              <a:defRPr sz="1950" b="0">
                <a:solidFill>
                  <a:srgbClr val="253B34"/>
                </a:solidFill>
                <a:latin typeface="Liberation Sans"/>
                <a:ea typeface="Liberation Sans"/>
                <a:cs typeface="Liberation Sans"/>
              </a:defRPr>
            </a:lvl6pPr>
            <a:lvl7pPr algn="l">
              <a:defRPr sz="1950" b="0">
                <a:solidFill>
                  <a:srgbClr val="253B34"/>
                </a:solidFill>
                <a:latin typeface="Liberation Sans"/>
                <a:ea typeface="Liberation Sans"/>
                <a:cs typeface="Liberation Sans"/>
              </a:defRPr>
            </a:lvl7pPr>
            <a:lvl8pPr algn="l">
              <a:defRPr sz="1950" b="0">
                <a:solidFill>
                  <a:srgbClr val="253B34"/>
                </a:solidFill>
                <a:latin typeface="Liberation Sans"/>
                <a:ea typeface="Liberation Sans"/>
                <a:cs typeface="Liberation Sans"/>
              </a:defRPr>
            </a:lvl8pPr>
            <a:lvl9pPr algn="l">
              <a:defRPr sz="1950" b="0">
                <a:solidFill>
                  <a:srgbClr val="253B34"/>
                </a:solidFill>
                <a:latin typeface="Liberation Sans"/>
                <a:ea typeface="Liberation Sans"/>
                <a:cs typeface="Liberation Sans"/>
              </a:defRPr>
            </a:lvl9pPr>
          </a:lstStyle>
          <a:p xmlns:a="http://schemas.openxmlformats.org/drawingml/2006/main">
            <a:pPr algn="l">
              <a:defRPr sz="1950" b="0">
                <a:solidFill>
                  <a:srgbClr val="253B34"/>
                </a:solidFill>
                <a:latin typeface="Liberation Sans"/>
                <a:ea typeface="Liberation Sans"/>
                <a:cs typeface="Liberation Sans"/>
              </a:defRPr>
            </a:pPr>
            <a:r>
              <a:rPr sz="1950" b="0">
                <a:solidFill>
                  <a:srgbClr val="253B34"/>
                </a:solidFill>
                <a:latin typeface="Liberation Sans"/>
                <a:ea typeface="Liberation Sans"/>
                <a:cs typeface="Liberation Sans"/>
              </a:rPr>
              <a:t>Evidence records fit the serialized budget.</a:t>
            </a:r>
          </a:p>
          <a:p xmlns:a="http://schemas.openxmlformats.org/drawingml/2006/main">
            <a:pPr algn="l">
              <a:defRPr sz="1950" b="0">
                <a:solidFill>
                  <a:srgbClr val="253B34"/>
                </a:solidFill>
                <a:latin typeface="Liberation Sans"/>
                <a:ea typeface="Liberation Sans"/>
                <a:cs typeface="Liberation Sans"/>
              </a:defRPr>
            </a:pPr>
            <a:r>
              <a:rPr sz="1950" b="0">
                <a:solidFill>
                  <a:srgbClr val="253B34"/>
                </a:solidFill>
                <a:latin typeface="Liberation Sans"/>
                <a:ea typeface="Liberation Sans"/>
                <a:cs typeface="Liberation Sans"/>
              </a:rPr>
              <a:t>Failed reference checks return exact source excerpts.</a:t>
            </a:r>
          </a:p>
        </p:txBody>
      </p:sp>
      <p:sp>
        <p:nvSpPr>
          <p:cNvPr id="10" name="A valid citation can still fail to support a ">
            <a:extLst xmlns:a="http://schemas.openxmlformats.org/drawingml/2006/main">
              <a:ext uri="{FF2B5EF4-FFF2-40B4-BE49-F238E27FC236}">
                <a16:creationId xmlns:a16="http://schemas.microsoft.com/office/drawing/2014/main" id="{853E2675-A488-4DBF-82C2-1EA622F88990}"/>
              </a:ext>
            </a:extLst>
          </p:cNvPr>
          <p:cNvSpPr>
            <a:spLocks xmlns:a="http://schemas.openxmlformats.org/drawingml/2006/main" noGrp="1"/>
          </p:cNvSpPr>
          <p:nvPr/>
        </p:nvSpPr>
        <p:spPr>
          <a:xfrm xmlns:a="http://schemas.openxmlformats.org/drawingml/2006/main">
            <a:off x="609600" y="5810250"/>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277B63"/>
                </a:solidFill>
                <a:latin typeface="Liberation Sans"/>
                <a:ea typeface="Liberation Sans"/>
                <a:cs typeface="Liberation Sans"/>
              </a:defRPr>
            </a:defPPr>
            <a:lvl1pPr algn="l">
              <a:defRPr sz="2025" b="1">
                <a:solidFill>
                  <a:srgbClr val="277B63"/>
                </a:solidFill>
                <a:latin typeface="Liberation Sans"/>
                <a:ea typeface="Liberation Sans"/>
                <a:cs typeface="Liberation Sans"/>
              </a:defRPr>
            </a:lvl1pPr>
            <a:lvl2pPr algn="l">
              <a:defRPr sz="2025" b="1">
                <a:solidFill>
                  <a:srgbClr val="277B63"/>
                </a:solidFill>
                <a:latin typeface="Liberation Sans"/>
                <a:ea typeface="Liberation Sans"/>
                <a:cs typeface="Liberation Sans"/>
              </a:defRPr>
            </a:lvl2pPr>
            <a:lvl3pPr algn="l">
              <a:defRPr sz="2025" b="1">
                <a:solidFill>
                  <a:srgbClr val="277B63"/>
                </a:solidFill>
                <a:latin typeface="Liberation Sans"/>
                <a:ea typeface="Liberation Sans"/>
                <a:cs typeface="Liberation Sans"/>
              </a:defRPr>
            </a:lvl3pPr>
            <a:lvl4pPr algn="l">
              <a:defRPr sz="2025" b="1">
                <a:solidFill>
                  <a:srgbClr val="277B63"/>
                </a:solidFill>
                <a:latin typeface="Liberation Sans"/>
                <a:ea typeface="Liberation Sans"/>
                <a:cs typeface="Liberation Sans"/>
              </a:defRPr>
            </a:lvl4pPr>
            <a:lvl5pPr algn="l">
              <a:defRPr sz="2025" b="1">
                <a:solidFill>
                  <a:srgbClr val="277B63"/>
                </a:solidFill>
                <a:latin typeface="Liberation Sans"/>
                <a:ea typeface="Liberation Sans"/>
                <a:cs typeface="Liberation Sans"/>
              </a:defRPr>
            </a:lvl5pPr>
            <a:lvl6pPr algn="l">
              <a:defRPr sz="2025" b="1">
                <a:solidFill>
                  <a:srgbClr val="277B63"/>
                </a:solidFill>
                <a:latin typeface="Liberation Sans"/>
                <a:ea typeface="Liberation Sans"/>
                <a:cs typeface="Liberation Sans"/>
              </a:defRPr>
            </a:lvl6pPr>
            <a:lvl7pPr algn="l">
              <a:defRPr sz="2025" b="1">
                <a:solidFill>
                  <a:srgbClr val="277B63"/>
                </a:solidFill>
                <a:latin typeface="Liberation Sans"/>
                <a:ea typeface="Liberation Sans"/>
                <a:cs typeface="Liberation Sans"/>
              </a:defRPr>
            </a:lvl7pPr>
            <a:lvl8pPr algn="l">
              <a:defRPr sz="2025" b="1">
                <a:solidFill>
                  <a:srgbClr val="277B63"/>
                </a:solidFill>
                <a:latin typeface="Liberation Sans"/>
                <a:ea typeface="Liberation Sans"/>
                <a:cs typeface="Liberation Sans"/>
              </a:defRPr>
            </a:lvl8pPr>
            <a:lvl9pPr algn="l">
              <a:defRPr sz="2025" b="1">
                <a:solidFill>
                  <a:srgbClr val="277B63"/>
                </a:solidFill>
                <a:latin typeface="Liberation Sans"/>
                <a:ea typeface="Liberation Sans"/>
                <a:cs typeface="Liberation Sans"/>
              </a:defRPr>
            </a:lvl9pPr>
          </a:lstStyle>
          <a:p xmlns:a="http://schemas.openxmlformats.org/drawingml/2006/main">
            <a:pPr algn="l">
              <a:defRPr sz="2025" b="1">
                <a:solidFill>
                  <a:srgbClr val="277B63"/>
                </a:solidFill>
                <a:latin typeface="Liberation Sans"/>
                <a:ea typeface="Liberation Sans"/>
                <a:cs typeface="Liberation Sans"/>
              </a:defRPr>
            </a:pPr>
            <a:r>
              <a:rPr sz="2025" b="1">
                <a:solidFill>
                  <a:srgbClr val="277B63"/>
                </a:solidFill>
                <a:latin typeface="Liberation Sans"/>
                <a:ea typeface="Liberation Sans"/>
                <a:cs typeface="Liberation Sans"/>
              </a:rPr>
              <a:t>A valid citation can still fail to support a claim</a:t>
            </a:r>
          </a:p>
        </p:txBody>
      </p:sp>
    </p:spTree>
    <p:extLst>
      <p:ext uri="{BB962C8B-B14F-4D97-AF65-F5344CB8AC3E}">
        <p14:creationId xmlns:p14="http://schemas.microsoft.com/office/powerpoint/2010/main" val="1013823183"/>
      </p:ext>
    </p:extLst>
  </p:cSld>
</p:sld>
</file>

<file path=ppt/slides/slide7.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1137447B-537D-4741-9639-7D66A5967A1A}"/>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73D33"/>
                </a:solidFill>
                <a:latin typeface="Liberation Sans"/>
                <a:ea typeface="Liberation Sans"/>
                <a:cs typeface="Liberation Sans"/>
              </a:defRPr>
            </a:defPPr>
            <a:lvl1pPr algn="l">
              <a:defRPr sz="3300" b="1">
                <a:solidFill>
                  <a:srgbClr val="173D33"/>
                </a:solidFill>
                <a:latin typeface="Liberation Sans"/>
                <a:ea typeface="Liberation Sans"/>
                <a:cs typeface="Liberation Sans"/>
              </a:defRPr>
            </a:lvl1pPr>
            <a:lvl2pPr algn="l">
              <a:defRPr sz="3300" b="1">
                <a:solidFill>
                  <a:srgbClr val="173D33"/>
                </a:solidFill>
                <a:latin typeface="Liberation Sans"/>
                <a:ea typeface="Liberation Sans"/>
                <a:cs typeface="Liberation Sans"/>
              </a:defRPr>
            </a:lvl2pPr>
            <a:lvl3pPr algn="l">
              <a:defRPr sz="3300" b="1">
                <a:solidFill>
                  <a:srgbClr val="173D33"/>
                </a:solidFill>
                <a:latin typeface="Liberation Sans"/>
                <a:ea typeface="Liberation Sans"/>
                <a:cs typeface="Liberation Sans"/>
              </a:defRPr>
            </a:lvl3pPr>
            <a:lvl4pPr algn="l">
              <a:defRPr sz="3300" b="1">
                <a:solidFill>
                  <a:srgbClr val="173D33"/>
                </a:solidFill>
                <a:latin typeface="Liberation Sans"/>
                <a:ea typeface="Liberation Sans"/>
                <a:cs typeface="Liberation Sans"/>
              </a:defRPr>
            </a:lvl4pPr>
            <a:lvl5pPr algn="l">
              <a:defRPr sz="3300" b="1">
                <a:solidFill>
                  <a:srgbClr val="173D33"/>
                </a:solidFill>
                <a:latin typeface="Liberation Sans"/>
                <a:ea typeface="Liberation Sans"/>
                <a:cs typeface="Liberation Sans"/>
              </a:defRPr>
            </a:lvl5pPr>
            <a:lvl6pPr algn="l">
              <a:defRPr sz="3300" b="1">
                <a:solidFill>
                  <a:srgbClr val="173D33"/>
                </a:solidFill>
                <a:latin typeface="Liberation Sans"/>
                <a:ea typeface="Liberation Sans"/>
                <a:cs typeface="Liberation Sans"/>
              </a:defRPr>
            </a:lvl6pPr>
            <a:lvl7pPr algn="l">
              <a:defRPr sz="3300" b="1">
                <a:solidFill>
                  <a:srgbClr val="173D33"/>
                </a:solidFill>
                <a:latin typeface="Liberation Sans"/>
                <a:ea typeface="Liberation Sans"/>
                <a:cs typeface="Liberation Sans"/>
              </a:defRPr>
            </a:lvl7pPr>
            <a:lvl8pPr algn="l">
              <a:defRPr sz="3300" b="1">
                <a:solidFill>
                  <a:srgbClr val="173D33"/>
                </a:solidFill>
                <a:latin typeface="Liberation Sans"/>
                <a:ea typeface="Liberation Sans"/>
                <a:cs typeface="Liberation Sans"/>
              </a:defRPr>
            </a:lvl8pPr>
            <a:lvl9pPr algn="l">
              <a:defRPr sz="3300" b="1">
                <a:solidFill>
                  <a:srgbClr val="173D33"/>
                </a:solidFill>
                <a:latin typeface="Liberation Sans"/>
                <a:ea typeface="Liberation Sans"/>
                <a:cs typeface="Liberation Sans"/>
              </a:defRPr>
            </a:lvl9pPr>
          </a:lstStyle>
          <a:p xmlns:a="http://schemas.openxmlformats.org/drawingml/2006/main">
            <a:pPr algn="l">
              <a:defRPr sz="3300" b="1">
                <a:solidFill>
                  <a:srgbClr val="173D33"/>
                </a:solidFill>
                <a:latin typeface="Liberation Sans"/>
                <a:ea typeface="Liberation Sans"/>
                <a:cs typeface="Liberation Sans"/>
              </a:defRPr>
            </a:pPr>
            <a:r>
              <a:rPr sz="3300" b="1">
                <a:solidFill>
                  <a:srgbClr val="173D33"/>
                </a:solidFill>
                <a:latin typeface="Liberation Sans"/>
                <a:ea typeface="Liberation Sans"/>
                <a:cs typeface="Liberation Sans"/>
              </a:rPr>
              <a:t>Implementation and laptop configuration</a:t>
            </a:r>
          </a:p>
        </p:txBody>
      </p:sp>
      <p:sp>
        <p:nvSpPr>
          <p:cNvPr id="3" name="07">
            <a:extLst xmlns:a="http://schemas.openxmlformats.org/drawingml/2006/main">
              <a:ext uri="{FF2B5EF4-FFF2-40B4-BE49-F238E27FC236}">
                <a16:creationId xmlns:a16="http://schemas.microsoft.com/office/drawing/2014/main" id="{45C0A247-522D-43D7-9113-805F9AF8AE5C}"/>
              </a:ext>
            </a:extLst>
          </p:cNvPr>
          <p:cNvSpPr>
            <a:spLocks xmlns:a="http://schemas.openxmlformats.org/drawingml/2006/main" noGrp="1"/>
          </p:cNvSpPr>
          <p:nvPr/>
        </p:nvSpPr>
        <p:spPr>
          <a:xfrm xmlns:a="http://schemas.openxmlformats.org/drawingml/2006/main">
            <a:off x="1106805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350" b="0">
                <a:solidFill>
                  <a:srgbClr val="708177"/>
                </a:solidFill>
                <a:latin typeface="Liberation Sans"/>
                <a:ea typeface="Liberation Sans"/>
                <a:cs typeface="Liberation Sans"/>
              </a:defRPr>
            </a:defPPr>
            <a:lvl1pPr algn="r">
              <a:defRPr sz="1350" b="0">
                <a:solidFill>
                  <a:srgbClr val="708177"/>
                </a:solidFill>
                <a:latin typeface="Liberation Sans"/>
                <a:ea typeface="Liberation Sans"/>
                <a:cs typeface="Liberation Sans"/>
              </a:defRPr>
            </a:lvl1pPr>
            <a:lvl2pPr algn="r">
              <a:defRPr sz="1350" b="0">
                <a:solidFill>
                  <a:srgbClr val="708177"/>
                </a:solidFill>
                <a:latin typeface="Liberation Sans"/>
                <a:ea typeface="Liberation Sans"/>
                <a:cs typeface="Liberation Sans"/>
              </a:defRPr>
            </a:lvl2pPr>
            <a:lvl3pPr algn="r">
              <a:defRPr sz="1350" b="0">
                <a:solidFill>
                  <a:srgbClr val="708177"/>
                </a:solidFill>
                <a:latin typeface="Liberation Sans"/>
                <a:ea typeface="Liberation Sans"/>
                <a:cs typeface="Liberation Sans"/>
              </a:defRPr>
            </a:lvl3pPr>
            <a:lvl4pPr algn="r">
              <a:defRPr sz="1350" b="0">
                <a:solidFill>
                  <a:srgbClr val="708177"/>
                </a:solidFill>
                <a:latin typeface="Liberation Sans"/>
                <a:ea typeface="Liberation Sans"/>
                <a:cs typeface="Liberation Sans"/>
              </a:defRPr>
            </a:lvl4pPr>
            <a:lvl5pPr algn="r">
              <a:defRPr sz="1350" b="0">
                <a:solidFill>
                  <a:srgbClr val="708177"/>
                </a:solidFill>
                <a:latin typeface="Liberation Sans"/>
                <a:ea typeface="Liberation Sans"/>
                <a:cs typeface="Liberation Sans"/>
              </a:defRPr>
            </a:lvl5pPr>
            <a:lvl6pPr algn="r">
              <a:defRPr sz="1350" b="0">
                <a:solidFill>
                  <a:srgbClr val="708177"/>
                </a:solidFill>
                <a:latin typeface="Liberation Sans"/>
                <a:ea typeface="Liberation Sans"/>
                <a:cs typeface="Liberation Sans"/>
              </a:defRPr>
            </a:lvl6pPr>
            <a:lvl7pPr algn="r">
              <a:defRPr sz="1350" b="0">
                <a:solidFill>
                  <a:srgbClr val="708177"/>
                </a:solidFill>
                <a:latin typeface="Liberation Sans"/>
                <a:ea typeface="Liberation Sans"/>
                <a:cs typeface="Liberation Sans"/>
              </a:defRPr>
            </a:lvl7pPr>
            <a:lvl8pPr algn="r">
              <a:defRPr sz="1350" b="0">
                <a:solidFill>
                  <a:srgbClr val="708177"/>
                </a:solidFill>
                <a:latin typeface="Liberation Sans"/>
                <a:ea typeface="Liberation Sans"/>
                <a:cs typeface="Liberation Sans"/>
              </a:defRPr>
            </a:lvl8pPr>
            <a:lvl9pPr algn="r">
              <a:defRPr sz="1350" b="0">
                <a:solidFill>
                  <a:srgbClr val="708177"/>
                </a:solidFill>
                <a:latin typeface="Liberation Sans"/>
                <a:ea typeface="Liberation Sans"/>
                <a:cs typeface="Liberation Sans"/>
              </a:defRPr>
            </a:lvl9pPr>
          </a:lstStyle>
          <a:p xmlns:a="http://schemas.openxmlformats.org/drawingml/2006/main">
            <a:pPr algn="r">
              <a:defRPr sz="1350" b="0">
                <a:solidFill>
                  <a:srgbClr val="708177"/>
                </a:solidFill>
                <a:latin typeface="Liberation Sans"/>
                <a:ea typeface="Liberation Sans"/>
                <a:cs typeface="Liberation Sans"/>
              </a:defRPr>
            </a:pPr>
            <a:r>
              <a:rPr sz="1350" b="0">
                <a:solidFill>
                  <a:srgbClr val="708177"/>
                </a:solidFill>
                <a:latin typeface="Liberation Sans"/>
                <a:ea typeface="Liberation Sans"/>
                <a:cs typeface="Liberation Sans"/>
              </a:rPr>
              <a:t>07</a:t>
            </a:r>
          </a:p>
        </p:txBody>
      </p:sp>
      <p:sp>
        <p:nvSpPr>
          <p:cNvPr id="4" name="RTX 5050 Laptop GPU&#10;Ryzen 7 250&#10;16 GB RAM">
            <a:extLst xmlns:a="http://schemas.openxmlformats.org/drawingml/2006/main">
              <a:ext uri="{FF2B5EF4-FFF2-40B4-BE49-F238E27FC236}">
                <a16:creationId xmlns:a16="http://schemas.microsoft.com/office/drawing/2014/main" id="{4AAE6E52-F86E-4DB4-8155-778F811617A9}"/>
              </a:ext>
            </a:extLst>
          </p:cNvPr>
          <p:cNvSpPr>
            <a:spLocks xmlns:a="http://schemas.openxmlformats.org/drawingml/2006/main" noGrp="1"/>
          </p:cNvSpPr>
          <p:nvPr/>
        </p:nvSpPr>
        <p:spPr>
          <a:xfrm xmlns:a="http://schemas.openxmlformats.org/drawingml/2006/main">
            <a:off x="609600" y="1457325"/>
            <a:ext cx="47625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253B34"/>
                </a:solidFill>
                <a:latin typeface="Liberation Sans"/>
                <a:ea typeface="Liberation Sans"/>
                <a:cs typeface="Liberation Sans"/>
              </a:defRPr>
            </a:defPPr>
            <a:lvl1pPr algn="l">
              <a:defRPr sz="2550" b="1">
                <a:solidFill>
                  <a:srgbClr val="253B34"/>
                </a:solidFill>
                <a:latin typeface="Liberation Sans"/>
                <a:ea typeface="Liberation Sans"/>
                <a:cs typeface="Liberation Sans"/>
              </a:defRPr>
            </a:lvl1pPr>
            <a:lvl2pPr algn="l">
              <a:defRPr sz="2550" b="1">
                <a:solidFill>
                  <a:srgbClr val="253B34"/>
                </a:solidFill>
                <a:latin typeface="Liberation Sans"/>
                <a:ea typeface="Liberation Sans"/>
                <a:cs typeface="Liberation Sans"/>
              </a:defRPr>
            </a:lvl2pPr>
            <a:lvl3pPr algn="l">
              <a:defRPr sz="2550" b="1">
                <a:solidFill>
                  <a:srgbClr val="253B34"/>
                </a:solidFill>
                <a:latin typeface="Liberation Sans"/>
                <a:ea typeface="Liberation Sans"/>
                <a:cs typeface="Liberation Sans"/>
              </a:defRPr>
            </a:lvl3pPr>
            <a:lvl4pPr algn="l">
              <a:defRPr sz="2550" b="1">
                <a:solidFill>
                  <a:srgbClr val="253B34"/>
                </a:solidFill>
                <a:latin typeface="Liberation Sans"/>
                <a:ea typeface="Liberation Sans"/>
                <a:cs typeface="Liberation Sans"/>
              </a:defRPr>
            </a:lvl4pPr>
            <a:lvl5pPr algn="l">
              <a:defRPr sz="2550" b="1">
                <a:solidFill>
                  <a:srgbClr val="253B34"/>
                </a:solidFill>
                <a:latin typeface="Liberation Sans"/>
                <a:ea typeface="Liberation Sans"/>
                <a:cs typeface="Liberation Sans"/>
              </a:defRPr>
            </a:lvl5pPr>
            <a:lvl6pPr algn="l">
              <a:defRPr sz="2550" b="1">
                <a:solidFill>
                  <a:srgbClr val="253B34"/>
                </a:solidFill>
                <a:latin typeface="Liberation Sans"/>
                <a:ea typeface="Liberation Sans"/>
                <a:cs typeface="Liberation Sans"/>
              </a:defRPr>
            </a:lvl6pPr>
            <a:lvl7pPr algn="l">
              <a:defRPr sz="2550" b="1">
                <a:solidFill>
                  <a:srgbClr val="253B34"/>
                </a:solidFill>
                <a:latin typeface="Liberation Sans"/>
                <a:ea typeface="Liberation Sans"/>
                <a:cs typeface="Liberation Sans"/>
              </a:defRPr>
            </a:lvl7pPr>
            <a:lvl8pPr algn="l">
              <a:defRPr sz="2550" b="1">
                <a:solidFill>
                  <a:srgbClr val="253B34"/>
                </a:solidFill>
                <a:latin typeface="Liberation Sans"/>
                <a:ea typeface="Liberation Sans"/>
                <a:cs typeface="Liberation Sans"/>
              </a:defRPr>
            </a:lvl8pPr>
            <a:lvl9pPr algn="l">
              <a:defRPr sz="2550" b="1">
                <a:solidFill>
                  <a:srgbClr val="253B34"/>
                </a:solidFill>
                <a:latin typeface="Liberation Sans"/>
                <a:ea typeface="Liberation Sans"/>
                <a:cs typeface="Liberation Sans"/>
              </a:defRPr>
            </a:lvl9pPr>
          </a:lstStyle>
          <a:p xmlns:a="http://schemas.openxmlformats.org/drawingml/2006/main">
            <a:pPr algn="l">
              <a:defRPr sz="2550" b="1">
                <a:solidFill>
                  <a:srgbClr val="253B34"/>
                </a:solidFill>
                <a:latin typeface="Liberation Sans"/>
                <a:ea typeface="Liberation Sans"/>
                <a:cs typeface="Liberation Sans"/>
              </a:defRPr>
            </a:pPr>
            <a:r>
              <a:rPr sz="2550" b="1">
                <a:solidFill>
                  <a:srgbClr val="253B34"/>
                </a:solidFill>
                <a:latin typeface="Liberation Sans"/>
                <a:ea typeface="Liberation Sans"/>
                <a:cs typeface="Liberation Sans"/>
              </a:rPr>
              <a:t>RTX 5050 Laptop GPU</a:t>
            </a:r>
          </a:p>
          <a:p xmlns:a="http://schemas.openxmlformats.org/drawingml/2006/main">
            <a:pPr algn="l">
              <a:defRPr sz="2550" b="1">
                <a:solidFill>
                  <a:srgbClr val="253B34"/>
                </a:solidFill>
                <a:latin typeface="Liberation Sans"/>
                <a:ea typeface="Liberation Sans"/>
                <a:cs typeface="Liberation Sans"/>
              </a:defRPr>
            </a:pPr>
            <a:r>
              <a:rPr sz="2550" b="1">
                <a:solidFill>
                  <a:srgbClr val="253B34"/>
                </a:solidFill>
                <a:latin typeface="Liberation Sans"/>
                <a:ea typeface="Liberation Sans"/>
                <a:cs typeface="Liberation Sans"/>
              </a:rPr>
              <a:t>Ryzen 7 250</a:t>
            </a:r>
          </a:p>
          <a:p xmlns:a="http://schemas.openxmlformats.org/drawingml/2006/main">
            <a:pPr algn="l">
              <a:defRPr sz="2550" b="1">
                <a:solidFill>
                  <a:srgbClr val="253B34"/>
                </a:solidFill>
                <a:latin typeface="Liberation Sans"/>
                <a:ea typeface="Liberation Sans"/>
                <a:cs typeface="Liberation Sans"/>
              </a:defRPr>
            </a:pPr>
            <a:r>
              <a:rPr sz="2550" b="1">
                <a:solidFill>
                  <a:srgbClr val="253B34"/>
                </a:solidFill>
                <a:latin typeface="Liberation Sans"/>
                <a:ea typeface="Liberation Sans"/>
                <a:cs typeface="Liberation Sans"/>
              </a:rPr>
              <a:t>16 GB RAM</a:t>
            </a:r>
          </a:p>
        </p:txBody>
      </p:sp>
      <p:sp>
        <p:nvSpPr>
          <p:cNvPr id="5" name="Local application">
            <a:extLst xmlns:a="http://schemas.openxmlformats.org/drawingml/2006/main">
              <a:ext uri="{FF2B5EF4-FFF2-40B4-BE49-F238E27FC236}">
                <a16:creationId xmlns:a16="http://schemas.microsoft.com/office/drawing/2014/main" id="{5C3F71D6-1684-4DE8-99E1-CFD1461B9C3C}"/>
              </a:ext>
            </a:extLst>
          </p:cNvPr>
          <p:cNvSpPr>
            <a:spLocks xmlns:a="http://schemas.openxmlformats.org/drawingml/2006/main" noGrp="1"/>
          </p:cNvSpPr>
          <p:nvPr/>
        </p:nvSpPr>
        <p:spPr>
          <a:xfrm xmlns:a="http://schemas.openxmlformats.org/drawingml/2006/main">
            <a:off x="6210300" y="14382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1">
                <a:solidFill>
                  <a:srgbClr val="253B34"/>
                </a:solidFill>
                <a:latin typeface="Liberation Sans"/>
                <a:ea typeface="Liberation Sans"/>
                <a:cs typeface="Liberation Sans"/>
              </a:defRPr>
            </a:defPPr>
            <a:lvl1pPr algn="l">
              <a:defRPr sz="2100" b="1">
                <a:solidFill>
                  <a:srgbClr val="253B34"/>
                </a:solidFill>
                <a:latin typeface="Liberation Sans"/>
                <a:ea typeface="Liberation Sans"/>
                <a:cs typeface="Liberation Sans"/>
              </a:defRPr>
            </a:lvl1pPr>
            <a:lvl2pPr algn="l">
              <a:defRPr sz="2100" b="1">
                <a:solidFill>
                  <a:srgbClr val="253B34"/>
                </a:solidFill>
                <a:latin typeface="Liberation Sans"/>
                <a:ea typeface="Liberation Sans"/>
                <a:cs typeface="Liberation Sans"/>
              </a:defRPr>
            </a:lvl2pPr>
            <a:lvl3pPr algn="l">
              <a:defRPr sz="2100" b="1">
                <a:solidFill>
                  <a:srgbClr val="253B34"/>
                </a:solidFill>
                <a:latin typeface="Liberation Sans"/>
                <a:ea typeface="Liberation Sans"/>
                <a:cs typeface="Liberation Sans"/>
              </a:defRPr>
            </a:lvl3pPr>
            <a:lvl4pPr algn="l">
              <a:defRPr sz="2100" b="1">
                <a:solidFill>
                  <a:srgbClr val="253B34"/>
                </a:solidFill>
                <a:latin typeface="Liberation Sans"/>
                <a:ea typeface="Liberation Sans"/>
                <a:cs typeface="Liberation Sans"/>
              </a:defRPr>
            </a:lvl4pPr>
            <a:lvl5pPr algn="l">
              <a:defRPr sz="2100" b="1">
                <a:solidFill>
                  <a:srgbClr val="253B34"/>
                </a:solidFill>
                <a:latin typeface="Liberation Sans"/>
                <a:ea typeface="Liberation Sans"/>
                <a:cs typeface="Liberation Sans"/>
              </a:defRPr>
            </a:lvl5pPr>
            <a:lvl6pPr algn="l">
              <a:defRPr sz="2100" b="1">
                <a:solidFill>
                  <a:srgbClr val="253B34"/>
                </a:solidFill>
                <a:latin typeface="Liberation Sans"/>
                <a:ea typeface="Liberation Sans"/>
                <a:cs typeface="Liberation Sans"/>
              </a:defRPr>
            </a:lvl6pPr>
            <a:lvl7pPr algn="l">
              <a:defRPr sz="2100" b="1">
                <a:solidFill>
                  <a:srgbClr val="253B34"/>
                </a:solidFill>
                <a:latin typeface="Liberation Sans"/>
                <a:ea typeface="Liberation Sans"/>
                <a:cs typeface="Liberation Sans"/>
              </a:defRPr>
            </a:lvl7pPr>
            <a:lvl8pPr algn="l">
              <a:defRPr sz="2100" b="1">
                <a:solidFill>
                  <a:srgbClr val="253B34"/>
                </a:solidFill>
                <a:latin typeface="Liberation Sans"/>
                <a:ea typeface="Liberation Sans"/>
                <a:cs typeface="Liberation Sans"/>
              </a:defRPr>
            </a:lvl8pPr>
            <a:lvl9pPr algn="l">
              <a:defRPr sz="2100" b="1">
                <a:solidFill>
                  <a:srgbClr val="253B34"/>
                </a:solidFill>
                <a:latin typeface="Liberation Sans"/>
                <a:ea typeface="Liberation Sans"/>
                <a:cs typeface="Liberation Sans"/>
              </a:defRPr>
            </a:lvl9pPr>
          </a:lstStyle>
          <a:p xmlns:a="http://schemas.openxmlformats.org/drawingml/2006/main">
            <a:pPr algn="l">
              <a:defRPr sz="2100" b="1">
                <a:solidFill>
                  <a:srgbClr val="253B34"/>
                </a:solidFill>
                <a:latin typeface="Liberation Sans"/>
                <a:ea typeface="Liberation Sans"/>
                <a:cs typeface="Liberation Sans"/>
              </a:defRPr>
            </a:pPr>
            <a:r>
              <a:rPr sz="2100" b="1">
                <a:solidFill>
                  <a:srgbClr val="253B34"/>
                </a:solidFill>
                <a:latin typeface="Liberation Sans"/>
                <a:ea typeface="Liberation Sans"/>
                <a:cs typeface="Liberation Sans"/>
              </a:rPr>
              <a:t>Local application</a:t>
            </a:r>
          </a:p>
        </p:txBody>
      </p:sp>
      <p:sp>
        <p:nvSpPr>
          <p:cNvPr id="6" name="FastAPI and Uvicorn&#10;SQLite FTS5 and NumPy&#10;MCP">
            <a:extLst xmlns:a="http://schemas.openxmlformats.org/drawingml/2006/main">
              <a:ext uri="{FF2B5EF4-FFF2-40B4-BE49-F238E27FC236}">
                <a16:creationId xmlns:a16="http://schemas.microsoft.com/office/drawing/2014/main" id="{F7B5CAE0-3884-4CC8-8E80-77BAD0F3C46A}"/>
              </a:ext>
            </a:extLst>
          </p:cNvPr>
          <p:cNvSpPr>
            <a:spLocks xmlns:a="http://schemas.openxmlformats.org/drawingml/2006/main" noGrp="1"/>
          </p:cNvSpPr>
          <p:nvPr/>
        </p:nvSpPr>
        <p:spPr>
          <a:xfrm xmlns:a="http://schemas.openxmlformats.org/drawingml/2006/main">
            <a:off x="6210300" y="1924050"/>
            <a:ext cx="5238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53B34"/>
                </a:solidFill>
                <a:latin typeface="Liberation Sans"/>
                <a:ea typeface="Liberation Sans"/>
                <a:cs typeface="Liberation Sans"/>
              </a:defRPr>
            </a:defPPr>
            <a:lvl1pPr algn="l">
              <a:defRPr sz="2025" b="0">
                <a:solidFill>
                  <a:srgbClr val="253B34"/>
                </a:solidFill>
                <a:latin typeface="Liberation Sans"/>
                <a:ea typeface="Liberation Sans"/>
                <a:cs typeface="Liberation Sans"/>
              </a:defRPr>
            </a:lvl1pPr>
            <a:lvl2pPr algn="l">
              <a:defRPr sz="2025" b="0">
                <a:solidFill>
                  <a:srgbClr val="253B34"/>
                </a:solidFill>
                <a:latin typeface="Liberation Sans"/>
                <a:ea typeface="Liberation Sans"/>
                <a:cs typeface="Liberation Sans"/>
              </a:defRPr>
            </a:lvl2pPr>
            <a:lvl3pPr algn="l">
              <a:defRPr sz="2025" b="0">
                <a:solidFill>
                  <a:srgbClr val="253B34"/>
                </a:solidFill>
                <a:latin typeface="Liberation Sans"/>
                <a:ea typeface="Liberation Sans"/>
                <a:cs typeface="Liberation Sans"/>
              </a:defRPr>
            </a:lvl3pPr>
            <a:lvl4pPr algn="l">
              <a:defRPr sz="2025" b="0">
                <a:solidFill>
                  <a:srgbClr val="253B34"/>
                </a:solidFill>
                <a:latin typeface="Liberation Sans"/>
                <a:ea typeface="Liberation Sans"/>
                <a:cs typeface="Liberation Sans"/>
              </a:defRPr>
            </a:lvl4pPr>
            <a:lvl5pPr algn="l">
              <a:defRPr sz="2025" b="0">
                <a:solidFill>
                  <a:srgbClr val="253B34"/>
                </a:solidFill>
                <a:latin typeface="Liberation Sans"/>
                <a:ea typeface="Liberation Sans"/>
                <a:cs typeface="Liberation Sans"/>
              </a:defRPr>
            </a:lvl5pPr>
            <a:lvl6pPr algn="l">
              <a:defRPr sz="2025" b="0">
                <a:solidFill>
                  <a:srgbClr val="253B34"/>
                </a:solidFill>
                <a:latin typeface="Liberation Sans"/>
                <a:ea typeface="Liberation Sans"/>
                <a:cs typeface="Liberation Sans"/>
              </a:defRPr>
            </a:lvl6pPr>
            <a:lvl7pPr algn="l">
              <a:defRPr sz="2025" b="0">
                <a:solidFill>
                  <a:srgbClr val="253B34"/>
                </a:solidFill>
                <a:latin typeface="Liberation Sans"/>
                <a:ea typeface="Liberation Sans"/>
                <a:cs typeface="Liberation Sans"/>
              </a:defRPr>
            </a:lvl7pPr>
            <a:lvl8pPr algn="l">
              <a:defRPr sz="2025" b="0">
                <a:solidFill>
                  <a:srgbClr val="253B34"/>
                </a:solidFill>
                <a:latin typeface="Liberation Sans"/>
                <a:ea typeface="Liberation Sans"/>
                <a:cs typeface="Liberation Sans"/>
              </a:defRPr>
            </a:lvl8pPr>
            <a:lvl9pPr algn="l">
              <a:defRPr sz="2025" b="0">
                <a:solidFill>
                  <a:srgbClr val="253B34"/>
                </a:solidFill>
                <a:latin typeface="Liberation Sans"/>
                <a:ea typeface="Liberation Sans"/>
                <a:cs typeface="Liberation Sans"/>
              </a:defRPr>
            </a:lvl9pPr>
          </a:lstStyle>
          <a:p xmlns:a="http://schemas.openxmlformats.org/drawingml/2006/main">
            <a:pPr algn="l">
              <a:defRPr sz="2025" b="0">
                <a:solidFill>
                  <a:srgbClr val="253B34"/>
                </a:solidFill>
                <a:latin typeface="Liberation Sans"/>
                <a:ea typeface="Liberation Sans"/>
                <a:cs typeface="Liberation Sans"/>
              </a:defRPr>
            </a:pPr>
            <a:r>
              <a:rPr sz="2025" b="0">
                <a:solidFill>
                  <a:srgbClr val="253B34"/>
                </a:solidFill>
                <a:latin typeface="Liberation Sans"/>
                <a:ea typeface="Liberation Sans"/>
                <a:cs typeface="Liberation Sans"/>
              </a:rPr>
              <a:t>FastAPI and Uvicorn</a:t>
            </a:r>
          </a:p>
          <a:p xmlns:a="http://schemas.openxmlformats.org/drawingml/2006/main">
            <a:pPr algn="l">
              <a:defRPr sz="2025" b="0">
                <a:solidFill>
                  <a:srgbClr val="253B34"/>
                </a:solidFill>
                <a:latin typeface="Liberation Sans"/>
                <a:ea typeface="Liberation Sans"/>
                <a:cs typeface="Liberation Sans"/>
              </a:defRPr>
            </a:pPr>
            <a:r>
              <a:rPr sz="2025" b="0">
                <a:solidFill>
                  <a:srgbClr val="253B34"/>
                </a:solidFill>
                <a:latin typeface="Liberation Sans"/>
                <a:ea typeface="Liberation Sans"/>
                <a:cs typeface="Liberation Sans"/>
              </a:rPr>
              <a:t>SQLite FTS5 and NumPy</a:t>
            </a:r>
          </a:p>
          <a:p xmlns:a="http://schemas.openxmlformats.org/drawingml/2006/main">
            <a:pPr algn="l">
              <a:defRPr sz="2025" b="0">
                <a:solidFill>
                  <a:srgbClr val="253B34"/>
                </a:solidFill>
                <a:latin typeface="Liberation Sans"/>
                <a:ea typeface="Liberation Sans"/>
                <a:cs typeface="Liberation Sans"/>
              </a:defRPr>
            </a:pPr>
            <a:r>
              <a:rPr sz="2025" b="0">
                <a:solidFill>
                  <a:srgbClr val="253B34"/>
                </a:solidFill>
                <a:latin typeface="Liberation Sans"/>
                <a:ea typeface="Liberation Sans"/>
                <a:cs typeface="Liberation Sans"/>
              </a:rPr>
              <a:t>MCP Python SDK and Ollama</a:t>
            </a:r>
          </a:p>
        </p:txBody>
      </p:sp>
      <p:sp>
        <p:nvSpPr>
          <p:cNvPr id="7" name="Source default">
            <a:extLst xmlns:a="http://schemas.openxmlformats.org/drawingml/2006/main">
              <a:ext uri="{FF2B5EF4-FFF2-40B4-BE49-F238E27FC236}">
                <a16:creationId xmlns:a16="http://schemas.microsoft.com/office/drawing/2014/main" id="{A26CA36F-DBE4-4A88-B8DF-14A311578183}"/>
              </a:ext>
            </a:extLst>
          </p:cNvPr>
          <p:cNvSpPr>
            <a:spLocks xmlns:a="http://schemas.openxmlformats.org/drawingml/2006/main" noGrp="1"/>
          </p:cNvSpPr>
          <p:nvPr/>
        </p:nvSpPr>
        <p:spPr>
          <a:xfrm xmlns:a="http://schemas.openxmlformats.org/drawingml/2006/main">
            <a:off x="609600" y="38004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277B63"/>
                </a:solidFill>
                <a:latin typeface="Liberation Sans"/>
                <a:ea typeface="Liberation Sans"/>
                <a:cs typeface="Liberation Sans"/>
              </a:defRPr>
            </a:defPPr>
            <a:lvl1pPr algn="l">
              <a:defRPr sz="2025" b="1">
                <a:solidFill>
                  <a:srgbClr val="277B63"/>
                </a:solidFill>
                <a:latin typeface="Liberation Sans"/>
                <a:ea typeface="Liberation Sans"/>
                <a:cs typeface="Liberation Sans"/>
              </a:defRPr>
            </a:lvl1pPr>
            <a:lvl2pPr algn="l">
              <a:defRPr sz="2025" b="1">
                <a:solidFill>
                  <a:srgbClr val="277B63"/>
                </a:solidFill>
                <a:latin typeface="Liberation Sans"/>
                <a:ea typeface="Liberation Sans"/>
                <a:cs typeface="Liberation Sans"/>
              </a:defRPr>
            </a:lvl2pPr>
            <a:lvl3pPr algn="l">
              <a:defRPr sz="2025" b="1">
                <a:solidFill>
                  <a:srgbClr val="277B63"/>
                </a:solidFill>
                <a:latin typeface="Liberation Sans"/>
                <a:ea typeface="Liberation Sans"/>
                <a:cs typeface="Liberation Sans"/>
              </a:defRPr>
            </a:lvl3pPr>
            <a:lvl4pPr algn="l">
              <a:defRPr sz="2025" b="1">
                <a:solidFill>
                  <a:srgbClr val="277B63"/>
                </a:solidFill>
                <a:latin typeface="Liberation Sans"/>
                <a:ea typeface="Liberation Sans"/>
                <a:cs typeface="Liberation Sans"/>
              </a:defRPr>
            </a:lvl4pPr>
            <a:lvl5pPr algn="l">
              <a:defRPr sz="2025" b="1">
                <a:solidFill>
                  <a:srgbClr val="277B63"/>
                </a:solidFill>
                <a:latin typeface="Liberation Sans"/>
                <a:ea typeface="Liberation Sans"/>
                <a:cs typeface="Liberation Sans"/>
              </a:defRPr>
            </a:lvl5pPr>
            <a:lvl6pPr algn="l">
              <a:defRPr sz="2025" b="1">
                <a:solidFill>
                  <a:srgbClr val="277B63"/>
                </a:solidFill>
                <a:latin typeface="Liberation Sans"/>
                <a:ea typeface="Liberation Sans"/>
                <a:cs typeface="Liberation Sans"/>
              </a:defRPr>
            </a:lvl6pPr>
            <a:lvl7pPr algn="l">
              <a:defRPr sz="2025" b="1">
                <a:solidFill>
                  <a:srgbClr val="277B63"/>
                </a:solidFill>
                <a:latin typeface="Liberation Sans"/>
                <a:ea typeface="Liberation Sans"/>
                <a:cs typeface="Liberation Sans"/>
              </a:defRPr>
            </a:lvl7pPr>
            <a:lvl8pPr algn="l">
              <a:defRPr sz="2025" b="1">
                <a:solidFill>
                  <a:srgbClr val="277B63"/>
                </a:solidFill>
                <a:latin typeface="Liberation Sans"/>
                <a:ea typeface="Liberation Sans"/>
                <a:cs typeface="Liberation Sans"/>
              </a:defRPr>
            </a:lvl8pPr>
            <a:lvl9pPr algn="l">
              <a:defRPr sz="2025" b="1">
                <a:solidFill>
                  <a:srgbClr val="277B63"/>
                </a:solidFill>
                <a:latin typeface="Liberation Sans"/>
                <a:ea typeface="Liberation Sans"/>
                <a:cs typeface="Liberation Sans"/>
              </a:defRPr>
            </a:lvl9pPr>
          </a:lstStyle>
          <a:p xmlns:a="http://schemas.openxmlformats.org/drawingml/2006/main">
            <a:pPr algn="l">
              <a:defRPr sz="2025" b="1">
                <a:solidFill>
                  <a:srgbClr val="277B63"/>
                </a:solidFill>
                <a:latin typeface="Liberation Sans"/>
                <a:ea typeface="Liberation Sans"/>
                <a:cs typeface="Liberation Sans"/>
              </a:defRPr>
            </a:pPr>
            <a:r>
              <a:rPr sz="2025" b="1">
                <a:solidFill>
                  <a:srgbClr val="277B63"/>
                </a:solidFill>
                <a:latin typeface="Liberation Sans"/>
                <a:ea typeface="Liberation Sans"/>
                <a:cs typeface="Liberation Sans"/>
              </a:rPr>
              <a:t>Source default</a:t>
            </a:r>
          </a:p>
        </p:txBody>
      </p:sp>
      <p:sp>
        <p:nvSpPr>
          <p:cNvPr id="8" name="Qwen3 4B&#10;8,192 context tokens">
            <a:extLst xmlns:a="http://schemas.openxmlformats.org/drawingml/2006/main">
              <a:ext uri="{FF2B5EF4-FFF2-40B4-BE49-F238E27FC236}">
                <a16:creationId xmlns:a16="http://schemas.microsoft.com/office/drawing/2014/main" id="{BE676856-E5CE-4A81-AEDF-2D78E62A8EB2}"/>
              </a:ext>
            </a:extLst>
          </p:cNvPr>
          <p:cNvSpPr>
            <a:spLocks xmlns:a="http://schemas.openxmlformats.org/drawingml/2006/main" noGrp="1"/>
          </p:cNvSpPr>
          <p:nvPr/>
        </p:nvSpPr>
        <p:spPr>
          <a:xfrm xmlns:a="http://schemas.openxmlformats.org/drawingml/2006/main">
            <a:off x="609600" y="42481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253B34"/>
                </a:solidFill>
                <a:latin typeface="Liberation Sans"/>
                <a:ea typeface="Liberation Sans"/>
                <a:cs typeface="Liberation Sans"/>
              </a:defRPr>
            </a:defPPr>
            <a:lvl1pPr algn="l">
              <a:defRPr sz="2175" b="0">
                <a:solidFill>
                  <a:srgbClr val="253B34"/>
                </a:solidFill>
                <a:latin typeface="Liberation Sans"/>
                <a:ea typeface="Liberation Sans"/>
                <a:cs typeface="Liberation Sans"/>
              </a:defRPr>
            </a:lvl1pPr>
            <a:lvl2pPr algn="l">
              <a:defRPr sz="2175" b="0">
                <a:solidFill>
                  <a:srgbClr val="253B34"/>
                </a:solidFill>
                <a:latin typeface="Liberation Sans"/>
                <a:ea typeface="Liberation Sans"/>
                <a:cs typeface="Liberation Sans"/>
              </a:defRPr>
            </a:lvl2pPr>
            <a:lvl3pPr algn="l">
              <a:defRPr sz="2175" b="0">
                <a:solidFill>
                  <a:srgbClr val="253B34"/>
                </a:solidFill>
                <a:latin typeface="Liberation Sans"/>
                <a:ea typeface="Liberation Sans"/>
                <a:cs typeface="Liberation Sans"/>
              </a:defRPr>
            </a:lvl3pPr>
            <a:lvl4pPr algn="l">
              <a:defRPr sz="2175" b="0">
                <a:solidFill>
                  <a:srgbClr val="253B34"/>
                </a:solidFill>
                <a:latin typeface="Liberation Sans"/>
                <a:ea typeface="Liberation Sans"/>
                <a:cs typeface="Liberation Sans"/>
              </a:defRPr>
            </a:lvl4pPr>
            <a:lvl5pPr algn="l">
              <a:defRPr sz="2175" b="0">
                <a:solidFill>
                  <a:srgbClr val="253B34"/>
                </a:solidFill>
                <a:latin typeface="Liberation Sans"/>
                <a:ea typeface="Liberation Sans"/>
                <a:cs typeface="Liberation Sans"/>
              </a:defRPr>
            </a:lvl5pPr>
            <a:lvl6pPr algn="l">
              <a:defRPr sz="2175" b="0">
                <a:solidFill>
                  <a:srgbClr val="253B34"/>
                </a:solidFill>
                <a:latin typeface="Liberation Sans"/>
                <a:ea typeface="Liberation Sans"/>
                <a:cs typeface="Liberation Sans"/>
              </a:defRPr>
            </a:lvl6pPr>
            <a:lvl7pPr algn="l">
              <a:defRPr sz="2175" b="0">
                <a:solidFill>
                  <a:srgbClr val="253B34"/>
                </a:solidFill>
                <a:latin typeface="Liberation Sans"/>
                <a:ea typeface="Liberation Sans"/>
                <a:cs typeface="Liberation Sans"/>
              </a:defRPr>
            </a:lvl7pPr>
            <a:lvl8pPr algn="l">
              <a:defRPr sz="2175" b="0">
                <a:solidFill>
                  <a:srgbClr val="253B34"/>
                </a:solidFill>
                <a:latin typeface="Liberation Sans"/>
                <a:ea typeface="Liberation Sans"/>
                <a:cs typeface="Liberation Sans"/>
              </a:defRPr>
            </a:lvl8pPr>
            <a:lvl9pPr algn="l">
              <a:defRPr sz="2175" b="0">
                <a:solidFill>
                  <a:srgbClr val="253B34"/>
                </a:solidFill>
                <a:latin typeface="Liberation Sans"/>
                <a:ea typeface="Liberation Sans"/>
                <a:cs typeface="Liberation Sans"/>
              </a:defRPr>
            </a:lvl9pPr>
          </a:lstStyle>
          <a:p xmlns:a="http://schemas.openxmlformats.org/drawingml/2006/main">
            <a:pPr algn="l">
              <a:defRPr sz="2175" b="0">
                <a:solidFill>
                  <a:srgbClr val="253B34"/>
                </a:solidFill>
                <a:latin typeface="Liberation Sans"/>
                <a:ea typeface="Liberation Sans"/>
                <a:cs typeface="Liberation Sans"/>
              </a:defRPr>
            </a:pPr>
            <a:r>
              <a:rPr sz="2175" b="0">
                <a:solidFill>
                  <a:srgbClr val="253B34"/>
                </a:solidFill>
                <a:latin typeface="Liberation Sans"/>
                <a:ea typeface="Liberation Sans"/>
                <a:cs typeface="Liberation Sans"/>
              </a:rPr>
              <a:t>Qwen3 4B</a:t>
            </a:r>
          </a:p>
          <a:p xmlns:a="http://schemas.openxmlformats.org/drawingml/2006/main">
            <a:pPr algn="l">
              <a:defRPr sz="2175" b="0">
                <a:solidFill>
                  <a:srgbClr val="253B34"/>
                </a:solidFill>
                <a:latin typeface="Liberation Sans"/>
                <a:ea typeface="Liberation Sans"/>
                <a:cs typeface="Liberation Sans"/>
              </a:defRPr>
            </a:pPr>
            <a:r>
              <a:rPr sz="2175" b="0">
                <a:solidFill>
                  <a:srgbClr val="253B34"/>
                </a:solidFill>
                <a:latin typeface="Liberation Sans"/>
                <a:ea typeface="Liberation Sans"/>
                <a:cs typeface="Liberation Sans"/>
              </a:rPr>
              <a:t>8,192 context tokens</a:t>
            </a:r>
          </a:p>
        </p:txBody>
      </p:sp>
      <p:sp>
        <p:nvSpPr>
          <p:cNvPr id="9" name="Optional development profile">
            <a:extLst xmlns:a="http://schemas.openxmlformats.org/drawingml/2006/main">
              <a:ext uri="{FF2B5EF4-FFF2-40B4-BE49-F238E27FC236}">
                <a16:creationId xmlns:a16="http://schemas.microsoft.com/office/drawing/2014/main" id="{0AC7EF6C-F0EA-4625-9AFA-ED8E51956C69}"/>
              </a:ext>
            </a:extLst>
          </p:cNvPr>
          <p:cNvSpPr>
            <a:spLocks xmlns:a="http://schemas.openxmlformats.org/drawingml/2006/main" noGrp="1"/>
          </p:cNvSpPr>
          <p:nvPr/>
        </p:nvSpPr>
        <p:spPr>
          <a:xfrm xmlns:a="http://schemas.openxmlformats.org/drawingml/2006/main">
            <a:off x="6210300" y="38004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277B63"/>
                </a:solidFill>
                <a:latin typeface="Liberation Sans"/>
                <a:ea typeface="Liberation Sans"/>
                <a:cs typeface="Liberation Sans"/>
              </a:defRPr>
            </a:defPPr>
            <a:lvl1pPr algn="l">
              <a:defRPr sz="2025" b="1">
                <a:solidFill>
                  <a:srgbClr val="277B63"/>
                </a:solidFill>
                <a:latin typeface="Liberation Sans"/>
                <a:ea typeface="Liberation Sans"/>
                <a:cs typeface="Liberation Sans"/>
              </a:defRPr>
            </a:lvl1pPr>
            <a:lvl2pPr algn="l">
              <a:defRPr sz="2025" b="1">
                <a:solidFill>
                  <a:srgbClr val="277B63"/>
                </a:solidFill>
                <a:latin typeface="Liberation Sans"/>
                <a:ea typeface="Liberation Sans"/>
                <a:cs typeface="Liberation Sans"/>
              </a:defRPr>
            </a:lvl2pPr>
            <a:lvl3pPr algn="l">
              <a:defRPr sz="2025" b="1">
                <a:solidFill>
                  <a:srgbClr val="277B63"/>
                </a:solidFill>
                <a:latin typeface="Liberation Sans"/>
                <a:ea typeface="Liberation Sans"/>
                <a:cs typeface="Liberation Sans"/>
              </a:defRPr>
            </a:lvl3pPr>
            <a:lvl4pPr algn="l">
              <a:defRPr sz="2025" b="1">
                <a:solidFill>
                  <a:srgbClr val="277B63"/>
                </a:solidFill>
                <a:latin typeface="Liberation Sans"/>
                <a:ea typeface="Liberation Sans"/>
                <a:cs typeface="Liberation Sans"/>
              </a:defRPr>
            </a:lvl4pPr>
            <a:lvl5pPr algn="l">
              <a:defRPr sz="2025" b="1">
                <a:solidFill>
                  <a:srgbClr val="277B63"/>
                </a:solidFill>
                <a:latin typeface="Liberation Sans"/>
                <a:ea typeface="Liberation Sans"/>
                <a:cs typeface="Liberation Sans"/>
              </a:defRPr>
            </a:lvl5pPr>
            <a:lvl6pPr algn="l">
              <a:defRPr sz="2025" b="1">
                <a:solidFill>
                  <a:srgbClr val="277B63"/>
                </a:solidFill>
                <a:latin typeface="Liberation Sans"/>
                <a:ea typeface="Liberation Sans"/>
                <a:cs typeface="Liberation Sans"/>
              </a:defRPr>
            </a:lvl6pPr>
            <a:lvl7pPr algn="l">
              <a:defRPr sz="2025" b="1">
                <a:solidFill>
                  <a:srgbClr val="277B63"/>
                </a:solidFill>
                <a:latin typeface="Liberation Sans"/>
                <a:ea typeface="Liberation Sans"/>
                <a:cs typeface="Liberation Sans"/>
              </a:defRPr>
            </a:lvl7pPr>
            <a:lvl8pPr algn="l">
              <a:defRPr sz="2025" b="1">
                <a:solidFill>
                  <a:srgbClr val="277B63"/>
                </a:solidFill>
                <a:latin typeface="Liberation Sans"/>
                <a:ea typeface="Liberation Sans"/>
                <a:cs typeface="Liberation Sans"/>
              </a:defRPr>
            </a:lvl8pPr>
            <a:lvl9pPr algn="l">
              <a:defRPr sz="2025" b="1">
                <a:solidFill>
                  <a:srgbClr val="277B63"/>
                </a:solidFill>
                <a:latin typeface="Liberation Sans"/>
                <a:ea typeface="Liberation Sans"/>
                <a:cs typeface="Liberation Sans"/>
              </a:defRPr>
            </a:lvl9pPr>
          </a:lstStyle>
          <a:p xmlns:a="http://schemas.openxmlformats.org/drawingml/2006/main">
            <a:pPr algn="l">
              <a:defRPr sz="2025" b="1">
                <a:solidFill>
                  <a:srgbClr val="277B63"/>
                </a:solidFill>
                <a:latin typeface="Liberation Sans"/>
                <a:ea typeface="Liberation Sans"/>
                <a:cs typeface="Liberation Sans"/>
              </a:defRPr>
            </a:pPr>
            <a:r>
              <a:rPr sz="2025" b="1">
                <a:solidFill>
                  <a:srgbClr val="277B63"/>
                </a:solidFill>
                <a:latin typeface="Liberation Sans"/>
                <a:ea typeface="Liberation Sans"/>
                <a:cs typeface="Liberation Sans"/>
              </a:rPr>
              <a:t>Optional development profile</a:t>
            </a:r>
          </a:p>
        </p:txBody>
      </p:sp>
      <p:sp>
        <p:nvSpPr>
          <p:cNvPr id="10" name="Qwen3.5 9B Q4_K_M&#10;12,288 tokens, partial CPU ">
            <a:extLst xmlns:a="http://schemas.openxmlformats.org/drawingml/2006/main">
              <a:ext uri="{FF2B5EF4-FFF2-40B4-BE49-F238E27FC236}">
                <a16:creationId xmlns:a16="http://schemas.microsoft.com/office/drawing/2014/main" id="{AF760AFE-13C2-4809-BA25-3259D6919355}"/>
              </a:ext>
            </a:extLst>
          </p:cNvPr>
          <p:cNvSpPr>
            <a:spLocks xmlns:a="http://schemas.openxmlformats.org/drawingml/2006/main" noGrp="1"/>
          </p:cNvSpPr>
          <p:nvPr/>
        </p:nvSpPr>
        <p:spPr>
          <a:xfrm xmlns:a="http://schemas.openxmlformats.org/drawingml/2006/main">
            <a:off x="6210300" y="4248150"/>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253B34"/>
                </a:solidFill>
                <a:latin typeface="Liberation Sans"/>
                <a:ea typeface="Liberation Sans"/>
                <a:cs typeface="Liberation Sans"/>
              </a:defRPr>
            </a:defPPr>
            <a:lvl1pPr algn="l">
              <a:defRPr sz="2175" b="0">
                <a:solidFill>
                  <a:srgbClr val="253B34"/>
                </a:solidFill>
                <a:latin typeface="Liberation Sans"/>
                <a:ea typeface="Liberation Sans"/>
                <a:cs typeface="Liberation Sans"/>
              </a:defRPr>
            </a:lvl1pPr>
            <a:lvl2pPr algn="l">
              <a:defRPr sz="2175" b="0">
                <a:solidFill>
                  <a:srgbClr val="253B34"/>
                </a:solidFill>
                <a:latin typeface="Liberation Sans"/>
                <a:ea typeface="Liberation Sans"/>
                <a:cs typeface="Liberation Sans"/>
              </a:defRPr>
            </a:lvl2pPr>
            <a:lvl3pPr algn="l">
              <a:defRPr sz="2175" b="0">
                <a:solidFill>
                  <a:srgbClr val="253B34"/>
                </a:solidFill>
                <a:latin typeface="Liberation Sans"/>
                <a:ea typeface="Liberation Sans"/>
                <a:cs typeface="Liberation Sans"/>
              </a:defRPr>
            </a:lvl3pPr>
            <a:lvl4pPr algn="l">
              <a:defRPr sz="2175" b="0">
                <a:solidFill>
                  <a:srgbClr val="253B34"/>
                </a:solidFill>
                <a:latin typeface="Liberation Sans"/>
                <a:ea typeface="Liberation Sans"/>
                <a:cs typeface="Liberation Sans"/>
              </a:defRPr>
            </a:lvl4pPr>
            <a:lvl5pPr algn="l">
              <a:defRPr sz="2175" b="0">
                <a:solidFill>
                  <a:srgbClr val="253B34"/>
                </a:solidFill>
                <a:latin typeface="Liberation Sans"/>
                <a:ea typeface="Liberation Sans"/>
                <a:cs typeface="Liberation Sans"/>
              </a:defRPr>
            </a:lvl5pPr>
            <a:lvl6pPr algn="l">
              <a:defRPr sz="2175" b="0">
                <a:solidFill>
                  <a:srgbClr val="253B34"/>
                </a:solidFill>
                <a:latin typeface="Liberation Sans"/>
                <a:ea typeface="Liberation Sans"/>
                <a:cs typeface="Liberation Sans"/>
              </a:defRPr>
            </a:lvl6pPr>
            <a:lvl7pPr algn="l">
              <a:defRPr sz="2175" b="0">
                <a:solidFill>
                  <a:srgbClr val="253B34"/>
                </a:solidFill>
                <a:latin typeface="Liberation Sans"/>
                <a:ea typeface="Liberation Sans"/>
                <a:cs typeface="Liberation Sans"/>
              </a:defRPr>
            </a:lvl7pPr>
            <a:lvl8pPr algn="l">
              <a:defRPr sz="2175" b="0">
                <a:solidFill>
                  <a:srgbClr val="253B34"/>
                </a:solidFill>
                <a:latin typeface="Liberation Sans"/>
                <a:ea typeface="Liberation Sans"/>
                <a:cs typeface="Liberation Sans"/>
              </a:defRPr>
            </a:lvl8pPr>
            <a:lvl9pPr algn="l">
              <a:defRPr sz="2175" b="0">
                <a:solidFill>
                  <a:srgbClr val="253B34"/>
                </a:solidFill>
                <a:latin typeface="Liberation Sans"/>
                <a:ea typeface="Liberation Sans"/>
                <a:cs typeface="Liberation Sans"/>
              </a:defRPr>
            </a:lvl9pPr>
          </a:lstStyle>
          <a:p xmlns:a="http://schemas.openxmlformats.org/drawingml/2006/main">
            <a:pPr algn="l">
              <a:defRPr sz="2175" b="0">
                <a:solidFill>
                  <a:srgbClr val="253B34"/>
                </a:solidFill>
                <a:latin typeface="Liberation Sans"/>
                <a:ea typeface="Liberation Sans"/>
                <a:cs typeface="Liberation Sans"/>
              </a:defRPr>
            </a:pPr>
            <a:r>
              <a:rPr sz="2175" b="0">
                <a:solidFill>
                  <a:srgbClr val="253B34"/>
                </a:solidFill>
                <a:latin typeface="Liberation Sans"/>
                <a:ea typeface="Liberation Sans"/>
                <a:cs typeface="Liberation Sans"/>
              </a:rPr>
              <a:t>Qwen3.5 9B Q4_K_M</a:t>
            </a:r>
          </a:p>
          <a:p xmlns:a="http://schemas.openxmlformats.org/drawingml/2006/main">
            <a:pPr algn="l">
              <a:defRPr sz="2175" b="0">
                <a:solidFill>
                  <a:srgbClr val="253B34"/>
                </a:solidFill>
                <a:latin typeface="Liberation Sans"/>
                <a:ea typeface="Liberation Sans"/>
                <a:cs typeface="Liberation Sans"/>
              </a:defRPr>
            </a:pPr>
            <a:r>
              <a:rPr sz="2175" b="0">
                <a:solidFill>
                  <a:srgbClr val="253B34"/>
                </a:solidFill>
                <a:latin typeface="Liberation Sans"/>
                <a:ea typeface="Liberation Sans"/>
                <a:cs typeface="Liberation Sans"/>
              </a:rPr>
              <a:t>12,288 tokens, partial CPU offload</a:t>
            </a:r>
          </a:p>
        </p:txBody>
      </p:sp>
      <p:sp>
        <p:nvSpPr>
          <p:cNvPr id="11" name="The frozen research benchmark used the earlie">
            <a:extLst xmlns:a="http://schemas.openxmlformats.org/drawingml/2006/main">
              <a:ext uri="{FF2B5EF4-FFF2-40B4-BE49-F238E27FC236}">
                <a16:creationId xmlns:a16="http://schemas.microsoft.com/office/drawing/2014/main" id="{7F3D51B4-E11B-4BE5-BE93-1D19DA110544}"/>
              </a:ext>
            </a:extLst>
          </p:cNvPr>
          <p:cNvSpPr>
            <a:spLocks xmlns:a="http://schemas.openxmlformats.org/drawingml/2006/main" noGrp="1"/>
          </p:cNvSpPr>
          <p:nvPr/>
        </p:nvSpPr>
        <p:spPr>
          <a:xfrm xmlns:a="http://schemas.openxmlformats.org/drawingml/2006/main">
            <a:off x="609600" y="58007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586A63"/>
                </a:solidFill>
                <a:latin typeface="Liberation Sans"/>
                <a:ea typeface="Liberation Sans"/>
                <a:cs typeface="Liberation Sans"/>
              </a:defRPr>
            </a:defPPr>
            <a:lvl1pPr algn="l">
              <a:defRPr sz="1875" b="0">
                <a:solidFill>
                  <a:srgbClr val="586A63"/>
                </a:solidFill>
                <a:latin typeface="Liberation Sans"/>
                <a:ea typeface="Liberation Sans"/>
                <a:cs typeface="Liberation Sans"/>
              </a:defRPr>
            </a:lvl1pPr>
            <a:lvl2pPr algn="l">
              <a:defRPr sz="1875" b="0">
                <a:solidFill>
                  <a:srgbClr val="586A63"/>
                </a:solidFill>
                <a:latin typeface="Liberation Sans"/>
                <a:ea typeface="Liberation Sans"/>
                <a:cs typeface="Liberation Sans"/>
              </a:defRPr>
            </a:lvl2pPr>
            <a:lvl3pPr algn="l">
              <a:defRPr sz="1875" b="0">
                <a:solidFill>
                  <a:srgbClr val="586A63"/>
                </a:solidFill>
                <a:latin typeface="Liberation Sans"/>
                <a:ea typeface="Liberation Sans"/>
                <a:cs typeface="Liberation Sans"/>
              </a:defRPr>
            </a:lvl3pPr>
            <a:lvl4pPr algn="l">
              <a:defRPr sz="1875" b="0">
                <a:solidFill>
                  <a:srgbClr val="586A63"/>
                </a:solidFill>
                <a:latin typeface="Liberation Sans"/>
                <a:ea typeface="Liberation Sans"/>
                <a:cs typeface="Liberation Sans"/>
              </a:defRPr>
            </a:lvl4pPr>
            <a:lvl5pPr algn="l">
              <a:defRPr sz="1875" b="0">
                <a:solidFill>
                  <a:srgbClr val="586A63"/>
                </a:solidFill>
                <a:latin typeface="Liberation Sans"/>
                <a:ea typeface="Liberation Sans"/>
                <a:cs typeface="Liberation Sans"/>
              </a:defRPr>
            </a:lvl5pPr>
            <a:lvl6pPr algn="l">
              <a:defRPr sz="1875" b="0">
                <a:solidFill>
                  <a:srgbClr val="586A63"/>
                </a:solidFill>
                <a:latin typeface="Liberation Sans"/>
                <a:ea typeface="Liberation Sans"/>
                <a:cs typeface="Liberation Sans"/>
              </a:defRPr>
            </a:lvl6pPr>
            <a:lvl7pPr algn="l">
              <a:defRPr sz="1875" b="0">
                <a:solidFill>
                  <a:srgbClr val="586A63"/>
                </a:solidFill>
                <a:latin typeface="Liberation Sans"/>
                <a:ea typeface="Liberation Sans"/>
                <a:cs typeface="Liberation Sans"/>
              </a:defRPr>
            </a:lvl7pPr>
            <a:lvl8pPr algn="l">
              <a:defRPr sz="1875" b="0">
                <a:solidFill>
                  <a:srgbClr val="586A63"/>
                </a:solidFill>
                <a:latin typeface="Liberation Sans"/>
                <a:ea typeface="Liberation Sans"/>
                <a:cs typeface="Liberation Sans"/>
              </a:defRPr>
            </a:lvl8pPr>
            <a:lvl9pPr algn="l">
              <a:defRPr sz="1875" b="0">
                <a:solidFill>
                  <a:srgbClr val="586A63"/>
                </a:solidFill>
                <a:latin typeface="Liberation Sans"/>
                <a:ea typeface="Liberation Sans"/>
                <a:cs typeface="Liberation Sans"/>
              </a:defRPr>
            </a:lvl9pPr>
          </a:lstStyle>
          <a:p xmlns:a="http://schemas.openxmlformats.org/drawingml/2006/main">
            <a:pPr algn="l">
              <a:defRPr sz="1875" b="0">
                <a:solidFill>
                  <a:srgbClr val="586A63"/>
                </a:solidFill>
                <a:latin typeface="Liberation Sans"/>
                <a:ea typeface="Liberation Sans"/>
                <a:cs typeface="Liberation Sans"/>
              </a:defRPr>
            </a:pPr>
            <a:r>
              <a:rPr sz="1875" b="0">
                <a:solidFill>
                  <a:srgbClr val="586A63"/>
                </a:solidFill>
                <a:latin typeface="Liberation Sans"/>
                <a:ea typeface="Liberation Sans"/>
                <a:cs typeface="Liberation Sans"/>
              </a:rPr>
              <a:t>The frozen research benchmark used the earlier 4B profile</a:t>
            </a:r>
          </a:p>
        </p:txBody>
      </p:sp>
    </p:spTree>
    <p:extLst>
      <p:ext uri="{BB962C8B-B14F-4D97-AF65-F5344CB8AC3E}">
        <p14:creationId xmlns:p14="http://schemas.microsoft.com/office/powerpoint/2010/main" val="479774210"/>
      </p:ext>
    </p:extLst>
  </p:cSld>
</p:sld>
</file>

<file path=ppt/slides/slide8.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6DB0BC1-0191-4955-9571-59FE2E51C2D7}"/>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73D33"/>
                </a:solidFill>
                <a:latin typeface="Liberation Sans"/>
                <a:ea typeface="Liberation Sans"/>
                <a:cs typeface="Liberation Sans"/>
              </a:defRPr>
            </a:defPPr>
            <a:lvl1pPr algn="l">
              <a:defRPr sz="3300" b="1">
                <a:solidFill>
                  <a:srgbClr val="173D33"/>
                </a:solidFill>
                <a:latin typeface="Liberation Sans"/>
                <a:ea typeface="Liberation Sans"/>
                <a:cs typeface="Liberation Sans"/>
              </a:defRPr>
            </a:lvl1pPr>
            <a:lvl2pPr algn="l">
              <a:defRPr sz="3300" b="1">
                <a:solidFill>
                  <a:srgbClr val="173D33"/>
                </a:solidFill>
                <a:latin typeface="Liberation Sans"/>
                <a:ea typeface="Liberation Sans"/>
                <a:cs typeface="Liberation Sans"/>
              </a:defRPr>
            </a:lvl2pPr>
            <a:lvl3pPr algn="l">
              <a:defRPr sz="3300" b="1">
                <a:solidFill>
                  <a:srgbClr val="173D33"/>
                </a:solidFill>
                <a:latin typeface="Liberation Sans"/>
                <a:ea typeface="Liberation Sans"/>
                <a:cs typeface="Liberation Sans"/>
              </a:defRPr>
            </a:lvl3pPr>
            <a:lvl4pPr algn="l">
              <a:defRPr sz="3300" b="1">
                <a:solidFill>
                  <a:srgbClr val="173D33"/>
                </a:solidFill>
                <a:latin typeface="Liberation Sans"/>
                <a:ea typeface="Liberation Sans"/>
                <a:cs typeface="Liberation Sans"/>
              </a:defRPr>
            </a:lvl4pPr>
            <a:lvl5pPr algn="l">
              <a:defRPr sz="3300" b="1">
                <a:solidFill>
                  <a:srgbClr val="173D33"/>
                </a:solidFill>
                <a:latin typeface="Liberation Sans"/>
                <a:ea typeface="Liberation Sans"/>
                <a:cs typeface="Liberation Sans"/>
              </a:defRPr>
            </a:lvl5pPr>
            <a:lvl6pPr algn="l">
              <a:defRPr sz="3300" b="1">
                <a:solidFill>
                  <a:srgbClr val="173D33"/>
                </a:solidFill>
                <a:latin typeface="Liberation Sans"/>
                <a:ea typeface="Liberation Sans"/>
                <a:cs typeface="Liberation Sans"/>
              </a:defRPr>
            </a:lvl6pPr>
            <a:lvl7pPr algn="l">
              <a:defRPr sz="3300" b="1">
                <a:solidFill>
                  <a:srgbClr val="173D33"/>
                </a:solidFill>
                <a:latin typeface="Liberation Sans"/>
                <a:ea typeface="Liberation Sans"/>
                <a:cs typeface="Liberation Sans"/>
              </a:defRPr>
            </a:lvl7pPr>
            <a:lvl8pPr algn="l">
              <a:defRPr sz="3300" b="1">
                <a:solidFill>
                  <a:srgbClr val="173D33"/>
                </a:solidFill>
                <a:latin typeface="Liberation Sans"/>
                <a:ea typeface="Liberation Sans"/>
                <a:cs typeface="Liberation Sans"/>
              </a:defRPr>
            </a:lvl8pPr>
            <a:lvl9pPr algn="l">
              <a:defRPr sz="3300" b="1">
                <a:solidFill>
                  <a:srgbClr val="173D33"/>
                </a:solidFill>
                <a:latin typeface="Liberation Sans"/>
                <a:ea typeface="Liberation Sans"/>
                <a:cs typeface="Liberation Sans"/>
              </a:defRPr>
            </a:lvl9pPr>
          </a:lstStyle>
          <a:p xmlns:a="http://schemas.openxmlformats.org/drawingml/2006/main">
            <a:pPr algn="l">
              <a:defRPr sz="3300" b="1">
                <a:solidFill>
                  <a:srgbClr val="173D33"/>
                </a:solidFill>
                <a:latin typeface="Liberation Sans"/>
                <a:ea typeface="Liberation Sans"/>
                <a:cs typeface="Liberation Sans"/>
              </a:defRPr>
            </a:pPr>
            <a:r>
              <a:rPr sz="3300" b="1">
                <a:solidFill>
                  <a:srgbClr val="173D33"/>
                </a:solidFill>
                <a:latin typeface="Liberation Sans"/>
                <a:ea typeface="Liberation Sans"/>
                <a:cs typeface="Liberation Sans"/>
              </a:rPr>
              <a:t>Two-minute demonstration</a:t>
            </a:r>
          </a:p>
        </p:txBody>
      </p:sp>
      <p:sp>
        <p:nvSpPr>
          <p:cNvPr id="3" name="08">
            <a:extLst xmlns:a="http://schemas.openxmlformats.org/drawingml/2006/main">
              <a:ext uri="{FF2B5EF4-FFF2-40B4-BE49-F238E27FC236}">
                <a16:creationId xmlns:a16="http://schemas.microsoft.com/office/drawing/2014/main" id="{2CCBE67B-BE25-4F96-9B25-E2E61CF585B2}"/>
              </a:ext>
            </a:extLst>
          </p:cNvPr>
          <p:cNvSpPr>
            <a:spLocks xmlns:a="http://schemas.openxmlformats.org/drawingml/2006/main" noGrp="1"/>
          </p:cNvSpPr>
          <p:nvPr/>
        </p:nvSpPr>
        <p:spPr>
          <a:xfrm xmlns:a="http://schemas.openxmlformats.org/drawingml/2006/main">
            <a:off x="1106805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350" b="0">
                <a:solidFill>
                  <a:srgbClr val="708177"/>
                </a:solidFill>
                <a:latin typeface="Liberation Sans"/>
                <a:ea typeface="Liberation Sans"/>
                <a:cs typeface="Liberation Sans"/>
              </a:defRPr>
            </a:defPPr>
            <a:lvl1pPr algn="r">
              <a:defRPr sz="1350" b="0">
                <a:solidFill>
                  <a:srgbClr val="708177"/>
                </a:solidFill>
                <a:latin typeface="Liberation Sans"/>
                <a:ea typeface="Liberation Sans"/>
                <a:cs typeface="Liberation Sans"/>
              </a:defRPr>
            </a:lvl1pPr>
            <a:lvl2pPr algn="r">
              <a:defRPr sz="1350" b="0">
                <a:solidFill>
                  <a:srgbClr val="708177"/>
                </a:solidFill>
                <a:latin typeface="Liberation Sans"/>
                <a:ea typeface="Liberation Sans"/>
                <a:cs typeface="Liberation Sans"/>
              </a:defRPr>
            </a:lvl2pPr>
            <a:lvl3pPr algn="r">
              <a:defRPr sz="1350" b="0">
                <a:solidFill>
                  <a:srgbClr val="708177"/>
                </a:solidFill>
                <a:latin typeface="Liberation Sans"/>
                <a:ea typeface="Liberation Sans"/>
                <a:cs typeface="Liberation Sans"/>
              </a:defRPr>
            </a:lvl3pPr>
            <a:lvl4pPr algn="r">
              <a:defRPr sz="1350" b="0">
                <a:solidFill>
                  <a:srgbClr val="708177"/>
                </a:solidFill>
                <a:latin typeface="Liberation Sans"/>
                <a:ea typeface="Liberation Sans"/>
                <a:cs typeface="Liberation Sans"/>
              </a:defRPr>
            </a:lvl4pPr>
            <a:lvl5pPr algn="r">
              <a:defRPr sz="1350" b="0">
                <a:solidFill>
                  <a:srgbClr val="708177"/>
                </a:solidFill>
                <a:latin typeface="Liberation Sans"/>
                <a:ea typeface="Liberation Sans"/>
                <a:cs typeface="Liberation Sans"/>
              </a:defRPr>
            </a:lvl5pPr>
            <a:lvl6pPr algn="r">
              <a:defRPr sz="1350" b="0">
                <a:solidFill>
                  <a:srgbClr val="708177"/>
                </a:solidFill>
                <a:latin typeface="Liberation Sans"/>
                <a:ea typeface="Liberation Sans"/>
                <a:cs typeface="Liberation Sans"/>
              </a:defRPr>
            </a:lvl6pPr>
            <a:lvl7pPr algn="r">
              <a:defRPr sz="1350" b="0">
                <a:solidFill>
                  <a:srgbClr val="708177"/>
                </a:solidFill>
                <a:latin typeface="Liberation Sans"/>
                <a:ea typeface="Liberation Sans"/>
                <a:cs typeface="Liberation Sans"/>
              </a:defRPr>
            </a:lvl7pPr>
            <a:lvl8pPr algn="r">
              <a:defRPr sz="1350" b="0">
                <a:solidFill>
                  <a:srgbClr val="708177"/>
                </a:solidFill>
                <a:latin typeface="Liberation Sans"/>
                <a:ea typeface="Liberation Sans"/>
                <a:cs typeface="Liberation Sans"/>
              </a:defRPr>
            </a:lvl8pPr>
            <a:lvl9pPr algn="r">
              <a:defRPr sz="1350" b="0">
                <a:solidFill>
                  <a:srgbClr val="708177"/>
                </a:solidFill>
                <a:latin typeface="Liberation Sans"/>
                <a:ea typeface="Liberation Sans"/>
                <a:cs typeface="Liberation Sans"/>
              </a:defRPr>
            </a:lvl9pPr>
          </a:lstStyle>
          <a:p xmlns:a="http://schemas.openxmlformats.org/drawingml/2006/main">
            <a:pPr algn="r">
              <a:defRPr sz="1350" b="0">
                <a:solidFill>
                  <a:srgbClr val="708177"/>
                </a:solidFill>
                <a:latin typeface="Liberation Sans"/>
                <a:ea typeface="Liberation Sans"/>
                <a:cs typeface="Liberation Sans"/>
              </a:defRPr>
            </a:pPr>
            <a:r>
              <a:rPr sz="1350" b="0">
                <a:solidFill>
                  <a:srgbClr val="708177"/>
                </a:solidFill>
                <a:latin typeface="Liberation Sans"/>
                <a:ea typeface="Liberation Sans"/>
                <a:cs typeface="Liberation Sans"/>
              </a:rPr>
              <a:t>08</a:t>
            </a:r>
          </a:p>
        </p:txBody>
      </p:sp>
      <p:sp>
        <p:nvSpPr>
          <p:cNvPr id="4" name="1. Open a source in Library&#10;2. Ask a document">
            <a:extLst xmlns:a="http://schemas.openxmlformats.org/drawingml/2006/main">
              <a:ext uri="{FF2B5EF4-FFF2-40B4-BE49-F238E27FC236}">
                <a16:creationId xmlns:a16="http://schemas.microsoft.com/office/drawing/2014/main" id="{AB723A35-B80B-42D0-95AA-E6364CA039AD}"/>
              </a:ext>
            </a:extLst>
          </p:cNvPr>
          <p:cNvSpPr>
            <a:spLocks xmlns:a="http://schemas.openxmlformats.org/drawingml/2006/main" noGrp="1"/>
          </p:cNvSpPr>
          <p:nvPr/>
        </p:nvSpPr>
        <p:spPr>
          <a:xfrm xmlns:a="http://schemas.openxmlformats.org/drawingml/2006/main">
            <a:off x="609600" y="1562100"/>
            <a:ext cx="6048375"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253B34"/>
                </a:solidFill>
                <a:latin typeface="Liberation Sans"/>
                <a:ea typeface="Liberation Sans"/>
                <a:cs typeface="Liberation Sans"/>
              </a:defRPr>
            </a:defPPr>
            <a:lvl1pPr algn="l">
              <a:defRPr sz="2175" b="0">
                <a:solidFill>
                  <a:srgbClr val="253B34"/>
                </a:solidFill>
                <a:latin typeface="Liberation Sans"/>
                <a:ea typeface="Liberation Sans"/>
                <a:cs typeface="Liberation Sans"/>
              </a:defRPr>
            </a:lvl1pPr>
            <a:lvl2pPr algn="l">
              <a:defRPr sz="2175" b="0">
                <a:solidFill>
                  <a:srgbClr val="253B34"/>
                </a:solidFill>
                <a:latin typeface="Liberation Sans"/>
                <a:ea typeface="Liberation Sans"/>
                <a:cs typeface="Liberation Sans"/>
              </a:defRPr>
            </a:lvl2pPr>
            <a:lvl3pPr algn="l">
              <a:defRPr sz="2175" b="0">
                <a:solidFill>
                  <a:srgbClr val="253B34"/>
                </a:solidFill>
                <a:latin typeface="Liberation Sans"/>
                <a:ea typeface="Liberation Sans"/>
                <a:cs typeface="Liberation Sans"/>
              </a:defRPr>
            </a:lvl3pPr>
            <a:lvl4pPr algn="l">
              <a:defRPr sz="2175" b="0">
                <a:solidFill>
                  <a:srgbClr val="253B34"/>
                </a:solidFill>
                <a:latin typeface="Liberation Sans"/>
                <a:ea typeface="Liberation Sans"/>
                <a:cs typeface="Liberation Sans"/>
              </a:defRPr>
            </a:lvl4pPr>
            <a:lvl5pPr algn="l">
              <a:defRPr sz="2175" b="0">
                <a:solidFill>
                  <a:srgbClr val="253B34"/>
                </a:solidFill>
                <a:latin typeface="Liberation Sans"/>
                <a:ea typeface="Liberation Sans"/>
                <a:cs typeface="Liberation Sans"/>
              </a:defRPr>
            </a:lvl5pPr>
            <a:lvl6pPr algn="l">
              <a:defRPr sz="2175" b="0">
                <a:solidFill>
                  <a:srgbClr val="253B34"/>
                </a:solidFill>
                <a:latin typeface="Liberation Sans"/>
                <a:ea typeface="Liberation Sans"/>
                <a:cs typeface="Liberation Sans"/>
              </a:defRPr>
            </a:lvl6pPr>
            <a:lvl7pPr algn="l">
              <a:defRPr sz="2175" b="0">
                <a:solidFill>
                  <a:srgbClr val="253B34"/>
                </a:solidFill>
                <a:latin typeface="Liberation Sans"/>
                <a:ea typeface="Liberation Sans"/>
                <a:cs typeface="Liberation Sans"/>
              </a:defRPr>
            </a:lvl7pPr>
            <a:lvl8pPr algn="l">
              <a:defRPr sz="2175" b="0">
                <a:solidFill>
                  <a:srgbClr val="253B34"/>
                </a:solidFill>
                <a:latin typeface="Liberation Sans"/>
                <a:ea typeface="Liberation Sans"/>
                <a:cs typeface="Liberation Sans"/>
              </a:defRPr>
            </a:lvl8pPr>
            <a:lvl9pPr algn="l">
              <a:defRPr sz="2175" b="0">
                <a:solidFill>
                  <a:srgbClr val="253B34"/>
                </a:solidFill>
                <a:latin typeface="Liberation Sans"/>
                <a:ea typeface="Liberation Sans"/>
                <a:cs typeface="Liberation Sans"/>
              </a:defRPr>
            </a:lvl9pPr>
          </a:lstStyle>
          <a:p xmlns:a="http://schemas.openxmlformats.org/drawingml/2006/main">
            <a:pPr algn="l">
              <a:defRPr sz="2175" b="0">
                <a:solidFill>
                  <a:srgbClr val="253B34"/>
                </a:solidFill>
                <a:latin typeface="Liberation Sans"/>
                <a:ea typeface="Liberation Sans"/>
                <a:cs typeface="Liberation Sans"/>
              </a:defRPr>
            </a:pPr>
            <a:r>
              <a:rPr sz="2175" b="0">
                <a:solidFill>
                  <a:srgbClr val="253B34"/>
                </a:solidFill>
                <a:latin typeface="Liberation Sans"/>
                <a:ea typeface="Liberation Sans"/>
                <a:cs typeface="Liberation Sans"/>
              </a:rPr>
              <a:t>1. Open a source in Library</a:t>
            </a:r>
          </a:p>
          <a:p xmlns:a="http://schemas.openxmlformats.org/drawingml/2006/main">
            <a:pPr algn="l">
              <a:defRPr sz="2175" b="0">
                <a:solidFill>
                  <a:srgbClr val="253B34"/>
                </a:solidFill>
                <a:latin typeface="Liberation Sans"/>
                <a:ea typeface="Liberation Sans"/>
                <a:cs typeface="Liberation Sans"/>
              </a:defRPr>
            </a:pPr>
            <a:r>
              <a:rPr sz="2175" b="0">
                <a:solidFill>
                  <a:srgbClr val="253B34"/>
                </a:solidFill>
                <a:latin typeface="Liberation Sans"/>
                <a:ea typeface="Liberation Sans"/>
                <a:cs typeface="Liberation Sans"/>
              </a:rPr>
              <a:t>2. Ask a documented question</a:t>
            </a:r>
          </a:p>
          <a:p xmlns:a="http://schemas.openxmlformats.org/drawingml/2006/main">
            <a:pPr algn="l">
              <a:defRPr sz="2175" b="0">
                <a:solidFill>
                  <a:srgbClr val="253B34"/>
                </a:solidFill>
                <a:latin typeface="Liberation Sans"/>
                <a:ea typeface="Liberation Sans"/>
                <a:cs typeface="Liberation Sans"/>
              </a:defRPr>
            </a:pPr>
            <a:r>
              <a:rPr sz="2175" b="0">
                <a:solidFill>
                  <a:srgbClr val="253B34"/>
                </a:solidFill>
                <a:latin typeface="Liberation Sans"/>
                <a:ea typeface="Liberation Sans"/>
                <a:cs typeface="Liberation Sans"/>
              </a:rPr>
              <a:t>3. Compare the answer with its source</a:t>
            </a:r>
          </a:p>
          <a:p xmlns:a="http://schemas.openxmlformats.org/drawingml/2006/main">
            <a:pPr algn="l">
              <a:defRPr sz="2175" b="0">
                <a:solidFill>
                  <a:srgbClr val="253B34"/>
                </a:solidFill>
                <a:latin typeface="Liberation Sans"/>
                <a:ea typeface="Liberation Sans"/>
                <a:cs typeface="Liberation Sans"/>
              </a:defRPr>
            </a:pPr>
            <a:r>
              <a:rPr sz="2175" b="0">
                <a:solidFill>
                  <a:srgbClr val="253B34"/>
                </a:solidFill>
                <a:latin typeface="Liberation Sans"/>
                <a:ea typeface="Liberation Sans"/>
                <a:cs typeface="Liberation Sans"/>
              </a:rPr>
              <a:t>4. Save an explicit project memory</a:t>
            </a:r>
          </a:p>
        </p:txBody>
      </p:sp>
      <p:sp>
        <p:nvSpPr>
          <p:cNvPr id="5" name="Question">
            <a:extLst xmlns:a="http://schemas.openxmlformats.org/drawingml/2006/main">
              <a:ext uri="{FF2B5EF4-FFF2-40B4-BE49-F238E27FC236}">
                <a16:creationId xmlns:a16="http://schemas.microsoft.com/office/drawing/2014/main" id="{5C516D4C-8B36-4A96-91A9-6522726B2EDB}"/>
              </a:ext>
            </a:extLst>
          </p:cNvPr>
          <p:cNvSpPr>
            <a:spLocks xmlns:a="http://schemas.openxmlformats.org/drawingml/2006/main" noGrp="1"/>
          </p:cNvSpPr>
          <p:nvPr/>
        </p:nvSpPr>
        <p:spPr>
          <a:xfrm xmlns:a="http://schemas.openxmlformats.org/drawingml/2006/main">
            <a:off x="609600" y="4476750"/>
            <a:ext cx="604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77B63"/>
                </a:solidFill>
                <a:latin typeface="Liberation Sans"/>
                <a:ea typeface="Liberation Sans"/>
                <a:cs typeface="Liberation Sans"/>
              </a:defRPr>
            </a:defPPr>
            <a:lvl1pPr algn="l">
              <a:defRPr sz="1875" b="1">
                <a:solidFill>
                  <a:srgbClr val="277B63"/>
                </a:solidFill>
                <a:latin typeface="Liberation Sans"/>
                <a:ea typeface="Liberation Sans"/>
                <a:cs typeface="Liberation Sans"/>
              </a:defRPr>
            </a:lvl1pPr>
            <a:lvl2pPr algn="l">
              <a:defRPr sz="1875" b="1">
                <a:solidFill>
                  <a:srgbClr val="277B63"/>
                </a:solidFill>
                <a:latin typeface="Liberation Sans"/>
                <a:ea typeface="Liberation Sans"/>
                <a:cs typeface="Liberation Sans"/>
              </a:defRPr>
            </a:lvl2pPr>
            <a:lvl3pPr algn="l">
              <a:defRPr sz="1875" b="1">
                <a:solidFill>
                  <a:srgbClr val="277B63"/>
                </a:solidFill>
                <a:latin typeface="Liberation Sans"/>
                <a:ea typeface="Liberation Sans"/>
                <a:cs typeface="Liberation Sans"/>
              </a:defRPr>
            </a:lvl3pPr>
            <a:lvl4pPr algn="l">
              <a:defRPr sz="1875" b="1">
                <a:solidFill>
                  <a:srgbClr val="277B63"/>
                </a:solidFill>
                <a:latin typeface="Liberation Sans"/>
                <a:ea typeface="Liberation Sans"/>
                <a:cs typeface="Liberation Sans"/>
              </a:defRPr>
            </a:lvl4pPr>
            <a:lvl5pPr algn="l">
              <a:defRPr sz="1875" b="1">
                <a:solidFill>
                  <a:srgbClr val="277B63"/>
                </a:solidFill>
                <a:latin typeface="Liberation Sans"/>
                <a:ea typeface="Liberation Sans"/>
                <a:cs typeface="Liberation Sans"/>
              </a:defRPr>
            </a:lvl5pPr>
            <a:lvl6pPr algn="l">
              <a:defRPr sz="1875" b="1">
                <a:solidFill>
                  <a:srgbClr val="277B63"/>
                </a:solidFill>
                <a:latin typeface="Liberation Sans"/>
                <a:ea typeface="Liberation Sans"/>
                <a:cs typeface="Liberation Sans"/>
              </a:defRPr>
            </a:lvl6pPr>
            <a:lvl7pPr algn="l">
              <a:defRPr sz="1875" b="1">
                <a:solidFill>
                  <a:srgbClr val="277B63"/>
                </a:solidFill>
                <a:latin typeface="Liberation Sans"/>
                <a:ea typeface="Liberation Sans"/>
                <a:cs typeface="Liberation Sans"/>
              </a:defRPr>
            </a:lvl7pPr>
            <a:lvl8pPr algn="l">
              <a:defRPr sz="1875" b="1">
                <a:solidFill>
                  <a:srgbClr val="277B63"/>
                </a:solidFill>
                <a:latin typeface="Liberation Sans"/>
                <a:ea typeface="Liberation Sans"/>
                <a:cs typeface="Liberation Sans"/>
              </a:defRPr>
            </a:lvl8pPr>
            <a:lvl9pPr algn="l">
              <a:defRPr sz="1875" b="1">
                <a:solidFill>
                  <a:srgbClr val="277B63"/>
                </a:solidFill>
                <a:latin typeface="Liberation Sans"/>
                <a:ea typeface="Liberation Sans"/>
                <a:cs typeface="Liberation Sans"/>
              </a:defRPr>
            </a:lvl9pPr>
          </a:lstStyle>
          <a:p xmlns:a="http://schemas.openxmlformats.org/drawingml/2006/main">
            <a:pPr algn="l">
              <a:defRPr sz="1875" b="1">
                <a:solidFill>
                  <a:srgbClr val="277B63"/>
                </a:solidFill>
                <a:latin typeface="Liberation Sans"/>
                <a:ea typeface="Liberation Sans"/>
                <a:cs typeface="Liberation Sans"/>
              </a:defRPr>
            </a:pPr>
            <a:r>
              <a:rPr sz="1875" b="1">
                <a:solidFill>
                  <a:srgbClr val="277B63"/>
                </a:solidFill>
                <a:latin typeface="Liberation Sans"/>
                <a:ea typeface="Liberation Sans"/>
                <a:cs typeface="Liberation Sans"/>
              </a:rPr>
              <a:t>Question</a:t>
            </a:r>
          </a:p>
        </p:txBody>
      </p:sp>
      <p:sp>
        <p:nvSpPr>
          <p:cNvPr id="6" name="What storage does the Lighthouse project use?">
            <a:extLst xmlns:a="http://schemas.openxmlformats.org/drawingml/2006/main">
              <a:ext uri="{FF2B5EF4-FFF2-40B4-BE49-F238E27FC236}">
                <a16:creationId xmlns:a16="http://schemas.microsoft.com/office/drawing/2014/main" id="{8670E715-B717-4103-9027-4F4D1B194A02}"/>
              </a:ext>
            </a:extLst>
          </p:cNvPr>
          <p:cNvSpPr>
            <a:spLocks xmlns:a="http://schemas.openxmlformats.org/drawingml/2006/main" noGrp="1"/>
          </p:cNvSpPr>
          <p:nvPr/>
        </p:nvSpPr>
        <p:spPr>
          <a:xfrm xmlns:a="http://schemas.openxmlformats.org/drawingml/2006/main">
            <a:off x="609600" y="4895850"/>
            <a:ext cx="5429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253B34"/>
                </a:solidFill>
                <a:latin typeface="Liberation Sans"/>
                <a:ea typeface="Liberation Sans"/>
                <a:cs typeface="Liberation Sans"/>
              </a:defRPr>
            </a:defPPr>
            <a:lvl1pPr algn="l">
              <a:defRPr sz="2100" b="0">
                <a:solidFill>
                  <a:srgbClr val="253B34"/>
                </a:solidFill>
                <a:latin typeface="Liberation Sans"/>
                <a:ea typeface="Liberation Sans"/>
                <a:cs typeface="Liberation Sans"/>
              </a:defRPr>
            </a:lvl1pPr>
            <a:lvl2pPr algn="l">
              <a:defRPr sz="2100" b="0">
                <a:solidFill>
                  <a:srgbClr val="253B34"/>
                </a:solidFill>
                <a:latin typeface="Liberation Sans"/>
                <a:ea typeface="Liberation Sans"/>
                <a:cs typeface="Liberation Sans"/>
              </a:defRPr>
            </a:lvl2pPr>
            <a:lvl3pPr algn="l">
              <a:defRPr sz="2100" b="0">
                <a:solidFill>
                  <a:srgbClr val="253B34"/>
                </a:solidFill>
                <a:latin typeface="Liberation Sans"/>
                <a:ea typeface="Liberation Sans"/>
                <a:cs typeface="Liberation Sans"/>
              </a:defRPr>
            </a:lvl3pPr>
            <a:lvl4pPr algn="l">
              <a:defRPr sz="2100" b="0">
                <a:solidFill>
                  <a:srgbClr val="253B34"/>
                </a:solidFill>
                <a:latin typeface="Liberation Sans"/>
                <a:ea typeface="Liberation Sans"/>
                <a:cs typeface="Liberation Sans"/>
              </a:defRPr>
            </a:lvl4pPr>
            <a:lvl5pPr algn="l">
              <a:defRPr sz="2100" b="0">
                <a:solidFill>
                  <a:srgbClr val="253B34"/>
                </a:solidFill>
                <a:latin typeface="Liberation Sans"/>
                <a:ea typeface="Liberation Sans"/>
                <a:cs typeface="Liberation Sans"/>
              </a:defRPr>
            </a:lvl5pPr>
            <a:lvl6pPr algn="l">
              <a:defRPr sz="2100" b="0">
                <a:solidFill>
                  <a:srgbClr val="253B34"/>
                </a:solidFill>
                <a:latin typeface="Liberation Sans"/>
                <a:ea typeface="Liberation Sans"/>
                <a:cs typeface="Liberation Sans"/>
              </a:defRPr>
            </a:lvl6pPr>
            <a:lvl7pPr algn="l">
              <a:defRPr sz="2100" b="0">
                <a:solidFill>
                  <a:srgbClr val="253B34"/>
                </a:solidFill>
                <a:latin typeface="Liberation Sans"/>
                <a:ea typeface="Liberation Sans"/>
                <a:cs typeface="Liberation Sans"/>
              </a:defRPr>
            </a:lvl7pPr>
            <a:lvl8pPr algn="l">
              <a:defRPr sz="2100" b="0">
                <a:solidFill>
                  <a:srgbClr val="253B34"/>
                </a:solidFill>
                <a:latin typeface="Liberation Sans"/>
                <a:ea typeface="Liberation Sans"/>
                <a:cs typeface="Liberation Sans"/>
              </a:defRPr>
            </a:lvl8pPr>
            <a:lvl9pPr algn="l">
              <a:defRPr sz="2100" b="0">
                <a:solidFill>
                  <a:srgbClr val="253B34"/>
                </a:solidFill>
                <a:latin typeface="Liberation Sans"/>
                <a:ea typeface="Liberation Sans"/>
                <a:cs typeface="Liberation Sans"/>
              </a:defRPr>
            </a:lvl9pPr>
          </a:lstStyle>
          <a:p xmlns:a="http://schemas.openxmlformats.org/drawingml/2006/main">
            <a:pPr algn="l">
              <a:defRPr sz="2100" b="0">
                <a:solidFill>
                  <a:srgbClr val="253B34"/>
                </a:solidFill>
                <a:latin typeface="Liberation Sans"/>
                <a:ea typeface="Liberation Sans"/>
                <a:cs typeface="Liberation Sans"/>
              </a:defRPr>
            </a:pPr>
            <a:r>
              <a:rPr sz="2100" b="0">
                <a:solidFill>
                  <a:srgbClr val="253B34"/>
                </a:solidFill>
                <a:latin typeface="Liberation Sans"/>
                <a:ea typeface="Liberation Sans"/>
                <a:cs typeface="Liberation Sans"/>
              </a:rPr>
              <a:t>What storage does the Lighthouse project use?</a:t>
            </a:r>
          </a:p>
        </p:txBody>
      </p:sp>
      <p:pic>
        <p:nvPicPr>
          <p:cNvPr id="7" name="">
            <a:extLst xmlns:a="http://schemas.openxmlformats.org/drawingml/2006/main">
              <a:ext uri="{FF2B5EF4-FFF2-40B4-BE49-F238E27FC236}">
                <a16:creationId xmlns:a16="http://schemas.microsoft.com/office/drawing/2014/main" id="{45C073C2-7851-4301-87EF-9004CA740081}"/>
              </a:ext>
            </a:extLst>
          </p:cNvPr>
          <p:cNvPicPr>
            <a:picLocks xmlns:a="http://schemas.openxmlformats.org/drawingml/2006/main" noChangeAspect="1"/>
          </p:cNvPicPr>
          <p:nvPr/>
        </p:nvPicPr>
        <p:blipFill>
          <a:blip xmlns:r="http://schemas.openxmlformats.org/officeDocument/2006/relationships" xmlns:a="http://schemas.openxmlformats.org/drawingml/2006/main" r:embed="R4e0ca6833aa3471e"/>
          <a:stretch xmlns:a="http://schemas.openxmlformats.org/drawingml/2006/main"/>
        </p:blipFill>
        <p:spPr>
          <a:xfrm xmlns:a="http://schemas.openxmlformats.org/drawingml/2006/main">
            <a:off x="7000875" y="1584148"/>
            <a:ext cx="4572000" cy="3737330"/>
          </a:xfrm>
          <a:prstGeom xmlns:a="http://schemas.openxmlformats.org/drawingml/2006/main" prst="rect">
            <a:avLst/>
          </a:prstGeom>
        </p:spPr>
      </p:pic>
      <p:sp>
        <p:nvSpPr>
          <p:cNvPr id="8" name="Prepared sample workspace, 17 October 2026">
            <a:extLst xmlns:a="http://schemas.openxmlformats.org/drawingml/2006/main">
              <a:ext uri="{FF2B5EF4-FFF2-40B4-BE49-F238E27FC236}">
                <a16:creationId xmlns:a16="http://schemas.microsoft.com/office/drawing/2014/main" id="{07695B7B-ED32-4A1D-AC3B-1BCC85F62C56}"/>
              </a:ext>
            </a:extLst>
          </p:cNvPr>
          <p:cNvSpPr>
            <a:spLocks xmlns:a="http://schemas.openxmlformats.org/drawingml/2006/main" noGrp="1"/>
          </p:cNvSpPr>
          <p:nvPr/>
        </p:nvSpPr>
        <p:spPr>
          <a:xfrm xmlns:a="http://schemas.openxmlformats.org/drawingml/2006/main">
            <a:off x="7000875" y="56959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586A63"/>
                </a:solidFill>
                <a:latin typeface="Liberation Sans"/>
                <a:ea typeface="Liberation Sans"/>
                <a:cs typeface="Liberation Sans"/>
              </a:defRPr>
            </a:defPPr>
            <a:lvl1pPr algn="l">
              <a:defRPr sz="1350" b="0">
                <a:solidFill>
                  <a:srgbClr val="586A63"/>
                </a:solidFill>
                <a:latin typeface="Liberation Sans"/>
                <a:ea typeface="Liberation Sans"/>
                <a:cs typeface="Liberation Sans"/>
              </a:defRPr>
            </a:lvl1pPr>
            <a:lvl2pPr algn="l">
              <a:defRPr sz="1350" b="0">
                <a:solidFill>
                  <a:srgbClr val="586A63"/>
                </a:solidFill>
                <a:latin typeface="Liberation Sans"/>
                <a:ea typeface="Liberation Sans"/>
                <a:cs typeface="Liberation Sans"/>
              </a:defRPr>
            </a:lvl2pPr>
            <a:lvl3pPr algn="l">
              <a:defRPr sz="1350" b="0">
                <a:solidFill>
                  <a:srgbClr val="586A63"/>
                </a:solidFill>
                <a:latin typeface="Liberation Sans"/>
                <a:ea typeface="Liberation Sans"/>
                <a:cs typeface="Liberation Sans"/>
              </a:defRPr>
            </a:lvl3pPr>
            <a:lvl4pPr algn="l">
              <a:defRPr sz="1350" b="0">
                <a:solidFill>
                  <a:srgbClr val="586A63"/>
                </a:solidFill>
                <a:latin typeface="Liberation Sans"/>
                <a:ea typeface="Liberation Sans"/>
                <a:cs typeface="Liberation Sans"/>
              </a:defRPr>
            </a:lvl4pPr>
            <a:lvl5pPr algn="l">
              <a:defRPr sz="1350" b="0">
                <a:solidFill>
                  <a:srgbClr val="586A63"/>
                </a:solidFill>
                <a:latin typeface="Liberation Sans"/>
                <a:ea typeface="Liberation Sans"/>
                <a:cs typeface="Liberation Sans"/>
              </a:defRPr>
            </a:lvl5pPr>
            <a:lvl6pPr algn="l">
              <a:defRPr sz="1350" b="0">
                <a:solidFill>
                  <a:srgbClr val="586A63"/>
                </a:solidFill>
                <a:latin typeface="Liberation Sans"/>
                <a:ea typeface="Liberation Sans"/>
                <a:cs typeface="Liberation Sans"/>
              </a:defRPr>
            </a:lvl6pPr>
            <a:lvl7pPr algn="l">
              <a:defRPr sz="1350" b="0">
                <a:solidFill>
                  <a:srgbClr val="586A63"/>
                </a:solidFill>
                <a:latin typeface="Liberation Sans"/>
                <a:ea typeface="Liberation Sans"/>
                <a:cs typeface="Liberation Sans"/>
              </a:defRPr>
            </a:lvl7pPr>
            <a:lvl8pPr algn="l">
              <a:defRPr sz="1350" b="0">
                <a:solidFill>
                  <a:srgbClr val="586A63"/>
                </a:solidFill>
                <a:latin typeface="Liberation Sans"/>
                <a:ea typeface="Liberation Sans"/>
                <a:cs typeface="Liberation Sans"/>
              </a:defRPr>
            </a:lvl8pPr>
            <a:lvl9pPr algn="l">
              <a:defRPr sz="1350" b="0">
                <a:solidFill>
                  <a:srgbClr val="586A63"/>
                </a:solidFill>
                <a:latin typeface="Liberation Sans"/>
                <a:ea typeface="Liberation Sans"/>
                <a:cs typeface="Liberation Sans"/>
              </a:defRPr>
            </a:lvl9pPr>
          </a:lstStyle>
          <a:p xmlns:a="http://schemas.openxmlformats.org/drawingml/2006/main">
            <a:pPr algn="l">
              <a:defRPr sz="1350" b="0">
                <a:solidFill>
                  <a:srgbClr val="586A63"/>
                </a:solidFill>
                <a:latin typeface="Liberation Sans"/>
                <a:ea typeface="Liberation Sans"/>
                <a:cs typeface="Liberation Sans"/>
              </a:defRPr>
            </a:pPr>
            <a:r>
              <a:rPr sz="1350" b="0">
                <a:solidFill>
                  <a:srgbClr val="586A63"/>
                </a:solidFill>
                <a:latin typeface="Liberation Sans"/>
                <a:ea typeface="Liberation Sans"/>
                <a:cs typeface="Liberation Sans"/>
              </a:rPr>
              <a:t>Prepared sample workspace, 17 October 2026</a:t>
            </a:r>
          </a:p>
        </p:txBody>
      </p:sp>
    </p:spTree>
    <p:extLst>
      <p:ext uri="{BB962C8B-B14F-4D97-AF65-F5344CB8AC3E}">
        <p14:creationId xmlns:p14="http://schemas.microsoft.com/office/powerpoint/2010/main" val="1352996575"/>
      </p:ext>
    </p:extLst>
  </p:cSld>
</p:sld>
</file>

<file path=ppt/slides/slide9.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CAD1142-7890-4EC0-B2BD-A7A3F11366B9}"/>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73D33"/>
                </a:solidFill>
                <a:latin typeface="Liberation Sans"/>
                <a:ea typeface="Liberation Sans"/>
                <a:cs typeface="Liberation Sans"/>
              </a:defRPr>
            </a:defPPr>
            <a:lvl1pPr algn="l">
              <a:defRPr sz="3300" b="1">
                <a:solidFill>
                  <a:srgbClr val="173D33"/>
                </a:solidFill>
                <a:latin typeface="Liberation Sans"/>
                <a:ea typeface="Liberation Sans"/>
                <a:cs typeface="Liberation Sans"/>
              </a:defRPr>
            </a:lvl1pPr>
            <a:lvl2pPr algn="l">
              <a:defRPr sz="3300" b="1">
                <a:solidFill>
                  <a:srgbClr val="173D33"/>
                </a:solidFill>
                <a:latin typeface="Liberation Sans"/>
                <a:ea typeface="Liberation Sans"/>
                <a:cs typeface="Liberation Sans"/>
              </a:defRPr>
            </a:lvl2pPr>
            <a:lvl3pPr algn="l">
              <a:defRPr sz="3300" b="1">
                <a:solidFill>
                  <a:srgbClr val="173D33"/>
                </a:solidFill>
                <a:latin typeface="Liberation Sans"/>
                <a:ea typeface="Liberation Sans"/>
                <a:cs typeface="Liberation Sans"/>
              </a:defRPr>
            </a:lvl3pPr>
            <a:lvl4pPr algn="l">
              <a:defRPr sz="3300" b="1">
                <a:solidFill>
                  <a:srgbClr val="173D33"/>
                </a:solidFill>
                <a:latin typeface="Liberation Sans"/>
                <a:ea typeface="Liberation Sans"/>
                <a:cs typeface="Liberation Sans"/>
              </a:defRPr>
            </a:lvl4pPr>
            <a:lvl5pPr algn="l">
              <a:defRPr sz="3300" b="1">
                <a:solidFill>
                  <a:srgbClr val="173D33"/>
                </a:solidFill>
                <a:latin typeface="Liberation Sans"/>
                <a:ea typeface="Liberation Sans"/>
                <a:cs typeface="Liberation Sans"/>
              </a:defRPr>
            </a:lvl5pPr>
            <a:lvl6pPr algn="l">
              <a:defRPr sz="3300" b="1">
                <a:solidFill>
                  <a:srgbClr val="173D33"/>
                </a:solidFill>
                <a:latin typeface="Liberation Sans"/>
                <a:ea typeface="Liberation Sans"/>
                <a:cs typeface="Liberation Sans"/>
              </a:defRPr>
            </a:lvl6pPr>
            <a:lvl7pPr algn="l">
              <a:defRPr sz="3300" b="1">
                <a:solidFill>
                  <a:srgbClr val="173D33"/>
                </a:solidFill>
                <a:latin typeface="Liberation Sans"/>
                <a:ea typeface="Liberation Sans"/>
                <a:cs typeface="Liberation Sans"/>
              </a:defRPr>
            </a:lvl7pPr>
            <a:lvl8pPr algn="l">
              <a:defRPr sz="3300" b="1">
                <a:solidFill>
                  <a:srgbClr val="173D33"/>
                </a:solidFill>
                <a:latin typeface="Liberation Sans"/>
                <a:ea typeface="Liberation Sans"/>
                <a:cs typeface="Liberation Sans"/>
              </a:defRPr>
            </a:lvl8pPr>
            <a:lvl9pPr algn="l">
              <a:defRPr sz="3300" b="1">
                <a:solidFill>
                  <a:srgbClr val="173D33"/>
                </a:solidFill>
                <a:latin typeface="Liberation Sans"/>
                <a:ea typeface="Liberation Sans"/>
                <a:cs typeface="Liberation Sans"/>
              </a:defRPr>
            </a:lvl9pPr>
          </a:lstStyle>
          <a:p xmlns:a="http://schemas.openxmlformats.org/drawingml/2006/main">
            <a:pPr algn="l">
              <a:defRPr sz="3300" b="1">
                <a:solidFill>
                  <a:srgbClr val="173D33"/>
                </a:solidFill>
                <a:latin typeface="Liberation Sans"/>
                <a:ea typeface="Liberation Sans"/>
                <a:cs typeface="Liberation Sans"/>
              </a:defRPr>
            </a:pPr>
            <a:r>
              <a:rPr sz="3300" b="1">
                <a:solidFill>
                  <a:srgbClr val="173D33"/>
                </a:solidFill>
                <a:latin typeface="Liberation Sans"/>
                <a:ea typeface="Liberation Sans"/>
                <a:cs typeface="Liberation Sans"/>
              </a:rPr>
              <a:t>Retrieval results on LM-Synth v1</a:t>
            </a:r>
          </a:p>
        </p:txBody>
      </p:sp>
      <p:sp>
        <p:nvSpPr>
          <p:cNvPr id="3" name="09">
            <a:extLst xmlns:a="http://schemas.openxmlformats.org/drawingml/2006/main">
              <a:ext uri="{FF2B5EF4-FFF2-40B4-BE49-F238E27FC236}">
                <a16:creationId xmlns:a16="http://schemas.microsoft.com/office/drawing/2014/main" id="{473CF226-ACE3-484B-BFAD-28FF302AFD44}"/>
              </a:ext>
            </a:extLst>
          </p:cNvPr>
          <p:cNvSpPr>
            <a:spLocks xmlns:a="http://schemas.openxmlformats.org/drawingml/2006/main" noGrp="1"/>
          </p:cNvSpPr>
          <p:nvPr/>
        </p:nvSpPr>
        <p:spPr>
          <a:xfrm xmlns:a="http://schemas.openxmlformats.org/drawingml/2006/main">
            <a:off x="1106805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350" b="0">
                <a:solidFill>
                  <a:srgbClr val="708177"/>
                </a:solidFill>
                <a:latin typeface="Liberation Sans"/>
                <a:ea typeface="Liberation Sans"/>
                <a:cs typeface="Liberation Sans"/>
              </a:defRPr>
            </a:defPPr>
            <a:lvl1pPr algn="r">
              <a:defRPr sz="1350" b="0">
                <a:solidFill>
                  <a:srgbClr val="708177"/>
                </a:solidFill>
                <a:latin typeface="Liberation Sans"/>
                <a:ea typeface="Liberation Sans"/>
                <a:cs typeface="Liberation Sans"/>
              </a:defRPr>
            </a:lvl1pPr>
            <a:lvl2pPr algn="r">
              <a:defRPr sz="1350" b="0">
                <a:solidFill>
                  <a:srgbClr val="708177"/>
                </a:solidFill>
                <a:latin typeface="Liberation Sans"/>
                <a:ea typeface="Liberation Sans"/>
                <a:cs typeface="Liberation Sans"/>
              </a:defRPr>
            </a:lvl2pPr>
            <a:lvl3pPr algn="r">
              <a:defRPr sz="1350" b="0">
                <a:solidFill>
                  <a:srgbClr val="708177"/>
                </a:solidFill>
                <a:latin typeface="Liberation Sans"/>
                <a:ea typeface="Liberation Sans"/>
                <a:cs typeface="Liberation Sans"/>
              </a:defRPr>
            </a:lvl3pPr>
            <a:lvl4pPr algn="r">
              <a:defRPr sz="1350" b="0">
                <a:solidFill>
                  <a:srgbClr val="708177"/>
                </a:solidFill>
                <a:latin typeface="Liberation Sans"/>
                <a:ea typeface="Liberation Sans"/>
                <a:cs typeface="Liberation Sans"/>
              </a:defRPr>
            </a:lvl4pPr>
            <a:lvl5pPr algn="r">
              <a:defRPr sz="1350" b="0">
                <a:solidFill>
                  <a:srgbClr val="708177"/>
                </a:solidFill>
                <a:latin typeface="Liberation Sans"/>
                <a:ea typeface="Liberation Sans"/>
                <a:cs typeface="Liberation Sans"/>
              </a:defRPr>
            </a:lvl5pPr>
            <a:lvl6pPr algn="r">
              <a:defRPr sz="1350" b="0">
                <a:solidFill>
                  <a:srgbClr val="708177"/>
                </a:solidFill>
                <a:latin typeface="Liberation Sans"/>
                <a:ea typeface="Liberation Sans"/>
                <a:cs typeface="Liberation Sans"/>
              </a:defRPr>
            </a:lvl6pPr>
            <a:lvl7pPr algn="r">
              <a:defRPr sz="1350" b="0">
                <a:solidFill>
                  <a:srgbClr val="708177"/>
                </a:solidFill>
                <a:latin typeface="Liberation Sans"/>
                <a:ea typeface="Liberation Sans"/>
                <a:cs typeface="Liberation Sans"/>
              </a:defRPr>
            </a:lvl7pPr>
            <a:lvl8pPr algn="r">
              <a:defRPr sz="1350" b="0">
                <a:solidFill>
                  <a:srgbClr val="708177"/>
                </a:solidFill>
                <a:latin typeface="Liberation Sans"/>
                <a:ea typeface="Liberation Sans"/>
                <a:cs typeface="Liberation Sans"/>
              </a:defRPr>
            </a:lvl8pPr>
            <a:lvl9pPr algn="r">
              <a:defRPr sz="1350" b="0">
                <a:solidFill>
                  <a:srgbClr val="708177"/>
                </a:solidFill>
                <a:latin typeface="Liberation Sans"/>
                <a:ea typeface="Liberation Sans"/>
                <a:cs typeface="Liberation Sans"/>
              </a:defRPr>
            </a:lvl9pPr>
          </a:lstStyle>
          <a:p xmlns:a="http://schemas.openxmlformats.org/drawingml/2006/main">
            <a:pPr algn="r">
              <a:defRPr sz="1350" b="0">
                <a:solidFill>
                  <a:srgbClr val="708177"/>
                </a:solidFill>
                <a:latin typeface="Liberation Sans"/>
                <a:ea typeface="Liberation Sans"/>
                <a:cs typeface="Liberation Sans"/>
              </a:defRPr>
            </a:pPr>
            <a:r>
              <a:rPr sz="1350" b="0">
                <a:solidFill>
                  <a:srgbClr val="708177"/>
                </a:solidFill>
                <a:latin typeface="Liberation Sans"/>
                <a:ea typeface="Liberation Sans"/>
                <a:cs typeface="Liberation Sans"/>
              </a:rPr>
              <a:t>09</a:t>
            </a:r>
          </a:p>
        </p:txBody>
      </p:sp>
      <p:sp>
        <p:nvSpPr>
          <p:cNvPr id="4" name="39 synthetic documents, 141 chunks, 96 answer">
            <a:extLst xmlns:a="http://schemas.openxmlformats.org/drawingml/2006/main">
              <a:ext uri="{FF2B5EF4-FFF2-40B4-BE49-F238E27FC236}">
                <a16:creationId xmlns:a16="http://schemas.microsoft.com/office/drawing/2014/main" id="{9D612F52-1B44-463A-98B5-CEF405890C31}"/>
              </a:ext>
            </a:extLst>
          </p:cNvPr>
          <p:cNvSpPr>
            <a:spLocks xmlns:a="http://schemas.openxmlformats.org/drawingml/2006/main" noGrp="1"/>
          </p:cNvSpPr>
          <p:nvPr/>
        </p:nvSpPr>
        <p:spPr>
          <a:xfrm xmlns:a="http://schemas.openxmlformats.org/drawingml/2006/main">
            <a:off x="609600" y="12573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586A63"/>
                </a:solidFill>
                <a:latin typeface="Liberation Sans"/>
                <a:ea typeface="Liberation Sans"/>
                <a:cs typeface="Liberation Sans"/>
              </a:defRPr>
            </a:defPPr>
            <a:lvl1pPr algn="l">
              <a:defRPr sz="2025" b="0">
                <a:solidFill>
                  <a:srgbClr val="586A63"/>
                </a:solidFill>
                <a:latin typeface="Liberation Sans"/>
                <a:ea typeface="Liberation Sans"/>
                <a:cs typeface="Liberation Sans"/>
              </a:defRPr>
            </a:lvl1pPr>
            <a:lvl2pPr algn="l">
              <a:defRPr sz="2025" b="0">
                <a:solidFill>
                  <a:srgbClr val="586A63"/>
                </a:solidFill>
                <a:latin typeface="Liberation Sans"/>
                <a:ea typeface="Liberation Sans"/>
                <a:cs typeface="Liberation Sans"/>
              </a:defRPr>
            </a:lvl2pPr>
            <a:lvl3pPr algn="l">
              <a:defRPr sz="2025" b="0">
                <a:solidFill>
                  <a:srgbClr val="586A63"/>
                </a:solidFill>
                <a:latin typeface="Liberation Sans"/>
                <a:ea typeface="Liberation Sans"/>
                <a:cs typeface="Liberation Sans"/>
              </a:defRPr>
            </a:lvl3pPr>
            <a:lvl4pPr algn="l">
              <a:defRPr sz="2025" b="0">
                <a:solidFill>
                  <a:srgbClr val="586A63"/>
                </a:solidFill>
                <a:latin typeface="Liberation Sans"/>
                <a:ea typeface="Liberation Sans"/>
                <a:cs typeface="Liberation Sans"/>
              </a:defRPr>
            </a:lvl4pPr>
            <a:lvl5pPr algn="l">
              <a:defRPr sz="2025" b="0">
                <a:solidFill>
                  <a:srgbClr val="586A63"/>
                </a:solidFill>
                <a:latin typeface="Liberation Sans"/>
                <a:ea typeface="Liberation Sans"/>
                <a:cs typeface="Liberation Sans"/>
              </a:defRPr>
            </a:lvl5pPr>
            <a:lvl6pPr algn="l">
              <a:defRPr sz="2025" b="0">
                <a:solidFill>
                  <a:srgbClr val="586A63"/>
                </a:solidFill>
                <a:latin typeface="Liberation Sans"/>
                <a:ea typeface="Liberation Sans"/>
                <a:cs typeface="Liberation Sans"/>
              </a:defRPr>
            </a:lvl6pPr>
            <a:lvl7pPr algn="l">
              <a:defRPr sz="2025" b="0">
                <a:solidFill>
                  <a:srgbClr val="586A63"/>
                </a:solidFill>
                <a:latin typeface="Liberation Sans"/>
                <a:ea typeface="Liberation Sans"/>
                <a:cs typeface="Liberation Sans"/>
              </a:defRPr>
            </a:lvl7pPr>
            <a:lvl8pPr algn="l">
              <a:defRPr sz="2025" b="0">
                <a:solidFill>
                  <a:srgbClr val="586A63"/>
                </a:solidFill>
                <a:latin typeface="Liberation Sans"/>
                <a:ea typeface="Liberation Sans"/>
                <a:cs typeface="Liberation Sans"/>
              </a:defRPr>
            </a:lvl8pPr>
            <a:lvl9pPr algn="l">
              <a:defRPr sz="2025" b="0">
                <a:solidFill>
                  <a:srgbClr val="586A63"/>
                </a:solidFill>
                <a:latin typeface="Liberation Sans"/>
                <a:ea typeface="Liberation Sans"/>
                <a:cs typeface="Liberation Sans"/>
              </a:defRPr>
            </a:lvl9pPr>
          </a:lstStyle>
          <a:p xmlns:a="http://schemas.openxmlformats.org/drawingml/2006/main">
            <a:pPr algn="l">
              <a:defRPr sz="2025" b="0">
                <a:solidFill>
                  <a:srgbClr val="586A63"/>
                </a:solidFill>
                <a:latin typeface="Liberation Sans"/>
                <a:ea typeface="Liberation Sans"/>
                <a:cs typeface="Liberation Sans"/>
              </a:defRPr>
            </a:pPr>
            <a:r>
              <a:rPr sz="2025" b="0">
                <a:solidFill>
                  <a:srgbClr val="586A63"/>
                </a:solidFill>
                <a:latin typeface="Liberation Sans"/>
                <a:ea typeface="Liberation Sans"/>
                <a:cs typeface="Liberation Sans"/>
              </a:rPr>
              <a:t>39 synthetic documents, 141 chunks, 96 answerable questions</a:t>
            </a:r>
          </a:p>
        </p:txBody>
      </p:sp>
      <p:graphicFrame>
        <p:nvGraphicFramePr>
          <p:cNvPr id="5" name="Chart">
            <a:extLst xmlns:a="http://schemas.openxmlformats.org/drawingml/2006/main">
              <a:ext uri="{FF2B5EF4-FFF2-40B4-BE49-F238E27FC236}">
                <a16:creationId xmlns:a16="http://schemas.microsoft.com/office/drawing/2014/main" id="{01907E82-F8A3-449D-B019-7409B960D839}"/>
              </a:ext>
            </a:extLst>
          </p:cNvPr>
          <p:cNvGraphicFramePr/>
          <p:nvPr/>
        </p:nvGraphicFramePr>
        <p:xfrm>
          <a:off xmlns:a="http://schemas.openxmlformats.org/drawingml/2006/main" x="609600" y="1914525"/>
          <a:ext xmlns:a="http://schemas.openxmlformats.org/drawingml/2006/main" cx="7229475" cy="3562350"/>
        </p:xfrm>
        <a:graphic xmlns:a="http://schemas.openxmlformats.org/drawingml/2006/main">
          <a:graphicData uri="http://schemas.openxmlformats.org/drawingml/2006/chart">
            <c:chart xmlns:r="http://schemas.openxmlformats.org/officeDocument/2006/relationships" xmlns:c="http://schemas.openxmlformats.org/drawingml/2006/chart" r:id="Rd5b8cfcec8914b4b"/>
          </a:graphicData>
        </a:graphic>
      </p:graphicFrame>
      <p:sp>
        <p:nvSpPr>
          <p:cNvPr id="6" name="96/96">
            <a:extLst xmlns:a="http://schemas.openxmlformats.org/drawingml/2006/main">
              <a:ext uri="{FF2B5EF4-FFF2-40B4-BE49-F238E27FC236}">
                <a16:creationId xmlns:a16="http://schemas.microsoft.com/office/drawing/2014/main" id="{EC0B27A3-42D2-40F5-B4BE-A360D0A2207D}"/>
              </a:ext>
            </a:extLst>
          </p:cNvPr>
          <p:cNvSpPr>
            <a:spLocks xmlns:a="http://schemas.openxmlformats.org/drawingml/2006/main" noGrp="1"/>
          </p:cNvSpPr>
          <p:nvPr/>
        </p:nvSpPr>
        <p:spPr>
          <a:xfrm xmlns:a="http://schemas.openxmlformats.org/drawingml/2006/main">
            <a:off x="8496300" y="213360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4575" b="1">
                <a:solidFill>
                  <a:srgbClr val="277B63"/>
                </a:solidFill>
                <a:latin typeface="Liberation Sans"/>
                <a:ea typeface="Liberation Sans"/>
                <a:cs typeface="Liberation Sans"/>
              </a:defRPr>
            </a:defPPr>
            <a:lvl1pPr algn="l">
              <a:defRPr sz="4575" b="1">
                <a:solidFill>
                  <a:srgbClr val="277B63"/>
                </a:solidFill>
                <a:latin typeface="Liberation Sans"/>
                <a:ea typeface="Liberation Sans"/>
                <a:cs typeface="Liberation Sans"/>
              </a:defRPr>
            </a:lvl1pPr>
            <a:lvl2pPr algn="l">
              <a:defRPr sz="4575" b="1">
                <a:solidFill>
                  <a:srgbClr val="277B63"/>
                </a:solidFill>
                <a:latin typeface="Liberation Sans"/>
                <a:ea typeface="Liberation Sans"/>
                <a:cs typeface="Liberation Sans"/>
              </a:defRPr>
            </a:lvl2pPr>
            <a:lvl3pPr algn="l">
              <a:defRPr sz="4575" b="1">
                <a:solidFill>
                  <a:srgbClr val="277B63"/>
                </a:solidFill>
                <a:latin typeface="Liberation Sans"/>
                <a:ea typeface="Liberation Sans"/>
                <a:cs typeface="Liberation Sans"/>
              </a:defRPr>
            </a:lvl3pPr>
            <a:lvl4pPr algn="l">
              <a:defRPr sz="4575" b="1">
                <a:solidFill>
                  <a:srgbClr val="277B63"/>
                </a:solidFill>
                <a:latin typeface="Liberation Sans"/>
                <a:ea typeface="Liberation Sans"/>
                <a:cs typeface="Liberation Sans"/>
              </a:defRPr>
            </a:lvl4pPr>
            <a:lvl5pPr algn="l">
              <a:defRPr sz="4575" b="1">
                <a:solidFill>
                  <a:srgbClr val="277B63"/>
                </a:solidFill>
                <a:latin typeface="Liberation Sans"/>
                <a:ea typeface="Liberation Sans"/>
                <a:cs typeface="Liberation Sans"/>
              </a:defRPr>
            </a:lvl5pPr>
            <a:lvl6pPr algn="l">
              <a:defRPr sz="4575" b="1">
                <a:solidFill>
                  <a:srgbClr val="277B63"/>
                </a:solidFill>
                <a:latin typeface="Liberation Sans"/>
                <a:ea typeface="Liberation Sans"/>
                <a:cs typeface="Liberation Sans"/>
              </a:defRPr>
            </a:lvl6pPr>
            <a:lvl7pPr algn="l">
              <a:defRPr sz="4575" b="1">
                <a:solidFill>
                  <a:srgbClr val="277B63"/>
                </a:solidFill>
                <a:latin typeface="Liberation Sans"/>
                <a:ea typeface="Liberation Sans"/>
                <a:cs typeface="Liberation Sans"/>
              </a:defRPr>
            </a:lvl7pPr>
            <a:lvl8pPr algn="l">
              <a:defRPr sz="4575" b="1">
                <a:solidFill>
                  <a:srgbClr val="277B63"/>
                </a:solidFill>
                <a:latin typeface="Liberation Sans"/>
                <a:ea typeface="Liberation Sans"/>
                <a:cs typeface="Liberation Sans"/>
              </a:defRPr>
            </a:lvl8pPr>
            <a:lvl9pPr algn="l">
              <a:defRPr sz="4575" b="1">
                <a:solidFill>
                  <a:srgbClr val="277B63"/>
                </a:solidFill>
                <a:latin typeface="Liberation Sans"/>
                <a:ea typeface="Liberation Sans"/>
                <a:cs typeface="Liberation Sans"/>
              </a:defRPr>
            </a:lvl9pPr>
          </a:lstStyle>
          <a:p xmlns:a="http://schemas.openxmlformats.org/drawingml/2006/main">
            <a:pPr algn="l">
              <a:defRPr sz="4575" b="1">
                <a:solidFill>
                  <a:srgbClr val="277B63"/>
                </a:solidFill>
                <a:latin typeface="Liberation Sans"/>
                <a:ea typeface="Liberation Sans"/>
                <a:cs typeface="Liberation Sans"/>
              </a:defRPr>
            </a:pPr>
            <a:r>
              <a:rPr sz="4575" b="1">
                <a:solidFill>
                  <a:srgbClr val="277B63"/>
                </a:solidFill>
                <a:latin typeface="Liberation Sans"/>
                <a:ea typeface="Liberation Sans"/>
                <a:cs typeface="Liberation Sans"/>
              </a:rPr>
              <a:t>96/96</a:t>
            </a:r>
          </a:p>
        </p:txBody>
      </p:sp>
      <p:sp>
        <p:nvSpPr>
          <p:cNvPr id="7" name="Lexical and hybrid cover every requested fact">
            <a:extLst xmlns:a="http://schemas.openxmlformats.org/drawingml/2006/main">
              <a:ext uri="{FF2B5EF4-FFF2-40B4-BE49-F238E27FC236}">
                <a16:creationId xmlns:a16="http://schemas.microsoft.com/office/drawing/2014/main" id="{06840D65-04AD-43F9-B55E-E1D0F697C040}"/>
              </a:ext>
            </a:extLst>
          </p:cNvPr>
          <p:cNvSpPr>
            <a:spLocks xmlns:a="http://schemas.openxmlformats.org/drawingml/2006/main" noGrp="1"/>
          </p:cNvSpPr>
          <p:nvPr/>
        </p:nvSpPr>
        <p:spPr>
          <a:xfrm xmlns:a="http://schemas.openxmlformats.org/drawingml/2006/main">
            <a:off x="8496300" y="3028950"/>
            <a:ext cx="28575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53B34"/>
                </a:solidFill>
                <a:latin typeface="Liberation Sans"/>
                <a:ea typeface="Liberation Sans"/>
                <a:cs typeface="Liberation Sans"/>
              </a:defRPr>
            </a:defPPr>
            <a:lvl1pPr algn="l">
              <a:defRPr sz="2025" b="0">
                <a:solidFill>
                  <a:srgbClr val="253B34"/>
                </a:solidFill>
                <a:latin typeface="Liberation Sans"/>
                <a:ea typeface="Liberation Sans"/>
                <a:cs typeface="Liberation Sans"/>
              </a:defRPr>
            </a:lvl1pPr>
            <a:lvl2pPr algn="l">
              <a:defRPr sz="2025" b="0">
                <a:solidFill>
                  <a:srgbClr val="253B34"/>
                </a:solidFill>
                <a:latin typeface="Liberation Sans"/>
                <a:ea typeface="Liberation Sans"/>
                <a:cs typeface="Liberation Sans"/>
              </a:defRPr>
            </a:lvl2pPr>
            <a:lvl3pPr algn="l">
              <a:defRPr sz="2025" b="0">
                <a:solidFill>
                  <a:srgbClr val="253B34"/>
                </a:solidFill>
                <a:latin typeface="Liberation Sans"/>
                <a:ea typeface="Liberation Sans"/>
                <a:cs typeface="Liberation Sans"/>
              </a:defRPr>
            </a:lvl3pPr>
            <a:lvl4pPr algn="l">
              <a:defRPr sz="2025" b="0">
                <a:solidFill>
                  <a:srgbClr val="253B34"/>
                </a:solidFill>
                <a:latin typeface="Liberation Sans"/>
                <a:ea typeface="Liberation Sans"/>
                <a:cs typeface="Liberation Sans"/>
              </a:defRPr>
            </a:lvl4pPr>
            <a:lvl5pPr algn="l">
              <a:defRPr sz="2025" b="0">
                <a:solidFill>
                  <a:srgbClr val="253B34"/>
                </a:solidFill>
                <a:latin typeface="Liberation Sans"/>
                <a:ea typeface="Liberation Sans"/>
                <a:cs typeface="Liberation Sans"/>
              </a:defRPr>
            </a:lvl5pPr>
            <a:lvl6pPr algn="l">
              <a:defRPr sz="2025" b="0">
                <a:solidFill>
                  <a:srgbClr val="253B34"/>
                </a:solidFill>
                <a:latin typeface="Liberation Sans"/>
                <a:ea typeface="Liberation Sans"/>
                <a:cs typeface="Liberation Sans"/>
              </a:defRPr>
            </a:lvl6pPr>
            <a:lvl7pPr algn="l">
              <a:defRPr sz="2025" b="0">
                <a:solidFill>
                  <a:srgbClr val="253B34"/>
                </a:solidFill>
                <a:latin typeface="Liberation Sans"/>
                <a:ea typeface="Liberation Sans"/>
                <a:cs typeface="Liberation Sans"/>
              </a:defRPr>
            </a:lvl7pPr>
            <a:lvl8pPr algn="l">
              <a:defRPr sz="2025" b="0">
                <a:solidFill>
                  <a:srgbClr val="253B34"/>
                </a:solidFill>
                <a:latin typeface="Liberation Sans"/>
                <a:ea typeface="Liberation Sans"/>
                <a:cs typeface="Liberation Sans"/>
              </a:defRPr>
            </a:lvl8pPr>
            <a:lvl9pPr algn="l">
              <a:defRPr sz="2025" b="0">
                <a:solidFill>
                  <a:srgbClr val="253B34"/>
                </a:solidFill>
                <a:latin typeface="Liberation Sans"/>
                <a:ea typeface="Liberation Sans"/>
                <a:cs typeface="Liberation Sans"/>
              </a:defRPr>
            </a:lvl9pPr>
          </a:lstStyle>
          <a:p xmlns:a="http://schemas.openxmlformats.org/drawingml/2006/main">
            <a:pPr algn="l">
              <a:defRPr sz="2025" b="0">
                <a:solidFill>
                  <a:srgbClr val="253B34"/>
                </a:solidFill>
                <a:latin typeface="Liberation Sans"/>
                <a:ea typeface="Liberation Sans"/>
                <a:cs typeface="Liberation Sans"/>
              </a:defRPr>
            </a:pPr>
            <a:r>
              <a:rPr sz="2025" b="0">
                <a:solidFill>
                  <a:srgbClr val="253B34"/>
                </a:solidFill>
                <a:latin typeface="Liberation Sans"/>
                <a:ea typeface="Liberation Sans"/>
                <a:cs typeface="Liberation Sans"/>
              </a:rPr>
              <a:t>Lexical and hybrid cover every requested fact within five passages.</a:t>
            </a:r>
          </a:p>
        </p:txBody>
      </p:sp>
      <p:sp>
        <p:nvSpPr>
          <p:cNvPr id="8" name="91/96 for dense retrieval">
            <a:extLst xmlns:a="http://schemas.openxmlformats.org/drawingml/2006/main">
              <a:ext uri="{FF2B5EF4-FFF2-40B4-BE49-F238E27FC236}">
                <a16:creationId xmlns:a16="http://schemas.microsoft.com/office/drawing/2014/main" id="{79DE04FF-7ED1-4C3B-B6D9-7C297DF905E0}"/>
              </a:ext>
            </a:extLst>
          </p:cNvPr>
          <p:cNvSpPr>
            <a:spLocks xmlns:a="http://schemas.openxmlformats.org/drawingml/2006/main" noGrp="1"/>
          </p:cNvSpPr>
          <p:nvPr/>
        </p:nvSpPr>
        <p:spPr>
          <a:xfrm xmlns:a="http://schemas.openxmlformats.org/drawingml/2006/main">
            <a:off x="8496300" y="48196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586A63"/>
                </a:solidFill>
                <a:latin typeface="Liberation Sans"/>
                <a:ea typeface="Liberation Sans"/>
                <a:cs typeface="Liberation Sans"/>
              </a:defRPr>
            </a:defPPr>
            <a:lvl1pPr algn="l">
              <a:defRPr sz="1875" b="0">
                <a:solidFill>
                  <a:srgbClr val="586A63"/>
                </a:solidFill>
                <a:latin typeface="Liberation Sans"/>
                <a:ea typeface="Liberation Sans"/>
                <a:cs typeface="Liberation Sans"/>
              </a:defRPr>
            </a:lvl1pPr>
            <a:lvl2pPr algn="l">
              <a:defRPr sz="1875" b="0">
                <a:solidFill>
                  <a:srgbClr val="586A63"/>
                </a:solidFill>
                <a:latin typeface="Liberation Sans"/>
                <a:ea typeface="Liberation Sans"/>
                <a:cs typeface="Liberation Sans"/>
              </a:defRPr>
            </a:lvl2pPr>
            <a:lvl3pPr algn="l">
              <a:defRPr sz="1875" b="0">
                <a:solidFill>
                  <a:srgbClr val="586A63"/>
                </a:solidFill>
                <a:latin typeface="Liberation Sans"/>
                <a:ea typeface="Liberation Sans"/>
                <a:cs typeface="Liberation Sans"/>
              </a:defRPr>
            </a:lvl3pPr>
            <a:lvl4pPr algn="l">
              <a:defRPr sz="1875" b="0">
                <a:solidFill>
                  <a:srgbClr val="586A63"/>
                </a:solidFill>
                <a:latin typeface="Liberation Sans"/>
                <a:ea typeface="Liberation Sans"/>
                <a:cs typeface="Liberation Sans"/>
              </a:defRPr>
            </a:lvl4pPr>
            <a:lvl5pPr algn="l">
              <a:defRPr sz="1875" b="0">
                <a:solidFill>
                  <a:srgbClr val="586A63"/>
                </a:solidFill>
                <a:latin typeface="Liberation Sans"/>
                <a:ea typeface="Liberation Sans"/>
                <a:cs typeface="Liberation Sans"/>
              </a:defRPr>
            </a:lvl5pPr>
            <a:lvl6pPr algn="l">
              <a:defRPr sz="1875" b="0">
                <a:solidFill>
                  <a:srgbClr val="586A63"/>
                </a:solidFill>
                <a:latin typeface="Liberation Sans"/>
                <a:ea typeface="Liberation Sans"/>
                <a:cs typeface="Liberation Sans"/>
              </a:defRPr>
            </a:lvl6pPr>
            <a:lvl7pPr algn="l">
              <a:defRPr sz="1875" b="0">
                <a:solidFill>
                  <a:srgbClr val="586A63"/>
                </a:solidFill>
                <a:latin typeface="Liberation Sans"/>
                <a:ea typeface="Liberation Sans"/>
                <a:cs typeface="Liberation Sans"/>
              </a:defRPr>
            </a:lvl7pPr>
            <a:lvl8pPr algn="l">
              <a:defRPr sz="1875" b="0">
                <a:solidFill>
                  <a:srgbClr val="586A63"/>
                </a:solidFill>
                <a:latin typeface="Liberation Sans"/>
                <a:ea typeface="Liberation Sans"/>
                <a:cs typeface="Liberation Sans"/>
              </a:defRPr>
            </a:lvl8pPr>
            <a:lvl9pPr algn="l">
              <a:defRPr sz="1875" b="0">
                <a:solidFill>
                  <a:srgbClr val="586A63"/>
                </a:solidFill>
                <a:latin typeface="Liberation Sans"/>
                <a:ea typeface="Liberation Sans"/>
                <a:cs typeface="Liberation Sans"/>
              </a:defRPr>
            </a:lvl9pPr>
          </a:lstStyle>
          <a:p xmlns:a="http://schemas.openxmlformats.org/drawingml/2006/main">
            <a:pPr algn="l">
              <a:defRPr sz="1875" b="0">
                <a:solidFill>
                  <a:srgbClr val="586A63"/>
                </a:solidFill>
                <a:latin typeface="Liberation Sans"/>
                <a:ea typeface="Liberation Sans"/>
                <a:cs typeface="Liberation Sans"/>
              </a:defRPr>
            </a:pPr>
            <a:r>
              <a:rPr sz="1875" b="0">
                <a:solidFill>
                  <a:srgbClr val="586A63"/>
                </a:solidFill>
                <a:latin typeface="Liberation Sans"/>
                <a:ea typeface="Liberation Sans"/>
                <a:cs typeface="Liberation Sans"/>
              </a:rPr>
              <a:t>91/96 for dense retrieval</a:t>
            </a:r>
          </a:p>
        </p:txBody>
      </p:sp>
      <p:sp>
        <p:nvSpPr>
          <p:cNvPr id="9" name="Evidence coverage on authored synthetic quest">
            <a:extLst xmlns:a="http://schemas.openxmlformats.org/drawingml/2006/main">
              <a:ext uri="{FF2B5EF4-FFF2-40B4-BE49-F238E27FC236}">
                <a16:creationId xmlns:a16="http://schemas.microsoft.com/office/drawing/2014/main" id="{9DA4C5B7-21D1-4F5E-8436-E30A80181BE8}"/>
              </a:ext>
            </a:extLst>
          </p:cNvPr>
          <p:cNvSpPr>
            <a:spLocks xmlns:a="http://schemas.openxmlformats.org/drawingml/2006/main" noGrp="1"/>
          </p:cNvSpPr>
          <p:nvPr/>
        </p:nvSpPr>
        <p:spPr>
          <a:xfrm xmlns:a="http://schemas.openxmlformats.org/drawingml/2006/main">
            <a:off x="609600" y="59055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586A63"/>
                </a:solidFill>
                <a:latin typeface="Liberation Sans"/>
                <a:ea typeface="Liberation Sans"/>
                <a:cs typeface="Liberation Sans"/>
              </a:defRPr>
            </a:defPPr>
            <a:lvl1pPr algn="l">
              <a:defRPr sz="1650" b="0">
                <a:solidFill>
                  <a:srgbClr val="586A63"/>
                </a:solidFill>
                <a:latin typeface="Liberation Sans"/>
                <a:ea typeface="Liberation Sans"/>
                <a:cs typeface="Liberation Sans"/>
              </a:defRPr>
            </a:lvl1pPr>
            <a:lvl2pPr algn="l">
              <a:defRPr sz="1650" b="0">
                <a:solidFill>
                  <a:srgbClr val="586A63"/>
                </a:solidFill>
                <a:latin typeface="Liberation Sans"/>
                <a:ea typeface="Liberation Sans"/>
                <a:cs typeface="Liberation Sans"/>
              </a:defRPr>
            </a:lvl2pPr>
            <a:lvl3pPr algn="l">
              <a:defRPr sz="1650" b="0">
                <a:solidFill>
                  <a:srgbClr val="586A63"/>
                </a:solidFill>
                <a:latin typeface="Liberation Sans"/>
                <a:ea typeface="Liberation Sans"/>
                <a:cs typeface="Liberation Sans"/>
              </a:defRPr>
            </a:lvl3pPr>
            <a:lvl4pPr algn="l">
              <a:defRPr sz="1650" b="0">
                <a:solidFill>
                  <a:srgbClr val="586A63"/>
                </a:solidFill>
                <a:latin typeface="Liberation Sans"/>
                <a:ea typeface="Liberation Sans"/>
                <a:cs typeface="Liberation Sans"/>
              </a:defRPr>
            </a:lvl4pPr>
            <a:lvl5pPr algn="l">
              <a:defRPr sz="1650" b="0">
                <a:solidFill>
                  <a:srgbClr val="586A63"/>
                </a:solidFill>
                <a:latin typeface="Liberation Sans"/>
                <a:ea typeface="Liberation Sans"/>
                <a:cs typeface="Liberation Sans"/>
              </a:defRPr>
            </a:lvl5pPr>
            <a:lvl6pPr algn="l">
              <a:defRPr sz="1650" b="0">
                <a:solidFill>
                  <a:srgbClr val="586A63"/>
                </a:solidFill>
                <a:latin typeface="Liberation Sans"/>
                <a:ea typeface="Liberation Sans"/>
                <a:cs typeface="Liberation Sans"/>
              </a:defRPr>
            </a:lvl6pPr>
            <a:lvl7pPr algn="l">
              <a:defRPr sz="1650" b="0">
                <a:solidFill>
                  <a:srgbClr val="586A63"/>
                </a:solidFill>
                <a:latin typeface="Liberation Sans"/>
                <a:ea typeface="Liberation Sans"/>
                <a:cs typeface="Liberation Sans"/>
              </a:defRPr>
            </a:lvl7pPr>
            <a:lvl8pPr algn="l">
              <a:defRPr sz="1650" b="0">
                <a:solidFill>
                  <a:srgbClr val="586A63"/>
                </a:solidFill>
                <a:latin typeface="Liberation Sans"/>
                <a:ea typeface="Liberation Sans"/>
                <a:cs typeface="Liberation Sans"/>
              </a:defRPr>
            </a:lvl8pPr>
            <a:lvl9pPr algn="l">
              <a:defRPr sz="1650" b="0">
                <a:solidFill>
                  <a:srgbClr val="586A63"/>
                </a:solidFill>
                <a:latin typeface="Liberation Sans"/>
                <a:ea typeface="Liberation Sans"/>
                <a:cs typeface="Liberation Sans"/>
              </a:defRPr>
            </a:lvl9pPr>
          </a:lstStyle>
          <a:p xmlns:a="http://schemas.openxmlformats.org/drawingml/2006/main">
            <a:pPr algn="l">
              <a:defRPr sz="1650" b="0">
                <a:solidFill>
                  <a:srgbClr val="586A63"/>
                </a:solidFill>
                <a:latin typeface="Liberation Sans"/>
                <a:ea typeface="Liberation Sans"/>
                <a:cs typeface="Liberation Sans"/>
              </a:defRPr>
            </a:pPr>
            <a:r>
              <a:rPr sz="1650" b="0">
                <a:solidFill>
                  <a:srgbClr val="586A63"/>
                </a:solidFill>
                <a:latin typeface="Liberation Sans"/>
                <a:ea typeface="Liberation Sans"/>
                <a:cs typeface="Liberation Sans"/>
              </a:rPr>
              <a:t>Evidence coverage on authored synthetic questions. This does not establish answer accuracy.</a:t>
            </a:r>
          </a:p>
        </p:txBody>
      </p:sp>
    </p:spTree>
    <p:extLst>
      <p:ext uri="{BB962C8B-B14F-4D97-AF65-F5344CB8AC3E}">
        <p14:creationId xmlns:p14="http://schemas.microsoft.com/office/powerpoint/2010/main" val="407569576"/>
      </p:ext>
    </p:extLst>
  </p:cSld>
</p:sld>
</file>

<file path=ppt/slides/slide10.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5C6C112-80E3-4A06-A221-97760F2731F1}"/>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73D33"/>
                </a:solidFill>
                <a:latin typeface="Liberation Sans"/>
                <a:ea typeface="Liberation Sans"/>
                <a:cs typeface="Liberation Sans"/>
              </a:defRPr>
            </a:defPPr>
            <a:lvl1pPr algn="l">
              <a:defRPr sz="3300" b="1">
                <a:solidFill>
                  <a:srgbClr val="173D33"/>
                </a:solidFill>
                <a:latin typeface="Liberation Sans"/>
                <a:ea typeface="Liberation Sans"/>
                <a:cs typeface="Liberation Sans"/>
              </a:defRPr>
            </a:lvl1pPr>
            <a:lvl2pPr algn="l">
              <a:defRPr sz="3300" b="1">
                <a:solidFill>
                  <a:srgbClr val="173D33"/>
                </a:solidFill>
                <a:latin typeface="Liberation Sans"/>
                <a:ea typeface="Liberation Sans"/>
                <a:cs typeface="Liberation Sans"/>
              </a:defRPr>
            </a:lvl2pPr>
            <a:lvl3pPr algn="l">
              <a:defRPr sz="3300" b="1">
                <a:solidFill>
                  <a:srgbClr val="173D33"/>
                </a:solidFill>
                <a:latin typeface="Liberation Sans"/>
                <a:ea typeface="Liberation Sans"/>
                <a:cs typeface="Liberation Sans"/>
              </a:defRPr>
            </a:lvl3pPr>
            <a:lvl4pPr algn="l">
              <a:defRPr sz="3300" b="1">
                <a:solidFill>
                  <a:srgbClr val="173D33"/>
                </a:solidFill>
                <a:latin typeface="Liberation Sans"/>
                <a:ea typeface="Liberation Sans"/>
                <a:cs typeface="Liberation Sans"/>
              </a:defRPr>
            </a:lvl4pPr>
            <a:lvl5pPr algn="l">
              <a:defRPr sz="3300" b="1">
                <a:solidFill>
                  <a:srgbClr val="173D33"/>
                </a:solidFill>
                <a:latin typeface="Liberation Sans"/>
                <a:ea typeface="Liberation Sans"/>
                <a:cs typeface="Liberation Sans"/>
              </a:defRPr>
            </a:lvl5pPr>
            <a:lvl6pPr algn="l">
              <a:defRPr sz="3300" b="1">
                <a:solidFill>
                  <a:srgbClr val="173D33"/>
                </a:solidFill>
                <a:latin typeface="Liberation Sans"/>
                <a:ea typeface="Liberation Sans"/>
                <a:cs typeface="Liberation Sans"/>
              </a:defRPr>
            </a:lvl6pPr>
            <a:lvl7pPr algn="l">
              <a:defRPr sz="3300" b="1">
                <a:solidFill>
                  <a:srgbClr val="173D33"/>
                </a:solidFill>
                <a:latin typeface="Liberation Sans"/>
                <a:ea typeface="Liberation Sans"/>
                <a:cs typeface="Liberation Sans"/>
              </a:defRPr>
            </a:lvl7pPr>
            <a:lvl8pPr algn="l">
              <a:defRPr sz="3300" b="1">
                <a:solidFill>
                  <a:srgbClr val="173D33"/>
                </a:solidFill>
                <a:latin typeface="Liberation Sans"/>
                <a:ea typeface="Liberation Sans"/>
                <a:cs typeface="Liberation Sans"/>
              </a:defRPr>
            </a:lvl8pPr>
            <a:lvl9pPr algn="l">
              <a:defRPr sz="3300" b="1">
                <a:solidFill>
                  <a:srgbClr val="173D33"/>
                </a:solidFill>
                <a:latin typeface="Liberation Sans"/>
                <a:ea typeface="Liberation Sans"/>
                <a:cs typeface="Liberation Sans"/>
              </a:defRPr>
            </a:lvl9pPr>
          </a:lstStyle>
          <a:p xmlns:a="http://schemas.openxmlformats.org/drawingml/2006/main">
            <a:pPr algn="l">
              <a:defRPr sz="3300" b="1">
                <a:solidFill>
                  <a:srgbClr val="173D33"/>
                </a:solidFill>
                <a:latin typeface="Liberation Sans"/>
                <a:ea typeface="Liberation Sans"/>
                <a:cs typeface="Liberation Sans"/>
              </a:defRPr>
            </a:pPr>
            <a:r>
              <a:rPr sz="3300" b="1">
                <a:solidFill>
                  <a:srgbClr val="173D33"/>
                </a:solidFill>
                <a:latin typeface="Liberation Sans"/>
                <a:ea typeface="Liberation Sans"/>
                <a:cs typeface="Liberation Sans"/>
              </a:rPr>
              <a:t>Generation results and the context repair</a:t>
            </a:r>
          </a:p>
        </p:txBody>
      </p:sp>
      <p:sp>
        <p:nvSpPr>
          <p:cNvPr id="3" name="10">
            <a:extLst xmlns:a="http://schemas.openxmlformats.org/drawingml/2006/main">
              <a:ext uri="{FF2B5EF4-FFF2-40B4-BE49-F238E27FC236}">
                <a16:creationId xmlns:a16="http://schemas.microsoft.com/office/drawing/2014/main" id="{C66A8F4B-4663-4A50-9751-386A31E8CD6D}"/>
              </a:ext>
            </a:extLst>
          </p:cNvPr>
          <p:cNvSpPr>
            <a:spLocks xmlns:a="http://schemas.openxmlformats.org/drawingml/2006/main" noGrp="1"/>
          </p:cNvSpPr>
          <p:nvPr/>
        </p:nvSpPr>
        <p:spPr>
          <a:xfrm xmlns:a="http://schemas.openxmlformats.org/drawingml/2006/main">
            <a:off x="1106805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350" b="0">
                <a:solidFill>
                  <a:srgbClr val="708177"/>
                </a:solidFill>
                <a:latin typeface="Liberation Sans"/>
                <a:ea typeface="Liberation Sans"/>
                <a:cs typeface="Liberation Sans"/>
              </a:defRPr>
            </a:defPPr>
            <a:lvl1pPr algn="r">
              <a:defRPr sz="1350" b="0">
                <a:solidFill>
                  <a:srgbClr val="708177"/>
                </a:solidFill>
                <a:latin typeface="Liberation Sans"/>
                <a:ea typeface="Liberation Sans"/>
                <a:cs typeface="Liberation Sans"/>
              </a:defRPr>
            </a:lvl1pPr>
            <a:lvl2pPr algn="r">
              <a:defRPr sz="1350" b="0">
                <a:solidFill>
                  <a:srgbClr val="708177"/>
                </a:solidFill>
                <a:latin typeface="Liberation Sans"/>
                <a:ea typeface="Liberation Sans"/>
                <a:cs typeface="Liberation Sans"/>
              </a:defRPr>
            </a:lvl2pPr>
            <a:lvl3pPr algn="r">
              <a:defRPr sz="1350" b="0">
                <a:solidFill>
                  <a:srgbClr val="708177"/>
                </a:solidFill>
                <a:latin typeface="Liberation Sans"/>
                <a:ea typeface="Liberation Sans"/>
                <a:cs typeface="Liberation Sans"/>
              </a:defRPr>
            </a:lvl3pPr>
            <a:lvl4pPr algn="r">
              <a:defRPr sz="1350" b="0">
                <a:solidFill>
                  <a:srgbClr val="708177"/>
                </a:solidFill>
                <a:latin typeface="Liberation Sans"/>
                <a:ea typeface="Liberation Sans"/>
                <a:cs typeface="Liberation Sans"/>
              </a:defRPr>
            </a:lvl4pPr>
            <a:lvl5pPr algn="r">
              <a:defRPr sz="1350" b="0">
                <a:solidFill>
                  <a:srgbClr val="708177"/>
                </a:solidFill>
                <a:latin typeface="Liberation Sans"/>
                <a:ea typeface="Liberation Sans"/>
                <a:cs typeface="Liberation Sans"/>
              </a:defRPr>
            </a:lvl5pPr>
            <a:lvl6pPr algn="r">
              <a:defRPr sz="1350" b="0">
                <a:solidFill>
                  <a:srgbClr val="708177"/>
                </a:solidFill>
                <a:latin typeface="Liberation Sans"/>
                <a:ea typeface="Liberation Sans"/>
                <a:cs typeface="Liberation Sans"/>
              </a:defRPr>
            </a:lvl6pPr>
            <a:lvl7pPr algn="r">
              <a:defRPr sz="1350" b="0">
                <a:solidFill>
                  <a:srgbClr val="708177"/>
                </a:solidFill>
                <a:latin typeface="Liberation Sans"/>
                <a:ea typeface="Liberation Sans"/>
                <a:cs typeface="Liberation Sans"/>
              </a:defRPr>
            </a:lvl7pPr>
            <a:lvl8pPr algn="r">
              <a:defRPr sz="1350" b="0">
                <a:solidFill>
                  <a:srgbClr val="708177"/>
                </a:solidFill>
                <a:latin typeface="Liberation Sans"/>
                <a:ea typeface="Liberation Sans"/>
                <a:cs typeface="Liberation Sans"/>
              </a:defRPr>
            </a:lvl8pPr>
            <a:lvl9pPr algn="r">
              <a:defRPr sz="1350" b="0">
                <a:solidFill>
                  <a:srgbClr val="708177"/>
                </a:solidFill>
                <a:latin typeface="Liberation Sans"/>
                <a:ea typeface="Liberation Sans"/>
                <a:cs typeface="Liberation Sans"/>
              </a:defRPr>
            </a:lvl9pPr>
          </a:lstStyle>
          <a:p xmlns:a="http://schemas.openxmlformats.org/drawingml/2006/main">
            <a:pPr algn="r">
              <a:defRPr sz="1350" b="0">
                <a:solidFill>
                  <a:srgbClr val="708177"/>
                </a:solidFill>
                <a:latin typeface="Liberation Sans"/>
                <a:ea typeface="Liberation Sans"/>
                <a:cs typeface="Liberation Sans"/>
              </a:defRPr>
            </a:pPr>
            <a:r>
              <a:rPr sz="1350" b="0">
                <a:solidFill>
                  <a:srgbClr val="708177"/>
                </a:solidFill>
                <a:latin typeface="Liberation Sans"/>
                <a:ea typeface="Liberation Sans"/>
                <a:cs typeface="Liberation Sans"/>
              </a:rPr>
              <a:t>10</a:t>
            </a:r>
          </a:p>
        </p:txBody>
      </p:sp>
      <p:sp>
        <p:nvSpPr>
          <p:cNvPr id="4" name="Complete answer matches on 24 reused syntheti">
            <a:extLst xmlns:a="http://schemas.openxmlformats.org/drawingml/2006/main">
              <a:ext uri="{FF2B5EF4-FFF2-40B4-BE49-F238E27FC236}">
                <a16:creationId xmlns:a16="http://schemas.microsoft.com/office/drawing/2014/main" id="{D5083083-3F23-43A9-97CE-A271EF651182}"/>
              </a:ext>
            </a:extLst>
          </p:cNvPr>
          <p:cNvSpPr>
            <a:spLocks xmlns:a="http://schemas.openxmlformats.org/drawingml/2006/main" noGrp="1"/>
          </p:cNvSpPr>
          <p:nvPr/>
        </p:nvSpPr>
        <p:spPr>
          <a:xfrm xmlns:a="http://schemas.openxmlformats.org/drawingml/2006/main">
            <a:off x="609600" y="13049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586A63"/>
                </a:solidFill>
                <a:latin typeface="Liberation Sans"/>
                <a:ea typeface="Liberation Sans"/>
                <a:cs typeface="Liberation Sans"/>
              </a:defRPr>
            </a:defPPr>
            <a:lvl1pPr algn="l">
              <a:defRPr sz="2100" b="0">
                <a:solidFill>
                  <a:srgbClr val="586A63"/>
                </a:solidFill>
                <a:latin typeface="Liberation Sans"/>
                <a:ea typeface="Liberation Sans"/>
                <a:cs typeface="Liberation Sans"/>
              </a:defRPr>
            </a:lvl1pPr>
            <a:lvl2pPr algn="l">
              <a:defRPr sz="2100" b="0">
                <a:solidFill>
                  <a:srgbClr val="586A63"/>
                </a:solidFill>
                <a:latin typeface="Liberation Sans"/>
                <a:ea typeface="Liberation Sans"/>
                <a:cs typeface="Liberation Sans"/>
              </a:defRPr>
            </a:lvl2pPr>
            <a:lvl3pPr algn="l">
              <a:defRPr sz="2100" b="0">
                <a:solidFill>
                  <a:srgbClr val="586A63"/>
                </a:solidFill>
                <a:latin typeface="Liberation Sans"/>
                <a:ea typeface="Liberation Sans"/>
                <a:cs typeface="Liberation Sans"/>
              </a:defRPr>
            </a:lvl3pPr>
            <a:lvl4pPr algn="l">
              <a:defRPr sz="2100" b="0">
                <a:solidFill>
                  <a:srgbClr val="586A63"/>
                </a:solidFill>
                <a:latin typeface="Liberation Sans"/>
                <a:ea typeface="Liberation Sans"/>
                <a:cs typeface="Liberation Sans"/>
              </a:defRPr>
            </a:lvl4pPr>
            <a:lvl5pPr algn="l">
              <a:defRPr sz="2100" b="0">
                <a:solidFill>
                  <a:srgbClr val="586A63"/>
                </a:solidFill>
                <a:latin typeface="Liberation Sans"/>
                <a:ea typeface="Liberation Sans"/>
                <a:cs typeface="Liberation Sans"/>
              </a:defRPr>
            </a:lvl5pPr>
            <a:lvl6pPr algn="l">
              <a:defRPr sz="2100" b="0">
                <a:solidFill>
                  <a:srgbClr val="586A63"/>
                </a:solidFill>
                <a:latin typeface="Liberation Sans"/>
                <a:ea typeface="Liberation Sans"/>
                <a:cs typeface="Liberation Sans"/>
              </a:defRPr>
            </a:lvl6pPr>
            <a:lvl7pPr algn="l">
              <a:defRPr sz="2100" b="0">
                <a:solidFill>
                  <a:srgbClr val="586A63"/>
                </a:solidFill>
                <a:latin typeface="Liberation Sans"/>
                <a:ea typeface="Liberation Sans"/>
                <a:cs typeface="Liberation Sans"/>
              </a:defRPr>
            </a:lvl7pPr>
            <a:lvl8pPr algn="l">
              <a:defRPr sz="2100" b="0">
                <a:solidFill>
                  <a:srgbClr val="586A63"/>
                </a:solidFill>
                <a:latin typeface="Liberation Sans"/>
                <a:ea typeface="Liberation Sans"/>
                <a:cs typeface="Liberation Sans"/>
              </a:defRPr>
            </a:lvl8pPr>
            <a:lvl9pPr algn="l">
              <a:defRPr sz="2100" b="0">
                <a:solidFill>
                  <a:srgbClr val="586A63"/>
                </a:solidFill>
                <a:latin typeface="Liberation Sans"/>
                <a:ea typeface="Liberation Sans"/>
                <a:cs typeface="Liberation Sans"/>
              </a:defRPr>
            </a:lvl9pPr>
          </a:lstStyle>
          <a:p xmlns:a="http://schemas.openxmlformats.org/drawingml/2006/main">
            <a:pPr algn="l">
              <a:defRPr sz="2100" b="0">
                <a:solidFill>
                  <a:srgbClr val="586A63"/>
                </a:solidFill>
                <a:latin typeface="Liberation Sans"/>
                <a:ea typeface="Liberation Sans"/>
                <a:cs typeface="Liberation Sans"/>
              </a:defRPr>
            </a:pPr>
            <a:r>
              <a:rPr sz="2100" b="0">
                <a:solidFill>
                  <a:srgbClr val="586A63"/>
                </a:solidFill>
                <a:latin typeface="Liberation Sans"/>
                <a:ea typeface="Liberation Sans"/>
                <a:cs typeface="Liberation Sans"/>
              </a:rPr>
              <a:t>Complete answer matches on 24 reused synthetic questions</a:t>
            </a:r>
          </a:p>
        </p:txBody>
      </p:sp>
      <p:graphicFrame>
        <p:nvGraphicFramePr>
          <p:cNvPr id="5" name="">
            <a:extLst xmlns:a="http://schemas.openxmlformats.org/drawingml/2006/main">
              <a:ext uri="{FF2B5EF4-FFF2-40B4-BE49-F238E27FC236}">
                <a16:creationId xmlns:a16="http://schemas.microsoft.com/office/drawing/2014/main" id="{6DB188D4-B002-4FD1-8B01-491BC57B340A}"/>
              </a:ext>
            </a:extLst>
          </p:cNvPr>
          <p:cNvGraphicFramePr/>
          <p:nvPr/>
        </p:nvGraphicFramePr>
        <p:xfrm>
          <a:off xmlns:a="http://schemas.openxmlformats.org/drawingml/2006/main" x="609600" y="2114550"/>
          <a:ext xmlns:a="http://schemas.openxmlformats.org/drawingml/2006/main" cx="10953750" cy="2457450"/>
        </p:xfrm>
        <a:graphic xmlns:a="http://schemas.openxmlformats.org/drawingml/2006/main">
          <a:graphicData uri="http://schemas.openxmlformats.org/drawingml/2006/table">
            <a:tbl>
              <a:tblPr/>
              <a:tblGrid>
                <a:gridCol w="4286250"/>
                <a:gridCol w="3524250"/>
                <a:gridCol w="3143250"/>
              </a:tblGrid>
              <a:tr h="614363">
                <a:tc>
                  <a:txBody>
                    <a:bodyPr/>
                    <a:lstStyle/>
                    <a:p>
                      <a:r>
                        <a:rPr sz="1875" b="1">
                          <a:solidFill>
                            <a:srgbClr val="FFFFFF"/>
                          </a:solidFill>
                          <a:latin typeface="Liberation Sans"/>
                          <a:ea typeface="Liberation Sans"/>
                          <a:cs typeface="Liberation Sans"/>
                        </a:rPr>
                        <a:t>Condition</a:t>
                      </a:r>
                    </a:p>
                  </a:txBody>
                  <a:tcPr marL="91440" marR="91440" marT="45720" marB="45720">
                    <a:lnL w="9525">
                      <a:solidFill>
                        <a:srgbClr val="CAD7CE"/>
                      </a:solidFill>
                      <a:prstDash val="solid"/>
                    </a:lnL>
                    <a:lnR w="9525">
                      <a:solidFill>
                        <a:srgbClr val="CAD7CE"/>
                      </a:solidFill>
                      <a:prstDash val="solid"/>
                    </a:lnR>
                    <a:lnT w="9525">
                      <a:solidFill>
                        <a:srgbClr val="CAD7CE"/>
                      </a:solidFill>
                      <a:prstDash val="solid"/>
                    </a:lnT>
                    <a:lnB w="9525">
                      <a:solidFill>
                        <a:srgbClr val="CAD7CE"/>
                      </a:solidFill>
                      <a:prstDash val="solid"/>
                    </a:lnB>
                    <a:solidFill>
                      <a:srgbClr val="173D33"/>
                    </a:solidFill>
                  </a:tcPr>
                </a:tc>
                <a:tc>
                  <a:txBody>
                    <a:bodyPr/>
                    <a:lstStyle/>
                    <a:p>
                      <a:r>
                        <a:rPr sz="1875" b="1">
                          <a:solidFill>
                            <a:srgbClr val="FFFFFF"/>
                          </a:solidFill>
                          <a:latin typeface="Liberation Sans"/>
                          <a:ea typeface="Liberation Sans"/>
                          <a:cs typeface="Liberation Sans"/>
                        </a:rPr>
                        <a:t>All-fact matches</a:t>
                      </a:r>
                    </a:p>
                  </a:txBody>
                  <a:tcPr marL="91440" marR="91440" marT="45720" marB="45720">
                    <a:lnR w="9525">
                      <a:solidFill>
                        <a:srgbClr val="CAD7CE"/>
                      </a:solidFill>
                      <a:prstDash val="solid"/>
                    </a:lnR>
                    <a:lnT w="9525">
                      <a:solidFill>
                        <a:srgbClr val="CAD7CE"/>
                      </a:solidFill>
                      <a:prstDash val="solid"/>
                    </a:lnT>
                    <a:lnB w="9525">
                      <a:solidFill>
                        <a:srgbClr val="CAD7CE"/>
                      </a:solidFill>
                      <a:prstDash val="solid"/>
                    </a:lnB>
                    <a:solidFill>
                      <a:srgbClr val="173D33"/>
                    </a:solidFill>
                  </a:tcPr>
                </a:tc>
                <a:tc>
                  <a:txBody>
                    <a:bodyPr/>
                    <a:lstStyle/>
                    <a:p>
                      <a:r>
                        <a:rPr sz="1875" b="1">
                          <a:solidFill>
                            <a:srgbClr val="FFFFFF"/>
                          </a:solidFill>
                          <a:latin typeface="Liberation Sans"/>
                          <a:ea typeface="Liberation Sans"/>
                          <a:cs typeface="Liberation Sans"/>
                        </a:rPr>
                        <a:t>Absence phrase</a:t>
                      </a:r>
                    </a:p>
                  </a:txBody>
                  <a:tcPr marL="91440" marR="91440" marT="45720" marB="45720">
                    <a:lnR w="9525">
                      <a:solidFill>
                        <a:srgbClr val="CAD7CE"/>
                      </a:solidFill>
                      <a:prstDash val="solid"/>
                    </a:lnR>
                    <a:lnT w="9525">
                      <a:solidFill>
                        <a:srgbClr val="CAD7CE"/>
                      </a:solidFill>
                      <a:prstDash val="solid"/>
                    </a:lnT>
                    <a:lnB w="9525">
                      <a:solidFill>
                        <a:srgbClr val="CAD7CE"/>
                      </a:solidFill>
                      <a:prstDash val="solid"/>
                    </a:lnB>
                    <a:solidFill>
                      <a:srgbClr val="173D33"/>
                    </a:solidFill>
                  </a:tcPr>
                </a:tc>
              </a:tr>
              <a:tr h="614363">
                <a:tc>
                  <a:txBody>
                    <a:bodyPr/>
                    <a:lstStyle/>
                    <a:p>
                      <a:r>
                        <a:rPr sz="1875" b="0">
                          <a:solidFill>
                            <a:srgbClr val="253B34"/>
                          </a:solidFill>
                          <a:latin typeface="Liberation Sans"/>
                          <a:ea typeface="Liberation Sans"/>
                          <a:cs typeface="Liberation Sans"/>
                        </a:rPr>
                        <a:t>Original RAG and MCP</a:t>
                      </a:r>
                    </a:p>
                  </a:txBody>
                  <a:tcPr marL="91440" marR="91440" marT="45720" marB="45720">
                    <a:lnL w="9525">
                      <a:solidFill>
                        <a:srgbClr val="CAD7CE"/>
                      </a:solidFill>
                      <a:prstDash val="solid"/>
                    </a:lnL>
                    <a:lnR w="9525">
                      <a:solidFill>
                        <a:srgbClr val="CAD7CE"/>
                      </a:solidFill>
                      <a:prstDash val="solid"/>
                    </a:lnR>
                    <a:lnB w="9525">
                      <a:solidFill>
                        <a:srgbClr val="CAD7CE"/>
                      </a:solidFill>
                      <a:prstDash val="solid"/>
                    </a:lnB>
                    <a:solidFill>
                      <a:srgbClr val="FFFFFF"/>
                    </a:solidFill>
                  </a:tcPr>
                </a:tc>
                <a:tc>
                  <a:txBody>
                    <a:bodyPr/>
                    <a:lstStyle/>
                    <a:p>
                      <a:r>
                        <a:rPr sz="1875" b="0">
                          <a:solidFill>
                            <a:srgbClr val="253B34"/>
                          </a:solidFill>
                          <a:latin typeface="Liberation Sans"/>
                          <a:ea typeface="Liberation Sans"/>
                          <a:cs typeface="Liberation Sans"/>
                        </a:rPr>
                        <a:t>0/24 for each</a:t>
                      </a:r>
                    </a:p>
                  </a:txBody>
                  <a:tcPr marL="91440" marR="91440" marT="45720" marB="45720">
                    <a:lnR w="9525">
                      <a:solidFill>
                        <a:srgbClr val="CAD7CE"/>
                      </a:solidFill>
                      <a:prstDash val="solid"/>
                    </a:lnR>
                    <a:lnB w="9525">
                      <a:solidFill>
                        <a:srgbClr val="CAD7CE"/>
                      </a:solidFill>
                      <a:prstDash val="solid"/>
                    </a:lnB>
                    <a:solidFill>
                      <a:srgbClr val="FFFFFF"/>
                    </a:solidFill>
                  </a:tcPr>
                </a:tc>
                <a:tc>
                  <a:txBody>
                    <a:bodyPr/>
                    <a:lstStyle/>
                    <a:p>
                      <a:r>
                        <a:rPr sz="1875" b="0">
                          <a:solidFill>
                            <a:srgbClr val="253B34"/>
                          </a:solidFill>
                          <a:latin typeface="Liberation Sans"/>
                          <a:ea typeface="Liberation Sans"/>
                          <a:cs typeface="Liberation Sans"/>
                        </a:rPr>
                        <a:t>8/8 for each</a:t>
                      </a:r>
                    </a:p>
                  </a:txBody>
                  <a:tcPr marL="91440" marR="91440" marT="45720" marB="45720">
                    <a:lnR w="9525">
                      <a:solidFill>
                        <a:srgbClr val="CAD7CE"/>
                      </a:solidFill>
                      <a:prstDash val="solid"/>
                    </a:lnR>
                    <a:lnB w="9525">
                      <a:solidFill>
                        <a:srgbClr val="CAD7CE"/>
                      </a:solidFill>
                      <a:prstDash val="solid"/>
                    </a:lnB>
                    <a:solidFill>
                      <a:srgbClr val="FFFFFF"/>
                    </a:solidFill>
                  </a:tcPr>
                </a:tc>
              </a:tr>
              <a:tr h="614363">
                <a:tc>
                  <a:txBody>
                    <a:bodyPr/>
                    <a:lstStyle/>
                    <a:p>
                      <a:r>
                        <a:rPr sz="1875" b="0">
                          <a:solidFill>
                            <a:srgbClr val="253B34"/>
                          </a:solidFill>
                          <a:latin typeface="Liberation Sans"/>
                          <a:ea typeface="Liberation Sans"/>
                          <a:cs typeface="Liberation Sans"/>
                        </a:rPr>
                        <a:t>Repaired RAG</a:t>
                      </a:r>
                    </a:p>
                  </a:txBody>
                  <a:tcPr marL="91440" marR="91440" marT="45720" marB="45720">
                    <a:lnL w="9525">
                      <a:solidFill>
                        <a:srgbClr val="CAD7CE"/>
                      </a:solidFill>
                      <a:prstDash val="solid"/>
                    </a:lnL>
                    <a:lnR w="9525">
                      <a:solidFill>
                        <a:srgbClr val="CAD7CE"/>
                      </a:solidFill>
                      <a:prstDash val="solid"/>
                    </a:lnR>
                    <a:lnB w="9525">
                      <a:solidFill>
                        <a:srgbClr val="CAD7CE"/>
                      </a:solidFill>
                      <a:prstDash val="solid"/>
                    </a:lnB>
                    <a:solidFill>
                      <a:srgbClr val="FFFFFF"/>
                    </a:solidFill>
                  </a:tcPr>
                </a:tc>
                <a:tc>
                  <a:txBody>
                    <a:bodyPr/>
                    <a:lstStyle/>
                    <a:p>
                      <a:r>
                        <a:rPr sz="1875" b="0">
                          <a:solidFill>
                            <a:srgbClr val="253B34"/>
                          </a:solidFill>
                          <a:latin typeface="Liberation Sans"/>
                          <a:ea typeface="Liberation Sans"/>
                          <a:cs typeface="Liberation Sans"/>
                        </a:rPr>
                        <a:t>7/24 (29.17%)</a:t>
                      </a:r>
                    </a:p>
                  </a:txBody>
                  <a:tcPr marL="91440" marR="91440" marT="45720" marB="45720">
                    <a:lnR w="9525">
                      <a:solidFill>
                        <a:srgbClr val="CAD7CE"/>
                      </a:solidFill>
                      <a:prstDash val="solid"/>
                    </a:lnR>
                    <a:lnB w="9525">
                      <a:solidFill>
                        <a:srgbClr val="CAD7CE"/>
                      </a:solidFill>
                      <a:prstDash val="solid"/>
                    </a:lnB>
                    <a:solidFill>
                      <a:srgbClr val="FFFFFF"/>
                    </a:solidFill>
                  </a:tcPr>
                </a:tc>
                <a:tc>
                  <a:txBody>
                    <a:bodyPr/>
                    <a:lstStyle/>
                    <a:p>
                      <a:r>
                        <a:rPr sz="1875" b="0">
                          <a:solidFill>
                            <a:srgbClr val="253B34"/>
                          </a:solidFill>
                          <a:latin typeface="Liberation Sans"/>
                          <a:ea typeface="Liberation Sans"/>
                          <a:cs typeface="Liberation Sans"/>
                        </a:rPr>
                        <a:t>8/8</a:t>
                      </a:r>
                    </a:p>
                  </a:txBody>
                  <a:tcPr marL="91440" marR="91440" marT="45720" marB="45720">
                    <a:lnR w="9525">
                      <a:solidFill>
                        <a:srgbClr val="CAD7CE"/>
                      </a:solidFill>
                      <a:prstDash val="solid"/>
                    </a:lnR>
                    <a:lnB w="9525">
                      <a:solidFill>
                        <a:srgbClr val="CAD7CE"/>
                      </a:solidFill>
                      <a:prstDash val="solid"/>
                    </a:lnB>
                    <a:solidFill>
                      <a:srgbClr val="FFFFFF"/>
                    </a:solidFill>
                  </a:tcPr>
                </a:tc>
              </a:tr>
              <a:tr h="614363">
                <a:tc>
                  <a:txBody>
                    <a:bodyPr/>
                    <a:lstStyle/>
                    <a:p>
                      <a:r>
                        <a:rPr sz="1875" b="0">
                          <a:solidFill>
                            <a:srgbClr val="253B34"/>
                          </a:solidFill>
                          <a:latin typeface="Liberation Sans"/>
                          <a:ea typeface="Liberation Sans"/>
                          <a:cs typeface="Liberation Sans"/>
                        </a:rPr>
                        <a:t>Repaired MCP agent</a:t>
                      </a:r>
                    </a:p>
                  </a:txBody>
                  <a:tcPr marL="91440" marR="91440" marT="45720" marB="45720">
                    <a:lnL w="9525">
                      <a:solidFill>
                        <a:srgbClr val="CAD7CE"/>
                      </a:solidFill>
                      <a:prstDash val="solid"/>
                    </a:lnL>
                    <a:lnR w="9525">
                      <a:solidFill>
                        <a:srgbClr val="CAD7CE"/>
                      </a:solidFill>
                      <a:prstDash val="solid"/>
                    </a:lnR>
                    <a:lnB w="9525">
                      <a:solidFill>
                        <a:srgbClr val="CAD7CE"/>
                      </a:solidFill>
                      <a:prstDash val="solid"/>
                    </a:lnB>
                    <a:solidFill>
                      <a:srgbClr val="FFFFFF"/>
                    </a:solidFill>
                  </a:tcPr>
                </a:tc>
                <a:tc>
                  <a:txBody>
                    <a:bodyPr/>
                    <a:lstStyle/>
                    <a:p>
                      <a:r>
                        <a:rPr sz="1875" b="0">
                          <a:solidFill>
                            <a:srgbClr val="253B34"/>
                          </a:solidFill>
                          <a:latin typeface="Liberation Sans"/>
                          <a:ea typeface="Liberation Sans"/>
                          <a:cs typeface="Liberation Sans"/>
                        </a:rPr>
                        <a:t>3/24 (12.50%)</a:t>
                      </a:r>
                    </a:p>
                  </a:txBody>
                  <a:tcPr marL="91440" marR="91440" marT="45720" marB="45720">
                    <a:lnR w="9525">
                      <a:solidFill>
                        <a:srgbClr val="CAD7CE"/>
                      </a:solidFill>
                      <a:prstDash val="solid"/>
                    </a:lnR>
                    <a:lnB w="9525">
                      <a:solidFill>
                        <a:srgbClr val="CAD7CE"/>
                      </a:solidFill>
                      <a:prstDash val="solid"/>
                    </a:lnB>
                    <a:solidFill>
                      <a:srgbClr val="FFFFFF"/>
                    </a:solidFill>
                  </a:tcPr>
                </a:tc>
                <a:tc>
                  <a:txBody>
                    <a:bodyPr/>
                    <a:lstStyle/>
                    <a:p>
                      <a:r>
                        <a:rPr sz="1875" b="0">
                          <a:solidFill>
                            <a:srgbClr val="253B34"/>
                          </a:solidFill>
                          <a:latin typeface="Liberation Sans"/>
                          <a:ea typeface="Liberation Sans"/>
                          <a:cs typeface="Liberation Sans"/>
                        </a:rPr>
                        <a:t>7/8</a:t>
                      </a:r>
                    </a:p>
                  </a:txBody>
                  <a:tcPr marL="91440" marR="91440" marT="45720" marB="45720">
                    <a:lnR w="9525">
                      <a:solidFill>
                        <a:srgbClr val="CAD7CE"/>
                      </a:solidFill>
                      <a:prstDash val="solid"/>
                    </a:lnR>
                    <a:lnB w="9525">
                      <a:solidFill>
                        <a:srgbClr val="CAD7CE"/>
                      </a:solidFill>
                      <a:prstDash val="solid"/>
                    </a:lnB>
                    <a:solidFill>
                      <a:srgbClr val="FFFFFF"/>
                    </a:solidFill>
                  </a:tcPr>
                </a:tc>
              </a:tr>
            </a:tbl>
          </a:graphicData>
        </a:graphic>
      </p:graphicFrame>
      <p:sp>
        <p:nvSpPr>
          <p:cNvPr id="6" name="64/64 repaired requests retained initial evid">
            <a:extLst xmlns:a="http://schemas.openxmlformats.org/drawingml/2006/main">
              <a:ext uri="{FF2B5EF4-FFF2-40B4-BE49-F238E27FC236}">
                <a16:creationId xmlns:a16="http://schemas.microsoft.com/office/drawing/2014/main" id="{AE9330EC-7BBE-4DE5-94AF-807ACA6B7F5D}"/>
              </a:ext>
            </a:extLst>
          </p:cNvPr>
          <p:cNvSpPr>
            <a:spLocks xmlns:a="http://schemas.openxmlformats.org/drawingml/2006/main" noGrp="1"/>
          </p:cNvSpPr>
          <p:nvPr/>
        </p:nvSpPr>
        <p:spPr>
          <a:xfrm xmlns:a="http://schemas.openxmlformats.org/drawingml/2006/main">
            <a:off x="609600" y="4972050"/>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277B63"/>
                </a:solidFill>
                <a:latin typeface="Liberation Sans"/>
                <a:ea typeface="Liberation Sans"/>
                <a:cs typeface="Liberation Sans"/>
              </a:defRPr>
            </a:defPPr>
            <a:lvl1pPr algn="l">
              <a:defRPr sz="2175" b="1">
                <a:solidFill>
                  <a:srgbClr val="277B63"/>
                </a:solidFill>
                <a:latin typeface="Liberation Sans"/>
                <a:ea typeface="Liberation Sans"/>
                <a:cs typeface="Liberation Sans"/>
              </a:defRPr>
            </a:lvl1pPr>
            <a:lvl2pPr algn="l">
              <a:defRPr sz="2175" b="1">
                <a:solidFill>
                  <a:srgbClr val="277B63"/>
                </a:solidFill>
                <a:latin typeface="Liberation Sans"/>
                <a:ea typeface="Liberation Sans"/>
                <a:cs typeface="Liberation Sans"/>
              </a:defRPr>
            </a:lvl2pPr>
            <a:lvl3pPr algn="l">
              <a:defRPr sz="2175" b="1">
                <a:solidFill>
                  <a:srgbClr val="277B63"/>
                </a:solidFill>
                <a:latin typeface="Liberation Sans"/>
                <a:ea typeface="Liberation Sans"/>
                <a:cs typeface="Liberation Sans"/>
              </a:defRPr>
            </a:lvl3pPr>
            <a:lvl4pPr algn="l">
              <a:defRPr sz="2175" b="1">
                <a:solidFill>
                  <a:srgbClr val="277B63"/>
                </a:solidFill>
                <a:latin typeface="Liberation Sans"/>
                <a:ea typeface="Liberation Sans"/>
                <a:cs typeface="Liberation Sans"/>
              </a:defRPr>
            </a:lvl4pPr>
            <a:lvl5pPr algn="l">
              <a:defRPr sz="2175" b="1">
                <a:solidFill>
                  <a:srgbClr val="277B63"/>
                </a:solidFill>
                <a:latin typeface="Liberation Sans"/>
                <a:ea typeface="Liberation Sans"/>
                <a:cs typeface="Liberation Sans"/>
              </a:defRPr>
            </a:lvl5pPr>
            <a:lvl6pPr algn="l">
              <a:defRPr sz="2175" b="1">
                <a:solidFill>
                  <a:srgbClr val="277B63"/>
                </a:solidFill>
                <a:latin typeface="Liberation Sans"/>
                <a:ea typeface="Liberation Sans"/>
                <a:cs typeface="Liberation Sans"/>
              </a:defRPr>
            </a:lvl6pPr>
            <a:lvl7pPr algn="l">
              <a:defRPr sz="2175" b="1">
                <a:solidFill>
                  <a:srgbClr val="277B63"/>
                </a:solidFill>
                <a:latin typeface="Liberation Sans"/>
                <a:ea typeface="Liberation Sans"/>
                <a:cs typeface="Liberation Sans"/>
              </a:defRPr>
            </a:lvl7pPr>
            <a:lvl8pPr algn="l">
              <a:defRPr sz="2175" b="1">
                <a:solidFill>
                  <a:srgbClr val="277B63"/>
                </a:solidFill>
                <a:latin typeface="Liberation Sans"/>
                <a:ea typeface="Liberation Sans"/>
                <a:cs typeface="Liberation Sans"/>
              </a:defRPr>
            </a:lvl8pPr>
            <a:lvl9pPr algn="l">
              <a:defRPr sz="2175" b="1">
                <a:solidFill>
                  <a:srgbClr val="277B63"/>
                </a:solidFill>
                <a:latin typeface="Liberation Sans"/>
                <a:ea typeface="Liberation Sans"/>
                <a:cs typeface="Liberation Sans"/>
              </a:defRPr>
            </a:lvl9pPr>
          </a:lstStyle>
          <a:p xmlns:a="http://schemas.openxmlformats.org/drawingml/2006/main">
            <a:pPr algn="l">
              <a:defRPr sz="2175" b="1">
                <a:solidFill>
                  <a:srgbClr val="277B63"/>
                </a:solidFill>
                <a:latin typeface="Liberation Sans"/>
                <a:ea typeface="Liberation Sans"/>
                <a:cs typeface="Liberation Sans"/>
              </a:defRPr>
            </a:pPr>
            <a:r>
              <a:rPr sz="2175" b="1">
                <a:solidFill>
                  <a:srgbClr val="277B63"/>
                </a:solidFill>
                <a:latin typeface="Liberation Sans"/>
                <a:ea typeface="Liberation Sans"/>
                <a:cs typeface="Liberation Sans"/>
              </a:rPr>
              <a:t>64/64 repaired requests retained initial evidence within budget</a:t>
            </a:r>
          </a:p>
        </p:txBody>
      </p:sp>
      <p:sp>
        <p:nvSpPr>
          <p:cNvPr id="7" name="No additional model-selected tool calls occur">
            <a:extLst xmlns:a="http://schemas.openxmlformats.org/drawingml/2006/main">
              <a:ext uri="{FF2B5EF4-FFF2-40B4-BE49-F238E27FC236}">
                <a16:creationId xmlns:a16="http://schemas.microsoft.com/office/drawing/2014/main" id="{1EB41011-76BC-4EF7-B25F-A2E3748C057E}"/>
              </a:ext>
            </a:extLst>
          </p:cNvPr>
          <p:cNvSpPr>
            <a:spLocks xmlns:a="http://schemas.openxmlformats.org/drawingml/2006/main" noGrp="1"/>
          </p:cNvSpPr>
          <p:nvPr/>
        </p:nvSpPr>
        <p:spPr>
          <a:xfrm xmlns:a="http://schemas.openxmlformats.org/drawingml/2006/main">
            <a:off x="609600" y="57150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586A63"/>
                </a:solidFill>
                <a:latin typeface="Liberation Sans"/>
                <a:ea typeface="Liberation Sans"/>
                <a:cs typeface="Liberation Sans"/>
              </a:defRPr>
            </a:defPPr>
            <a:lvl1pPr algn="l">
              <a:defRPr sz="1725" b="0">
                <a:solidFill>
                  <a:srgbClr val="586A63"/>
                </a:solidFill>
                <a:latin typeface="Liberation Sans"/>
                <a:ea typeface="Liberation Sans"/>
                <a:cs typeface="Liberation Sans"/>
              </a:defRPr>
            </a:lvl1pPr>
            <a:lvl2pPr algn="l">
              <a:defRPr sz="1725" b="0">
                <a:solidFill>
                  <a:srgbClr val="586A63"/>
                </a:solidFill>
                <a:latin typeface="Liberation Sans"/>
                <a:ea typeface="Liberation Sans"/>
                <a:cs typeface="Liberation Sans"/>
              </a:defRPr>
            </a:lvl2pPr>
            <a:lvl3pPr algn="l">
              <a:defRPr sz="1725" b="0">
                <a:solidFill>
                  <a:srgbClr val="586A63"/>
                </a:solidFill>
                <a:latin typeface="Liberation Sans"/>
                <a:ea typeface="Liberation Sans"/>
                <a:cs typeface="Liberation Sans"/>
              </a:defRPr>
            </a:lvl3pPr>
            <a:lvl4pPr algn="l">
              <a:defRPr sz="1725" b="0">
                <a:solidFill>
                  <a:srgbClr val="586A63"/>
                </a:solidFill>
                <a:latin typeface="Liberation Sans"/>
                <a:ea typeface="Liberation Sans"/>
                <a:cs typeface="Liberation Sans"/>
              </a:defRPr>
            </a:lvl4pPr>
            <a:lvl5pPr algn="l">
              <a:defRPr sz="1725" b="0">
                <a:solidFill>
                  <a:srgbClr val="586A63"/>
                </a:solidFill>
                <a:latin typeface="Liberation Sans"/>
                <a:ea typeface="Liberation Sans"/>
                <a:cs typeface="Liberation Sans"/>
              </a:defRPr>
            </a:lvl5pPr>
            <a:lvl6pPr algn="l">
              <a:defRPr sz="1725" b="0">
                <a:solidFill>
                  <a:srgbClr val="586A63"/>
                </a:solidFill>
                <a:latin typeface="Liberation Sans"/>
                <a:ea typeface="Liberation Sans"/>
                <a:cs typeface="Liberation Sans"/>
              </a:defRPr>
            </a:lvl6pPr>
            <a:lvl7pPr algn="l">
              <a:defRPr sz="1725" b="0">
                <a:solidFill>
                  <a:srgbClr val="586A63"/>
                </a:solidFill>
                <a:latin typeface="Liberation Sans"/>
                <a:ea typeface="Liberation Sans"/>
                <a:cs typeface="Liberation Sans"/>
              </a:defRPr>
            </a:lvl7pPr>
            <a:lvl8pPr algn="l">
              <a:defRPr sz="1725" b="0">
                <a:solidFill>
                  <a:srgbClr val="586A63"/>
                </a:solidFill>
                <a:latin typeface="Liberation Sans"/>
                <a:ea typeface="Liberation Sans"/>
                <a:cs typeface="Liberation Sans"/>
              </a:defRPr>
            </a:lvl8pPr>
            <a:lvl9pPr algn="l">
              <a:defRPr sz="1725" b="0">
                <a:solidFill>
                  <a:srgbClr val="586A63"/>
                </a:solidFill>
                <a:latin typeface="Liberation Sans"/>
                <a:ea typeface="Liberation Sans"/>
                <a:cs typeface="Liberation Sans"/>
              </a:defRPr>
            </a:lvl9pPr>
          </a:lstStyle>
          <a:p xmlns:a="http://schemas.openxmlformats.org/drawingml/2006/main">
            <a:pPr algn="l">
              <a:defRPr sz="1725" b="0">
                <a:solidFill>
                  <a:srgbClr val="586A63"/>
                </a:solidFill>
                <a:latin typeface="Liberation Sans"/>
                <a:ea typeface="Liberation Sans"/>
                <a:cs typeface="Liberation Sans"/>
              </a:defRPr>
            </a:pPr>
            <a:r>
              <a:rPr sz="1725" b="0">
                <a:solidFill>
                  <a:srgbClr val="586A63"/>
                </a:solidFill>
                <a:latin typeface="Liberation Sans"/>
                <a:ea typeface="Liberation Sans"/>
                <a:cs typeface="Liberation Sans"/>
              </a:rPr>
              <a:t>No additional model-selected tool calls occurred. The replay reuses inspected questions and is not held-out evaluation.</a:t>
            </a:r>
          </a:p>
        </p:txBody>
      </p:sp>
    </p:spTree>
    <p:extLst>
      <p:ext uri="{BB962C8B-B14F-4D97-AF65-F5344CB8AC3E}">
        <p14:creationId xmlns:p14="http://schemas.microsoft.com/office/powerpoint/2010/main" val="1047157996"/>
      </p:ext>
    </p:extLst>
  </p:cSld>
</p:sld>
</file>

<file path=ppt/slides/slide1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9255707-4AD2-4550-996A-55D215843E0E}"/>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73D33"/>
                </a:solidFill>
                <a:latin typeface="Liberation Sans"/>
                <a:ea typeface="Liberation Sans"/>
                <a:cs typeface="Liberation Sans"/>
              </a:defRPr>
            </a:defPPr>
            <a:lvl1pPr algn="l">
              <a:defRPr sz="3300" b="1">
                <a:solidFill>
                  <a:srgbClr val="173D33"/>
                </a:solidFill>
                <a:latin typeface="Liberation Sans"/>
                <a:ea typeface="Liberation Sans"/>
                <a:cs typeface="Liberation Sans"/>
              </a:defRPr>
            </a:lvl1pPr>
            <a:lvl2pPr algn="l">
              <a:defRPr sz="3300" b="1">
                <a:solidFill>
                  <a:srgbClr val="173D33"/>
                </a:solidFill>
                <a:latin typeface="Liberation Sans"/>
                <a:ea typeface="Liberation Sans"/>
                <a:cs typeface="Liberation Sans"/>
              </a:defRPr>
            </a:lvl2pPr>
            <a:lvl3pPr algn="l">
              <a:defRPr sz="3300" b="1">
                <a:solidFill>
                  <a:srgbClr val="173D33"/>
                </a:solidFill>
                <a:latin typeface="Liberation Sans"/>
                <a:ea typeface="Liberation Sans"/>
                <a:cs typeface="Liberation Sans"/>
              </a:defRPr>
            </a:lvl3pPr>
            <a:lvl4pPr algn="l">
              <a:defRPr sz="3300" b="1">
                <a:solidFill>
                  <a:srgbClr val="173D33"/>
                </a:solidFill>
                <a:latin typeface="Liberation Sans"/>
                <a:ea typeface="Liberation Sans"/>
                <a:cs typeface="Liberation Sans"/>
              </a:defRPr>
            </a:lvl4pPr>
            <a:lvl5pPr algn="l">
              <a:defRPr sz="3300" b="1">
                <a:solidFill>
                  <a:srgbClr val="173D33"/>
                </a:solidFill>
                <a:latin typeface="Liberation Sans"/>
                <a:ea typeface="Liberation Sans"/>
                <a:cs typeface="Liberation Sans"/>
              </a:defRPr>
            </a:lvl5pPr>
            <a:lvl6pPr algn="l">
              <a:defRPr sz="3300" b="1">
                <a:solidFill>
                  <a:srgbClr val="173D33"/>
                </a:solidFill>
                <a:latin typeface="Liberation Sans"/>
                <a:ea typeface="Liberation Sans"/>
                <a:cs typeface="Liberation Sans"/>
              </a:defRPr>
            </a:lvl6pPr>
            <a:lvl7pPr algn="l">
              <a:defRPr sz="3300" b="1">
                <a:solidFill>
                  <a:srgbClr val="173D33"/>
                </a:solidFill>
                <a:latin typeface="Liberation Sans"/>
                <a:ea typeface="Liberation Sans"/>
                <a:cs typeface="Liberation Sans"/>
              </a:defRPr>
            </a:lvl7pPr>
            <a:lvl8pPr algn="l">
              <a:defRPr sz="3300" b="1">
                <a:solidFill>
                  <a:srgbClr val="173D33"/>
                </a:solidFill>
                <a:latin typeface="Liberation Sans"/>
                <a:ea typeface="Liberation Sans"/>
                <a:cs typeface="Liberation Sans"/>
              </a:defRPr>
            </a:lvl8pPr>
            <a:lvl9pPr algn="l">
              <a:defRPr sz="3300" b="1">
                <a:solidFill>
                  <a:srgbClr val="173D33"/>
                </a:solidFill>
                <a:latin typeface="Liberation Sans"/>
                <a:ea typeface="Liberation Sans"/>
                <a:cs typeface="Liberation Sans"/>
              </a:defRPr>
            </a:lvl9pPr>
          </a:lstStyle>
          <a:p xmlns:a="http://schemas.openxmlformats.org/drawingml/2006/main">
            <a:pPr algn="l">
              <a:defRPr sz="3300" b="1">
                <a:solidFill>
                  <a:srgbClr val="173D33"/>
                </a:solidFill>
                <a:latin typeface="Liberation Sans"/>
                <a:ea typeface="Liberation Sans"/>
                <a:cs typeface="Liberation Sans"/>
              </a:defRPr>
            </a:pPr>
            <a:r>
              <a:rPr sz="3300" b="1">
                <a:solidFill>
                  <a:srgbClr val="173D33"/>
                </a:solidFill>
                <a:latin typeface="Liberation Sans"/>
                <a:ea typeface="Liberation Sans"/>
                <a:cs typeface="Liberation Sans"/>
              </a:rPr>
              <a:t>Verification and remaining limits</a:t>
            </a:r>
          </a:p>
        </p:txBody>
      </p:sp>
      <p:sp>
        <p:nvSpPr>
          <p:cNvPr id="3" name="11">
            <a:extLst xmlns:a="http://schemas.openxmlformats.org/drawingml/2006/main">
              <a:ext uri="{FF2B5EF4-FFF2-40B4-BE49-F238E27FC236}">
                <a16:creationId xmlns:a16="http://schemas.microsoft.com/office/drawing/2014/main" id="{3BE952DD-94D1-4072-A53C-18EF4344B2E2}"/>
              </a:ext>
            </a:extLst>
          </p:cNvPr>
          <p:cNvSpPr>
            <a:spLocks xmlns:a="http://schemas.openxmlformats.org/drawingml/2006/main" noGrp="1"/>
          </p:cNvSpPr>
          <p:nvPr/>
        </p:nvSpPr>
        <p:spPr>
          <a:xfrm xmlns:a="http://schemas.openxmlformats.org/drawingml/2006/main">
            <a:off x="1106805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350" b="0">
                <a:solidFill>
                  <a:srgbClr val="708177"/>
                </a:solidFill>
                <a:latin typeface="Liberation Sans"/>
                <a:ea typeface="Liberation Sans"/>
                <a:cs typeface="Liberation Sans"/>
              </a:defRPr>
            </a:defPPr>
            <a:lvl1pPr algn="r">
              <a:defRPr sz="1350" b="0">
                <a:solidFill>
                  <a:srgbClr val="708177"/>
                </a:solidFill>
                <a:latin typeface="Liberation Sans"/>
                <a:ea typeface="Liberation Sans"/>
                <a:cs typeface="Liberation Sans"/>
              </a:defRPr>
            </a:lvl1pPr>
            <a:lvl2pPr algn="r">
              <a:defRPr sz="1350" b="0">
                <a:solidFill>
                  <a:srgbClr val="708177"/>
                </a:solidFill>
                <a:latin typeface="Liberation Sans"/>
                <a:ea typeface="Liberation Sans"/>
                <a:cs typeface="Liberation Sans"/>
              </a:defRPr>
            </a:lvl2pPr>
            <a:lvl3pPr algn="r">
              <a:defRPr sz="1350" b="0">
                <a:solidFill>
                  <a:srgbClr val="708177"/>
                </a:solidFill>
                <a:latin typeface="Liberation Sans"/>
                <a:ea typeface="Liberation Sans"/>
                <a:cs typeface="Liberation Sans"/>
              </a:defRPr>
            </a:lvl3pPr>
            <a:lvl4pPr algn="r">
              <a:defRPr sz="1350" b="0">
                <a:solidFill>
                  <a:srgbClr val="708177"/>
                </a:solidFill>
                <a:latin typeface="Liberation Sans"/>
                <a:ea typeface="Liberation Sans"/>
                <a:cs typeface="Liberation Sans"/>
              </a:defRPr>
            </a:lvl4pPr>
            <a:lvl5pPr algn="r">
              <a:defRPr sz="1350" b="0">
                <a:solidFill>
                  <a:srgbClr val="708177"/>
                </a:solidFill>
                <a:latin typeface="Liberation Sans"/>
                <a:ea typeface="Liberation Sans"/>
                <a:cs typeface="Liberation Sans"/>
              </a:defRPr>
            </a:lvl5pPr>
            <a:lvl6pPr algn="r">
              <a:defRPr sz="1350" b="0">
                <a:solidFill>
                  <a:srgbClr val="708177"/>
                </a:solidFill>
                <a:latin typeface="Liberation Sans"/>
                <a:ea typeface="Liberation Sans"/>
                <a:cs typeface="Liberation Sans"/>
              </a:defRPr>
            </a:lvl6pPr>
            <a:lvl7pPr algn="r">
              <a:defRPr sz="1350" b="0">
                <a:solidFill>
                  <a:srgbClr val="708177"/>
                </a:solidFill>
                <a:latin typeface="Liberation Sans"/>
                <a:ea typeface="Liberation Sans"/>
                <a:cs typeface="Liberation Sans"/>
              </a:defRPr>
            </a:lvl7pPr>
            <a:lvl8pPr algn="r">
              <a:defRPr sz="1350" b="0">
                <a:solidFill>
                  <a:srgbClr val="708177"/>
                </a:solidFill>
                <a:latin typeface="Liberation Sans"/>
                <a:ea typeface="Liberation Sans"/>
                <a:cs typeface="Liberation Sans"/>
              </a:defRPr>
            </a:lvl8pPr>
            <a:lvl9pPr algn="r">
              <a:defRPr sz="1350" b="0">
                <a:solidFill>
                  <a:srgbClr val="708177"/>
                </a:solidFill>
                <a:latin typeface="Liberation Sans"/>
                <a:ea typeface="Liberation Sans"/>
                <a:cs typeface="Liberation Sans"/>
              </a:defRPr>
            </a:lvl9pPr>
          </a:lstStyle>
          <a:p xmlns:a="http://schemas.openxmlformats.org/drawingml/2006/main">
            <a:pPr algn="r">
              <a:defRPr sz="1350" b="0">
                <a:solidFill>
                  <a:srgbClr val="708177"/>
                </a:solidFill>
                <a:latin typeface="Liberation Sans"/>
                <a:ea typeface="Liberation Sans"/>
                <a:cs typeface="Liberation Sans"/>
              </a:defRPr>
            </a:pPr>
            <a:r>
              <a:rPr sz="1350" b="0">
                <a:solidFill>
                  <a:srgbClr val="708177"/>
                </a:solidFill>
                <a:latin typeface="Liberation Sans"/>
                <a:ea typeface="Liberation Sans"/>
                <a:cs typeface="Liberation Sans"/>
              </a:rPr>
              <a:t>11</a:t>
            </a:r>
          </a:p>
        </p:txBody>
      </p:sp>
      <p:sp>
        <p:nvSpPr>
          <p:cNvPr id="4" name="Software checks">
            <a:extLst xmlns:a="http://schemas.openxmlformats.org/drawingml/2006/main">
              <a:ext uri="{FF2B5EF4-FFF2-40B4-BE49-F238E27FC236}">
                <a16:creationId xmlns:a16="http://schemas.microsoft.com/office/drawing/2014/main" id="{38D45C25-1A87-44F7-8B75-D033DBEC1A56}"/>
              </a:ext>
            </a:extLst>
          </p:cNvPr>
          <p:cNvSpPr>
            <a:spLocks xmlns:a="http://schemas.openxmlformats.org/drawingml/2006/main" noGrp="1"/>
          </p:cNvSpPr>
          <p:nvPr/>
        </p:nvSpPr>
        <p:spPr>
          <a:xfrm xmlns:a="http://schemas.openxmlformats.org/drawingml/2006/main">
            <a:off x="609600" y="143827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277B63"/>
                </a:solidFill>
                <a:latin typeface="Liberation Sans"/>
                <a:ea typeface="Liberation Sans"/>
                <a:cs typeface="Liberation Sans"/>
              </a:defRPr>
            </a:defPPr>
            <a:lvl1pPr algn="l">
              <a:defRPr sz="2250" b="1">
                <a:solidFill>
                  <a:srgbClr val="277B63"/>
                </a:solidFill>
                <a:latin typeface="Liberation Sans"/>
                <a:ea typeface="Liberation Sans"/>
                <a:cs typeface="Liberation Sans"/>
              </a:defRPr>
            </a:lvl1pPr>
            <a:lvl2pPr algn="l">
              <a:defRPr sz="2250" b="1">
                <a:solidFill>
                  <a:srgbClr val="277B63"/>
                </a:solidFill>
                <a:latin typeface="Liberation Sans"/>
                <a:ea typeface="Liberation Sans"/>
                <a:cs typeface="Liberation Sans"/>
              </a:defRPr>
            </a:lvl2pPr>
            <a:lvl3pPr algn="l">
              <a:defRPr sz="2250" b="1">
                <a:solidFill>
                  <a:srgbClr val="277B63"/>
                </a:solidFill>
                <a:latin typeface="Liberation Sans"/>
                <a:ea typeface="Liberation Sans"/>
                <a:cs typeface="Liberation Sans"/>
              </a:defRPr>
            </a:lvl3pPr>
            <a:lvl4pPr algn="l">
              <a:defRPr sz="2250" b="1">
                <a:solidFill>
                  <a:srgbClr val="277B63"/>
                </a:solidFill>
                <a:latin typeface="Liberation Sans"/>
                <a:ea typeface="Liberation Sans"/>
                <a:cs typeface="Liberation Sans"/>
              </a:defRPr>
            </a:lvl4pPr>
            <a:lvl5pPr algn="l">
              <a:defRPr sz="2250" b="1">
                <a:solidFill>
                  <a:srgbClr val="277B63"/>
                </a:solidFill>
                <a:latin typeface="Liberation Sans"/>
                <a:ea typeface="Liberation Sans"/>
                <a:cs typeface="Liberation Sans"/>
              </a:defRPr>
            </a:lvl5pPr>
            <a:lvl6pPr algn="l">
              <a:defRPr sz="2250" b="1">
                <a:solidFill>
                  <a:srgbClr val="277B63"/>
                </a:solidFill>
                <a:latin typeface="Liberation Sans"/>
                <a:ea typeface="Liberation Sans"/>
                <a:cs typeface="Liberation Sans"/>
              </a:defRPr>
            </a:lvl6pPr>
            <a:lvl7pPr algn="l">
              <a:defRPr sz="2250" b="1">
                <a:solidFill>
                  <a:srgbClr val="277B63"/>
                </a:solidFill>
                <a:latin typeface="Liberation Sans"/>
                <a:ea typeface="Liberation Sans"/>
                <a:cs typeface="Liberation Sans"/>
              </a:defRPr>
            </a:lvl7pPr>
            <a:lvl8pPr algn="l">
              <a:defRPr sz="2250" b="1">
                <a:solidFill>
                  <a:srgbClr val="277B63"/>
                </a:solidFill>
                <a:latin typeface="Liberation Sans"/>
                <a:ea typeface="Liberation Sans"/>
                <a:cs typeface="Liberation Sans"/>
              </a:defRPr>
            </a:lvl8pPr>
            <a:lvl9pPr algn="l">
              <a:defRPr sz="2250" b="1">
                <a:solidFill>
                  <a:srgbClr val="277B63"/>
                </a:solidFill>
                <a:latin typeface="Liberation Sans"/>
                <a:ea typeface="Liberation Sans"/>
                <a:cs typeface="Liberation Sans"/>
              </a:defRPr>
            </a:lvl9pPr>
          </a:lstStyle>
          <a:p xmlns:a="http://schemas.openxmlformats.org/drawingml/2006/main">
            <a:pPr algn="l">
              <a:defRPr sz="2250" b="1">
                <a:solidFill>
                  <a:srgbClr val="277B63"/>
                </a:solidFill>
                <a:latin typeface="Liberation Sans"/>
                <a:ea typeface="Liberation Sans"/>
                <a:cs typeface="Liberation Sans"/>
              </a:defRPr>
            </a:pPr>
            <a:r>
              <a:rPr sz="2250" b="1">
                <a:solidFill>
                  <a:srgbClr val="277B63"/>
                </a:solidFill>
                <a:latin typeface="Liberation Sans"/>
                <a:ea typeface="Liberation Sans"/>
                <a:cs typeface="Liberation Sans"/>
              </a:rPr>
              <a:t>Software checks</a:t>
            </a:r>
          </a:p>
        </p:txBody>
      </p:sp>
      <p:sp>
        <p:nvSpPr>
          <p:cNvPr id="5" name="163 Linux tests passed&#10;200 Windows-copy tests">
            <a:extLst xmlns:a="http://schemas.openxmlformats.org/drawingml/2006/main">
              <a:ext uri="{FF2B5EF4-FFF2-40B4-BE49-F238E27FC236}">
                <a16:creationId xmlns:a16="http://schemas.microsoft.com/office/drawing/2014/main" id="{2DE88099-1E4C-493F-9794-89F02F64CC89}"/>
              </a:ext>
            </a:extLst>
          </p:cNvPr>
          <p:cNvSpPr>
            <a:spLocks xmlns:a="http://schemas.openxmlformats.org/drawingml/2006/main" noGrp="1"/>
          </p:cNvSpPr>
          <p:nvPr/>
        </p:nvSpPr>
        <p:spPr>
          <a:xfrm xmlns:a="http://schemas.openxmlformats.org/drawingml/2006/main">
            <a:off x="609600" y="2057400"/>
            <a:ext cx="50482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53B34"/>
                </a:solidFill>
                <a:latin typeface="Liberation Sans"/>
                <a:ea typeface="Liberation Sans"/>
                <a:cs typeface="Liberation Sans"/>
              </a:defRPr>
            </a:defPPr>
            <a:lvl1pPr algn="l">
              <a:defRPr sz="2025" b="0">
                <a:solidFill>
                  <a:srgbClr val="253B34"/>
                </a:solidFill>
                <a:latin typeface="Liberation Sans"/>
                <a:ea typeface="Liberation Sans"/>
                <a:cs typeface="Liberation Sans"/>
              </a:defRPr>
            </a:lvl1pPr>
            <a:lvl2pPr algn="l">
              <a:defRPr sz="2025" b="0">
                <a:solidFill>
                  <a:srgbClr val="253B34"/>
                </a:solidFill>
                <a:latin typeface="Liberation Sans"/>
                <a:ea typeface="Liberation Sans"/>
                <a:cs typeface="Liberation Sans"/>
              </a:defRPr>
            </a:lvl2pPr>
            <a:lvl3pPr algn="l">
              <a:defRPr sz="2025" b="0">
                <a:solidFill>
                  <a:srgbClr val="253B34"/>
                </a:solidFill>
                <a:latin typeface="Liberation Sans"/>
                <a:ea typeface="Liberation Sans"/>
                <a:cs typeface="Liberation Sans"/>
              </a:defRPr>
            </a:lvl3pPr>
            <a:lvl4pPr algn="l">
              <a:defRPr sz="2025" b="0">
                <a:solidFill>
                  <a:srgbClr val="253B34"/>
                </a:solidFill>
                <a:latin typeface="Liberation Sans"/>
                <a:ea typeface="Liberation Sans"/>
                <a:cs typeface="Liberation Sans"/>
              </a:defRPr>
            </a:lvl4pPr>
            <a:lvl5pPr algn="l">
              <a:defRPr sz="2025" b="0">
                <a:solidFill>
                  <a:srgbClr val="253B34"/>
                </a:solidFill>
                <a:latin typeface="Liberation Sans"/>
                <a:ea typeface="Liberation Sans"/>
                <a:cs typeface="Liberation Sans"/>
              </a:defRPr>
            </a:lvl5pPr>
            <a:lvl6pPr algn="l">
              <a:defRPr sz="2025" b="0">
                <a:solidFill>
                  <a:srgbClr val="253B34"/>
                </a:solidFill>
                <a:latin typeface="Liberation Sans"/>
                <a:ea typeface="Liberation Sans"/>
                <a:cs typeface="Liberation Sans"/>
              </a:defRPr>
            </a:lvl6pPr>
            <a:lvl7pPr algn="l">
              <a:defRPr sz="2025" b="0">
                <a:solidFill>
                  <a:srgbClr val="253B34"/>
                </a:solidFill>
                <a:latin typeface="Liberation Sans"/>
                <a:ea typeface="Liberation Sans"/>
                <a:cs typeface="Liberation Sans"/>
              </a:defRPr>
            </a:lvl7pPr>
            <a:lvl8pPr algn="l">
              <a:defRPr sz="2025" b="0">
                <a:solidFill>
                  <a:srgbClr val="253B34"/>
                </a:solidFill>
                <a:latin typeface="Liberation Sans"/>
                <a:ea typeface="Liberation Sans"/>
                <a:cs typeface="Liberation Sans"/>
              </a:defRPr>
            </a:lvl8pPr>
            <a:lvl9pPr algn="l">
              <a:defRPr sz="2025" b="0">
                <a:solidFill>
                  <a:srgbClr val="253B34"/>
                </a:solidFill>
                <a:latin typeface="Liberation Sans"/>
                <a:ea typeface="Liberation Sans"/>
                <a:cs typeface="Liberation Sans"/>
              </a:defRPr>
            </a:lvl9pPr>
          </a:lstStyle>
          <a:p xmlns:a="http://schemas.openxmlformats.org/drawingml/2006/main">
            <a:pPr algn="l">
              <a:defRPr sz="2025" b="0">
                <a:solidFill>
                  <a:srgbClr val="253B34"/>
                </a:solidFill>
                <a:latin typeface="Liberation Sans"/>
                <a:ea typeface="Liberation Sans"/>
                <a:cs typeface="Liberation Sans"/>
              </a:defRPr>
            </a:pPr>
            <a:r>
              <a:rPr sz="2025" b="0">
                <a:solidFill>
                  <a:srgbClr val="253B34"/>
                </a:solidFill>
                <a:latin typeface="Liberation Sans"/>
                <a:ea typeface="Liberation Sans"/>
                <a:cs typeface="Liberation Sans"/>
              </a:rPr>
              <a:t>163 Linux tests passed</a:t>
            </a:r>
          </a:p>
          <a:p xmlns:a="http://schemas.openxmlformats.org/drawingml/2006/main">
            <a:pPr algn="l">
              <a:defRPr sz="2025" b="0">
                <a:solidFill>
                  <a:srgbClr val="253B34"/>
                </a:solidFill>
                <a:latin typeface="Liberation Sans"/>
                <a:ea typeface="Liberation Sans"/>
                <a:cs typeface="Liberation Sans"/>
              </a:defRPr>
            </a:pPr>
            <a:r>
              <a:rPr sz="2025" b="0">
                <a:solidFill>
                  <a:srgbClr val="253B34"/>
                </a:solidFill>
                <a:latin typeface="Liberation Sans"/>
                <a:ea typeface="Liberation Sans"/>
                <a:cs typeface="Liberation Sans"/>
              </a:rPr>
              <a:t>200 Windows-copy tests passed on Linux</a:t>
            </a:r>
          </a:p>
          <a:p xmlns:a="http://schemas.openxmlformats.org/drawingml/2006/main">
            <a:pPr algn="l">
              <a:defRPr sz="2025" b="0">
                <a:solidFill>
                  <a:srgbClr val="253B34"/>
                </a:solidFill>
                <a:latin typeface="Liberation Sans"/>
                <a:ea typeface="Liberation Sans"/>
                <a:cs typeface="Liberation Sans"/>
              </a:defRPr>
            </a:pPr>
            <a:r>
              <a:rPr sz="2025" b="0">
                <a:solidFill>
                  <a:srgbClr val="253B34"/>
                </a:solidFill>
                <a:latin typeface="Liberation Sans"/>
                <a:ea typeface="Liberation Sans"/>
                <a:cs typeface="Liberation Sans"/>
              </a:rPr>
              <a:t>6 native checks skipped in that copy</a:t>
            </a:r>
          </a:p>
        </p:txBody>
      </p:sp>
      <p:sp>
        <p:nvSpPr>
          <p:cNvPr id="6" name="Later native Windows CI: 206 tests&#10;on each of">
            <a:extLst xmlns:a="http://schemas.openxmlformats.org/drawingml/2006/main">
              <a:ext uri="{FF2B5EF4-FFF2-40B4-BE49-F238E27FC236}">
                <a16:creationId xmlns:a16="http://schemas.microsoft.com/office/drawing/2014/main" id="{5FBE6D5F-24ED-42A4-8456-0C3E04C6FD9F}"/>
              </a:ext>
            </a:extLst>
          </p:cNvPr>
          <p:cNvSpPr>
            <a:spLocks xmlns:a="http://schemas.openxmlformats.org/drawingml/2006/main" noGrp="1"/>
          </p:cNvSpPr>
          <p:nvPr/>
        </p:nvSpPr>
        <p:spPr>
          <a:xfrm xmlns:a="http://schemas.openxmlformats.org/drawingml/2006/main">
            <a:off x="609600" y="3990975"/>
            <a:ext cx="5048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53B34"/>
                </a:solidFill>
                <a:latin typeface="Liberation Sans"/>
                <a:ea typeface="Liberation Sans"/>
                <a:cs typeface="Liberation Sans"/>
              </a:defRPr>
            </a:defPPr>
            <a:lvl1pPr algn="l">
              <a:defRPr sz="2025" b="0">
                <a:solidFill>
                  <a:srgbClr val="253B34"/>
                </a:solidFill>
                <a:latin typeface="Liberation Sans"/>
                <a:ea typeface="Liberation Sans"/>
                <a:cs typeface="Liberation Sans"/>
              </a:defRPr>
            </a:lvl1pPr>
            <a:lvl2pPr algn="l">
              <a:defRPr sz="2025" b="0">
                <a:solidFill>
                  <a:srgbClr val="253B34"/>
                </a:solidFill>
                <a:latin typeface="Liberation Sans"/>
                <a:ea typeface="Liberation Sans"/>
                <a:cs typeface="Liberation Sans"/>
              </a:defRPr>
            </a:lvl2pPr>
            <a:lvl3pPr algn="l">
              <a:defRPr sz="2025" b="0">
                <a:solidFill>
                  <a:srgbClr val="253B34"/>
                </a:solidFill>
                <a:latin typeface="Liberation Sans"/>
                <a:ea typeface="Liberation Sans"/>
                <a:cs typeface="Liberation Sans"/>
              </a:defRPr>
            </a:lvl3pPr>
            <a:lvl4pPr algn="l">
              <a:defRPr sz="2025" b="0">
                <a:solidFill>
                  <a:srgbClr val="253B34"/>
                </a:solidFill>
                <a:latin typeface="Liberation Sans"/>
                <a:ea typeface="Liberation Sans"/>
                <a:cs typeface="Liberation Sans"/>
              </a:defRPr>
            </a:lvl4pPr>
            <a:lvl5pPr algn="l">
              <a:defRPr sz="2025" b="0">
                <a:solidFill>
                  <a:srgbClr val="253B34"/>
                </a:solidFill>
                <a:latin typeface="Liberation Sans"/>
                <a:ea typeface="Liberation Sans"/>
                <a:cs typeface="Liberation Sans"/>
              </a:defRPr>
            </a:lvl5pPr>
            <a:lvl6pPr algn="l">
              <a:defRPr sz="2025" b="0">
                <a:solidFill>
                  <a:srgbClr val="253B34"/>
                </a:solidFill>
                <a:latin typeface="Liberation Sans"/>
                <a:ea typeface="Liberation Sans"/>
                <a:cs typeface="Liberation Sans"/>
              </a:defRPr>
            </a:lvl6pPr>
            <a:lvl7pPr algn="l">
              <a:defRPr sz="2025" b="0">
                <a:solidFill>
                  <a:srgbClr val="253B34"/>
                </a:solidFill>
                <a:latin typeface="Liberation Sans"/>
                <a:ea typeface="Liberation Sans"/>
                <a:cs typeface="Liberation Sans"/>
              </a:defRPr>
            </a:lvl7pPr>
            <a:lvl8pPr algn="l">
              <a:defRPr sz="2025" b="0">
                <a:solidFill>
                  <a:srgbClr val="253B34"/>
                </a:solidFill>
                <a:latin typeface="Liberation Sans"/>
                <a:ea typeface="Liberation Sans"/>
                <a:cs typeface="Liberation Sans"/>
              </a:defRPr>
            </a:lvl8pPr>
            <a:lvl9pPr algn="l">
              <a:defRPr sz="2025" b="0">
                <a:solidFill>
                  <a:srgbClr val="253B34"/>
                </a:solidFill>
                <a:latin typeface="Liberation Sans"/>
                <a:ea typeface="Liberation Sans"/>
                <a:cs typeface="Liberation Sans"/>
              </a:defRPr>
            </a:lvl9pPr>
          </a:lstStyle>
          <a:p xmlns:a="http://schemas.openxmlformats.org/drawingml/2006/main">
            <a:pPr algn="l">
              <a:defRPr sz="2025" b="0">
                <a:solidFill>
                  <a:srgbClr val="253B34"/>
                </a:solidFill>
                <a:latin typeface="Liberation Sans"/>
                <a:ea typeface="Liberation Sans"/>
                <a:cs typeface="Liberation Sans"/>
              </a:defRPr>
            </a:pPr>
            <a:r>
              <a:rPr sz="2025" b="0">
                <a:solidFill>
                  <a:srgbClr val="253B34"/>
                </a:solidFill>
                <a:latin typeface="Liberation Sans"/>
                <a:ea typeface="Liberation Sans"/>
                <a:cs typeface="Liberation Sans"/>
              </a:rPr>
              <a:t>Later native Windows CI: 206 tests</a:t>
            </a:r>
          </a:p>
          <a:p xmlns:a="http://schemas.openxmlformats.org/drawingml/2006/main">
            <a:pPr algn="l">
              <a:defRPr sz="2025" b="0">
                <a:solidFill>
                  <a:srgbClr val="253B34"/>
                </a:solidFill>
                <a:latin typeface="Liberation Sans"/>
                <a:ea typeface="Liberation Sans"/>
                <a:cs typeface="Liberation Sans"/>
              </a:defRPr>
            </a:pPr>
            <a:r>
              <a:rPr sz="2025" b="0">
                <a:solidFill>
                  <a:srgbClr val="253B34"/>
                </a:solidFill>
                <a:latin typeface="Liberation Sans"/>
                <a:ea typeface="Liberation Sans"/>
                <a:cs typeface="Liberation Sans"/>
              </a:rPr>
              <a:t>on each of Python 3.12 and 3.13</a:t>
            </a:r>
          </a:p>
        </p:txBody>
      </p:sp>
      <p:sp>
        <p:nvSpPr>
          <p:cNvPr id="7" name="CI used a fake model service">
            <a:extLst xmlns:a="http://schemas.openxmlformats.org/drawingml/2006/main">
              <a:ext uri="{FF2B5EF4-FFF2-40B4-BE49-F238E27FC236}">
                <a16:creationId xmlns:a16="http://schemas.microsoft.com/office/drawing/2014/main" id="{D5BD8FC3-0B35-45C2-95B0-675780161398}"/>
              </a:ext>
            </a:extLst>
          </p:cNvPr>
          <p:cNvSpPr>
            <a:spLocks xmlns:a="http://schemas.openxmlformats.org/drawingml/2006/main" noGrp="1"/>
          </p:cNvSpPr>
          <p:nvPr/>
        </p:nvSpPr>
        <p:spPr>
          <a:xfrm xmlns:a="http://schemas.openxmlformats.org/drawingml/2006/main">
            <a:off x="609600" y="5305425"/>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586A63"/>
                </a:solidFill>
                <a:latin typeface="Liberation Sans"/>
                <a:ea typeface="Liberation Sans"/>
                <a:cs typeface="Liberation Sans"/>
              </a:defRPr>
            </a:defPPr>
            <a:lvl1pPr algn="l">
              <a:defRPr sz="1875" b="0">
                <a:solidFill>
                  <a:srgbClr val="586A63"/>
                </a:solidFill>
                <a:latin typeface="Liberation Sans"/>
                <a:ea typeface="Liberation Sans"/>
                <a:cs typeface="Liberation Sans"/>
              </a:defRPr>
            </a:lvl1pPr>
            <a:lvl2pPr algn="l">
              <a:defRPr sz="1875" b="0">
                <a:solidFill>
                  <a:srgbClr val="586A63"/>
                </a:solidFill>
                <a:latin typeface="Liberation Sans"/>
                <a:ea typeface="Liberation Sans"/>
                <a:cs typeface="Liberation Sans"/>
              </a:defRPr>
            </a:lvl2pPr>
            <a:lvl3pPr algn="l">
              <a:defRPr sz="1875" b="0">
                <a:solidFill>
                  <a:srgbClr val="586A63"/>
                </a:solidFill>
                <a:latin typeface="Liberation Sans"/>
                <a:ea typeface="Liberation Sans"/>
                <a:cs typeface="Liberation Sans"/>
              </a:defRPr>
            </a:lvl3pPr>
            <a:lvl4pPr algn="l">
              <a:defRPr sz="1875" b="0">
                <a:solidFill>
                  <a:srgbClr val="586A63"/>
                </a:solidFill>
                <a:latin typeface="Liberation Sans"/>
                <a:ea typeface="Liberation Sans"/>
                <a:cs typeface="Liberation Sans"/>
              </a:defRPr>
            </a:lvl4pPr>
            <a:lvl5pPr algn="l">
              <a:defRPr sz="1875" b="0">
                <a:solidFill>
                  <a:srgbClr val="586A63"/>
                </a:solidFill>
                <a:latin typeface="Liberation Sans"/>
                <a:ea typeface="Liberation Sans"/>
                <a:cs typeface="Liberation Sans"/>
              </a:defRPr>
            </a:lvl5pPr>
            <a:lvl6pPr algn="l">
              <a:defRPr sz="1875" b="0">
                <a:solidFill>
                  <a:srgbClr val="586A63"/>
                </a:solidFill>
                <a:latin typeface="Liberation Sans"/>
                <a:ea typeface="Liberation Sans"/>
                <a:cs typeface="Liberation Sans"/>
              </a:defRPr>
            </a:lvl6pPr>
            <a:lvl7pPr algn="l">
              <a:defRPr sz="1875" b="0">
                <a:solidFill>
                  <a:srgbClr val="586A63"/>
                </a:solidFill>
                <a:latin typeface="Liberation Sans"/>
                <a:ea typeface="Liberation Sans"/>
                <a:cs typeface="Liberation Sans"/>
              </a:defRPr>
            </a:lvl7pPr>
            <a:lvl8pPr algn="l">
              <a:defRPr sz="1875" b="0">
                <a:solidFill>
                  <a:srgbClr val="586A63"/>
                </a:solidFill>
                <a:latin typeface="Liberation Sans"/>
                <a:ea typeface="Liberation Sans"/>
                <a:cs typeface="Liberation Sans"/>
              </a:defRPr>
            </a:lvl8pPr>
            <a:lvl9pPr algn="l">
              <a:defRPr sz="1875" b="0">
                <a:solidFill>
                  <a:srgbClr val="586A63"/>
                </a:solidFill>
                <a:latin typeface="Liberation Sans"/>
                <a:ea typeface="Liberation Sans"/>
                <a:cs typeface="Liberation Sans"/>
              </a:defRPr>
            </a:lvl9pPr>
          </a:lstStyle>
          <a:p xmlns:a="http://schemas.openxmlformats.org/drawingml/2006/main">
            <a:pPr algn="l">
              <a:defRPr sz="1875" b="0">
                <a:solidFill>
                  <a:srgbClr val="586A63"/>
                </a:solidFill>
                <a:latin typeface="Liberation Sans"/>
                <a:ea typeface="Liberation Sans"/>
                <a:cs typeface="Liberation Sans"/>
              </a:defRPr>
            </a:pPr>
            <a:r>
              <a:rPr sz="1875" b="0">
                <a:solidFill>
                  <a:srgbClr val="586A63"/>
                </a:solidFill>
                <a:latin typeface="Liberation Sans"/>
                <a:ea typeface="Liberation Sans"/>
                <a:cs typeface="Liberation Sans"/>
              </a:rPr>
              <a:t>CI used a fake model service</a:t>
            </a:r>
          </a:p>
        </p:txBody>
      </p:sp>
      <p:sp>
        <p:nvSpPr>
          <p:cNvPr id="8" name="Next evaluation and development">
            <a:extLst xmlns:a="http://schemas.openxmlformats.org/drawingml/2006/main">
              <a:ext uri="{FF2B5EF4-FFF2-40B4-BE49-F238E27FC236}">
                <a16:creationId xmlns:a16="http://schemas.microsoft.com/office/drawing/2014/main" id="{B212593F-7D94-4D65-B745-9290D33AC885}"/>
              </a:ext>
            </a:extLst>
          </p:cNvPr>
          <p:cNvSpPr>
            <a:spLocks xmlns:a="http://schemas.openxmlformats.org/drawingml/2006/main" noGrp="1"/>
          </p:cNvSpPr>
          <p:nvPr/>
        </p:nvSpPr>
        <p:spPr>
          <a:xfrm xmlns:a="http://schemas.openxmlformats.org/drawingml/2006/main">
            <a:off x="6457950" y="1438275"/>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277B63"/>
                </a:solidFill>
                <a:latin typeface="Liberation Sans"/>
                <a:ea typeface="Liberation Sans"/>
                <a:cs typeface="Liberation Sans"/>
              </a:defRPr>
            </a:defPPr>
            <a:lvl1pPr algn="l">
              <a:defRPr sz="2250" b="1">
                <a:solidFill>
                  <a:srgbClr val="277B63"/>
                </a:solidFill>
                <a:latin typeface="Liberation Sans"/>
                <a:ea typeface="Liberation Sans"/>
                <a:cs typeface="Liberation Sans"/>
              </a:defRPr>
            </a:lvl1pPr>
            <a:lvl2pPr algn="l">
              <a:defRPr sz="2250" b="1">
                <a:solidFill>
                  <a:srgbClr val="277B63"/>
                </a:solidFill>
                <a:latin typeface="Liberation Sans"/>
                <a:ea typeface="Liberation Sans"/>
                <a:cs typeface="Liberation Sans"/>
              </a:defRPr>
            </a:lvl2pPr>
            <a:lvl3pPr algn="l">
              <a:defRPr sz="2250" b="1">
                <a:solidFill>
                  <a:srgbClr val="277B63"/>
                </a:solidFill>
                <a:latin typeface="Liberation Sans"/>
                <a:ea typeface="Liberation Sans"/>
                <a:cs typeface="Liberation Sans"/>
              </a:defRPr>
            </a:lvl3pPr>
            <a:lvl4pPr algn="l">
              <a:defRPr sz="2250" b="1">
                <a:solidFill>
                  <a:srgbClr val="277B63"/>
                </a:solidFill>
                <a:latin typeface="Liberation Sans"/>
                <a:ea typeface="Liberation Sans"/>
                <a:cs typeface="Liberation Sans"/>
              </a:defRPr>
            </a:lvl4pPr>
            <a:lvl5pPr algn="l">
              <a:defRPr sz="2250" b="1">
                <a:solidFill>
                  <a:srgbClr val="277B63"/>
                </a:solidFill>
                <a:latin typeface="Liberation Sans"/>
                <a:ea typeface="Liberation Sans"/>
                <a:cs typeface="Liberation Sans"/>
              </a:defRPr>
            </a:lvl5pPr>
            <a:lvl6pPr algn="l">
              <a:defRPr sz="2250" b="1">
                <a:solidFill>
                  <a:srgbClr val="277B63"/>
                </a:solidFill>
                <a:latin typeface="Liberation Sans"/>
                <a:ea typeface="Liberation Sans"/>
                <a:cs typeface="Liberation Sans"/>
              </a:defRPr>
            </a:lvl6pPr>
            <a:lvl7pPr algn="l">
              <a:defRPr sz="2250" b="1">
                <a:solidFill>
                  <a:srgbClr val="277B63"/>
                </a:solidFill>
                <a:latin typeface="Liberation Sans"/>
                <a:ea typeface="Liberation Sans"/>
                <a:cs typeface="Liberation Sans"/>
              </a:defRPr>
            </a:lvl7pPr>
            <a:lvl8pPr algn="l">
              <a:defRPr sz="2250" b="1">
                <a:solidFill>
                  <a:srgbClr val="277B63"/>
                </a:solidFill>
                <a:latin typeface="Liberation Sans"/>
                <a:ea typeface="Liberation Sans"/>
                <a:cs typeface="Liberation Sans"/>
              </a:defRPr>
            </a:lvl8pPr>
            <a:lvl9pPr algn="l">
              <a:defRPr sz="2250" b="1">
                <a:solidFill>
                  <a:srgbClr val="277B63"/>
                </a:solidFill>
                <a:latin typeface="Liberation Sans"/>
                <a:ea typeface="Liberation Sans"/>
                <a:cs typeface="Liberation Sans"/>
              </a:defRPr>
            </a:lvl9pPr>
          </a:lstStyle>
          <a:p xmlns:a="http://schemas.openxmlformats.org/drawingml/2006/main">
            <a:pPr algn="l">
              <a:defRPr sz="2250" b="1">
                <a:solidFill>
                  <a:srgbClr val="277B63"/>
                </a:solidFill>
                <a:latin typeface="Liberation Sans"/>
                <a:ea typeface="Liberation Sans"/>
                <a:cs typeface="Liberation Sans"/>
              </a:defRPr>
            </a:pPr>
            <a:r>
              <a:rPr sz="2250" b="1">
                <a:solidFill>
                  <a:srgbClr val="277B63"/>
                </a:solidFill>
                <a:latin typeface="Liberation Sans"/>
                <a:ea typeface="Liberation Sans"/>
                <a:cs typeface="Liberation Sans"/>
              </a:rPr>
              <a:t>Next evaluation and development</a:t>
            </a:r>
          </a:p>
        </p:txBody>
      </p:sp>
      <p:sp>
        <p:nvSpPr>
          <p:cNvPr id="9" name="Held-out factuality and citation support&#10;&#10;Str">
            <a:extLst xmlns:a="http://schemas.openxmlformats.org/drawingml/2006/main">
              <a:ext uri="{FF2B5EF4-FFF2-40B4-BE49-F238E27FC236}">
                <a16:creationId xmlns:a16="http://schemas.microsoft.com/office/drawing/2014/main" id="{E33E688B-3252-49CD-82D0-47FEF1B25C35}"/>
              </a:ext>
            </a:extLst>
          </p:cNvPr>
          <p:cNvSpPr>
            <a:spLocks xmlns:a="http://schemas.openxmlformats.org/drawingml/2006/main" noGrp="1"/>
          </p:cNvSpPr>
          <p:nvPr/>
        </p:nvSpPr>
        <p:spPr>
          <a:xfrm xmlns:a="http://schemas.openxmlformats.org/drawingml/2006/main">
            <a:off x="6457950" y="2076450"/>
            <a:ext cx="509587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53B34"/>
                </a:solidFill>
                <a:latin typeface="Liberation Sans"/>
                <a:ea typeface="Liberation Sans"/>
                <a:cs typeface="Liberation Sans"/>
              </a:defRPr>
            </a:defPPr>
            <a:lvl1pPr algn="l">
              <a:defRPr sz="2025" b="0">
                <a:solidFill>
                  <a:srgbClr val="253B34"/>
                </a:solidFill>
                <a:latin typeface="Liberation Sans"/>
                <a:ea typeface="Liberation Sans"/>
                <a:cs typeface="Liberation Sans"/>
              </a:defRPr>
            </a:lvl1pPr>
            <a:lvl2pPr algn="l">
              <a:defRPr sz="2025" b="0">
                <a:solidFill>
                  <a:srgbClr val="253B34"/>
                </a:solidFill>
                <a:latin typeface="Liberation Sans"/>
                <a:ea typeface="Liberation Sans"/>
                <a:cs typeface="Liberation Sans"/>
              </a:defRPr>
            </a:lvl2pPr>
            <a:lvl3pPr algn="l">
              <a:defRPr sz="2025" b="0">
                <a:solidFill>
                  <a:srgbClr val="253B34"/>
                </a:solidFill>
                <a:latin typeface="Liberation Sans"/>
                <a:ea typeface="Liberation Sans"/>
                <a:cs typeface="Liberation Sans"/>
              </a:defRPr>
            </a:lvl3pPr>
            <a:lvl4pPr algn="l">
              <a:defRPr sz="2025" b="0">
                <a:solidFill>
                  <a:srgbClr val="253B34"/>
                </a:solidFill>
                <a:latin typeface="Liberation Sans"/>
                <a:ea typeface="Liberation Sans"/>
                <a:cs typeface="Liberation Sans"/>
              </a:defRPr>
            </a:lvl4pPr>
            <a:lvl5pPr algn="l">
              <a:defRPr sz="2025" b="0">
                <a:solidFill>
                  <a:srgbClr val="253B34"/>
                </a:solidFill>
                <a:latin typeface="Liberation Sans"/>
                <a:ea typeface="Liberation Sans"/>
                <a:cs typeface="Liberation Sans"/>
              </a:defRPr>
            </a:lvl5pPr>
            <a:lvl6pPr algn="l">
              <a:defRPr sz="2025" b="0">
                <a:solidFill>
                  <a:srgbClr val="253B34"/>
                </a:solidFill>
                <a:latin typeface="Liberation Sans"/>
                <a:ea typeface="Liberation Sans"/>
                <a:cs typeface="Liberation Sans"/>
              </a:defRPr>
            </a:lvl6pPr>
            <a:lvl7pPr algn="l">
              <a:defRPr sz="2025" b="0">
                <a:solidFill>
                  <a:srgbClr val="253B34"/>
                </a:solidFill>
                <a:latin typeface="Liberation Sans"/>
                <a:ea typeface="Liberation Sans"/>
                <a:cs typeface="Liberation Sans"/>
              </a:defRPr>
            </a:lvl7pPr>
            <a:lvl8pPr algn="l">
              <a:defRPr sz="2025" b="0">
                <a:solidFill>
                  <a:srgbClr val="253B34"/>
                </a:solidFill>
                <a:latin typeface="Liberation Sans"/>
                <a:ea typeface="Liberation Sans"/>
                <a:cs typeface="Liberation Sans"/>
              </a:defRPr>
            </a:lvl8pPr>
            <a:lvl9pPr algn="l">
              <a:defRPr sz="2025" b="0">
                <a:solidFill>
                  <a:srgbClr val="253B34"/>
                </a:solidFill>
                <a:latin typeface="Liberation Sans"/>
                <a:ea typeface="Liberation Sans"/>
                <a:cs typeface="Liberation Sans"/>
              </a:defRPr>
            </a:lvl9pPr>
          </a:lstStyle>
          <a:p xmlns:a="http://schemas.openxmlformats.org/drawingml/2006/main">
            <a:pPr algn="l">
              <a:defRPr sz="2025" b="0">
                <a:solidFill>
                  <a:srgbClr val="253B34"/>
                </a:solidFill>
                <a:latin typeface="Liberation Sans"/>
                <a:ea typeface="Liberation Sans"/>
                <a:cs typeface="Liberation Sans"/>
              </a:defRPr>
            </a:pPr>
            <a:r>
              <a:rPr sz="2025" b="0">
                <a:solidFill>
                  <a:srgbClr val="253B34"/>
                </a:solidFill>
                <a:latin typeface="Liberation Sans"/>
                <a:ea typeface="Liberation Sans"/>
                <a:cs typeface="Liberation Sans"/>
              </a:rPr>
              <a:t>Held-out factuality and citation support</a:t>
            </a:r>
          </a:p>
          <a:p xmlns:a="http://schemas.openxmlformats.org/drawingml/2006/main">
            <a:r>
              <a:t/>
            </a:r>
          </a:p>
          <a:p xmlns:a="http://schemas.openxmlformats.org/drawingml/2006/main">
            <a:pPr algn="l">
              <a:defRPr sz="2025" b="0">
                <a:solidFill>
                  <a:srgbClr val="253B34"/>
                </a:solidFill>
                <a:latin typeface="Liberation Sans"/>
                <a:ea typeface="Liberation Sans"/>
                <a:cs typeface="Liberation Sans"/>
              </a:defRPr>
            </a:pPr>
            <a:r>
              <a:rPr sz="2025" b="0">
                <a:solidFill>
                  <a:srgbClr val="253B34"/>
                </a:solidFill>
                <a:latin typeface="Liberation Sans"/>
                <a:ea typeface="Liberation Sans"/>
                <a:cs typeface="Liberation Sans"/>
              </a:rPr>
              <a:t>Stronger long-document coverage</a:t>
            </a:r>
          </a:p>
          <a:p xmlns:a="http://schemas.openxmlformats.org/drawingml/2006/main">
            <a:r>
              <a:t/>
            </a:r>
          </a:p>
          <a:p xmlns:a="http://schemas.openxmlformats.org/drawingml/2006/main">
            <a:pPr algn="l">
              <a:defRPr sz="2025" b="0">
                <a:solidFill>
                  <a:srgbClr val="253B34"/>
                </a:solidFill>
                <a:latin typeface="Liberation Sans"/>
                <a:ea typeface="Liberation Sans"/>
                <a:cs typeface="Liberation Sans"/>
              </a:defRPr>
            </a:pPr>
            <a:r>
              <a:rPr sz="2025" b="0">
                <a:solidFill>
                  <a:srgbClr val="253B34"/>
                </a:solidFill>
                <a:latin typeface="Liberation Sans"/>
                <a:ea typeface="Liberation Sans"/>
                <a:cs typeface="Liberation Sans"/>
              </a:rPr>
              <a:t>Local OCR for scanned PDFs</a:t>
            </a:r>
          </a:p>
          <a:p xmlns:a="http://schemas.openxmlformats.org/drawingml/2006/main">
            <a:r>
              <a:t/>
            </a:r>
          </a:p>
          <a:p xmlns:a="http://schemas.openxmlformats.org/drawingml/2006/main">
            <a:pPr algn="l">
              <a:defRPr sz="2025" b="0">
                <a:solidFill>
                  <a:srgbClr val="253B34"/>
                </a:solidFill>
                <a:latin typeface="Liberation Sans"/>
                <a:ea typeface="Liberation Sans"/>
                <a:cs typeface="Liberation Sans"/>
              </a:defRPr>
            </a:pPr>
            <a:r>
              <a:rPr sz="2025" b="0">
                <a:solidFill>
                  <a:srgbClr val="253B34"/>
                </a:solidFill>
                <a:latin typeface="Liberation Sans"/>
                <a:ea typeface="Liberation Sans"/>
                <a:cs typeface="Liberation Sans"/>
              </a:rPr>
              <a:t>Windows 11 laptop GPU measurements</a:t>
            </a:r>
          </a:p>
        </p:txBody>
      </p:sp>
      <p:sp>
        <p:nvSpPr>
          <p:cNvPr id="10" name="The SQLite database currently has no applicat">
            <a:extLst xmlns:a="http://schemas.openxmlformats.org/drawingml/2006/main">
              <a:ext uri="{FF2B5EF4-FFF2-40B4-BE49-F238E27FC236}">
                <a16:creationId xmlns:a16="http://schemas.microsoft.com/office/drawing/2014/main" id="{0CEFCD14-9270-4082-95A3-40490F779441}"/>
              </a:ext>
            </a:extLst>
          </p:cNvPr>
          <p:cNvSpPr>
            <a:spLocks xmlns:a="http://schemas.openxmlformats.org/drawingml/2006/main" noGrp="1"/>
          </p:cNvSpPr>
          <p:nvPr/>
        </p:nvSpPr>
        <p:spPr>
          <a:xfrm xmlns:a="http://schemas.openxmlformats.org/drawingml/2006/main">
            <a:off x="6457950" y="5610225"/>
            <a:ext cx="5095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586A63"/>
                </a:solidFill>
                <a:latin typeface="Liberation Sans"/>
                <a:ea typeface="Liberation Sans"/>
                <a:cs typeface="Liberation Sans"/>
              </a:defRPr>
            </a:defPPr>
            <a:lvl1pPr algn="l">
              <a:defRPr sz="1650" b="0">
                <a:solidFill>
                  <a:srgbClr val="586A63"/>
                </a:solidFill>
                <a:latin typeface="Liberation Sans"/>
                <a:ea typeface="Liberation Sans"/>
                <a:cs typeface="Liberation Sans"/>
              </a:defRPr>
            </a:lvl1pPr>
            <a:lvl2pPr algn="l">
              <a:defRPr sz="1650" b="0">
                <a:solidFill>
                  <a:srgbClr val="586A63"/>
                </a:solidFill>
                <a:latin typeface="Liberation Sans"/>
                <a:ea typeface="Liberation Sans"/>
                <a:cs typeface="Liberation Sans"/>
              </a:defRPr>
            </a:lvl2pPr>
            <a:lvl3pPr algn="l">
              <a:defRPr sz="1650" b="0">
                <a:solidFill>
                  <a:srgbClr val="586A63"/>
                </a:solidFill>
                <a:latin typeface="Liberation Sans"/>
                <a:ea typeface="Liberation Sans"/>
                <a:cs typeface="Liberation Sans"/>
              </a:defRPr>
            </a:lvl3pPr>
            <a:lvl4pPr algn="l">
              <a:defRPr sz="1650" b="0">
                <a:solidFill>
                  <a:srgbClr val="586A63"/>
                </a:solidFill>
                <a:latin typeface="Liberation Sans"/>
                <a:ea typeface="Liberation Sans"/>
                <a:cs typeface="Liberation Sans"/>
              </a:defRPr>
            </a:lvl4pPr>
            <a:lvl5pPr algn="l">
              <a:defRPr sz="1650" b="0">
                <a:solidFill>
                  <a:srgbClr val="586A63"/>
                </a:solidFill>
                <a:latin typeface="Liberation Sans"/>
                <a:ea typeface="Liberation Sans"/>
                <a:cs typeface="Liberation Sans"/>
              </a:defRPr>
            </a:lvl5pPr>
            <a:lvl6pPr algn="l">
              <a:defRPr sz="1650" b="0">
                <a:solidFill>
                  <a:srgbClr val="586A63"/>
                </a:solidFill>
                <a:latin typeface="Liberation Sans"/>
                <a:ea typeface="Liberation Sans"/>
                <a:cs typeface="Liberation Sans"/>
              </a:defRPr>
            </a:lvl6pPr>
            <a:lvl7pPr algn="l">
              <a:defRPr sz="1650" b="0">
                <a:solidFill>
                  <a:srgbClr val="586A63"/>
                </a:solidFill>
                <a:latin typeface="Liberation Sans"/>
                <a:ea typeface="Liberation Sans"/>
                <a:cs typeface="Liberation Sans"/>
              </a:defRPr>
            </a:lvl7pPr>
            <a:lvl8pPr algn="l">
              <a:defRPr sz="1650" b="0">
                <a:solidFill>
                  <a:srgbClr val="586A63"/>
                </a:solidFill>
                <a:latin typeface="Liberation Sans"/>
                <a:ea typeface="Liberation Sans"/>
                <a:cs typeface="Liberation Sans"/>
              </a:defRPr>
            </a:lvl8pPr>
            <a:lvl9pPr algn="l">
              <a:defRPr sz="1650" b="0">
                <a:solidFill>
                  <a:srgbClr val="586A63"/>
                </a:solidFill>
                <a:latin typeface="Liberation Sans"/>
                <a:ea typeface="Liberation Sans"/>
                <a:cs typeface="Liberation Sans"/>
              </a:defRPr>
            </a:lvl9pPr>
          </a:lstStyle>
          <a:p xmlns:a="http://schemas.openxmlformats.org/drawingml/2006/main">
            <a:pPr algn="l">
              <a:defRPr sz="1650" b="0">
                <a:solidFill>
                  <a:srgbClr val="586A63"/>
                </a:solidFill>
                <a:latin typeface="Liberation Sans"/>
                <a:ea typeface="Liberation Sans"/>
                <a:cs typeface="Liberation Sans"/>
              </a:defRPr>
            </a:pPr>
            <a:r>
              <a:rPr sz="1650" b="0">
                <a:solidFill>
                  <a:srgbClr val="586A63"/>
                </a:solidFill>
                <a:latin typeface="Liberation Sans"/>
                <a:ea typeface="Liberation Sans"/>
                <a:cs typeface="Liberation Sans"/>
              </a:rPr>
              <a:t>SQLite currently has no</a:t>
            </a:r>
          </a:p>
          <a:p xmlns:a="http://schemas.openxmlformats.org/drawingml/2006/main">
            <a:pPr algn="l">
              <a:defRPr sz="1650" b="0">
                <a:solidFill>
                  <a:srgbClr val="586A63"/>
                </a:solidFill>
                <a:latin typeface="Liberation Sans"/>
                <a:ea typeface="Liberation Sans"/>
                <a:cs typeface="Liberation Sans"/>
              </a:defRPr>
            </a:pPr>
            <a:r>
              <a:rPr sz="1650" b="0">
                <a:solidFill>
                  <a:srgbClr val="586A63"/>
                </a:solidFill>
                <a:latin typeface="Liberation Sans"/>
                <a:ea typeface="Liberation Sans"/>
                <a:cs typeface="Liberation Sans"/>
              </a:rPr>
              <a:t>application-level encryption</a:t>
            </a:r>
          </a:p>
        </p:txBody>
      </p:sp>
    </p:spTree>
    <p:extLst>
      <p:ext uri="{BB962C8B-B14F-4D97-AF65-F5344CB8AC3E}">
        <p14:creationId xmlns:p14="http://schemas.microsoft.com/office/powerpoint/2010/main" val="1423339237"/>
      </p:ext>
    </p:extLst>
  </p:cSld>
</p:sld>
</file>

<file path=ppt/slides/slide12.xml><?xml version="1.0" encoding="utf-8"?>
<p:sld xmlns:p="http://schemas.openxmlformats.org/presentationml/2006/main">
  <p:cSld>
    <p:bg>
      <p:bgPr>
        <a:solidFill xmlns:a="http://schemas.openxmlformats.org/drawingml/2006/main">
          <a:srgbClr val="173D33"/>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EDD9383-41E4-441F-857A-5D3F0950EB46}"/>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FFFFFF"/>
                </a:solidFill>
                <a:latin typeface="Liberation Sans"/>
                <a:ea typeface="Liberation Sans"/>
                <a:cs typeface="Liberation Sans"/>
              </a:defRPr>
            </a:defPPr>
            <a:lvl1pPr algn="l">
              <a:defRPr sz="3300" b="1">
                <a:solidFill>
                  <a:srgbClr val="FFFFFF"/>
                </a:solidFill>
                <a:latin typeface="Liberation Sans"/>
                <a:ea typeface="Liberation Sans"/>
                <a:cs typeface="Liberation Sans"/>
              </a:defRPr>
            </a:lvl1pPr>
            <a:lvl2pPr algn="l">
              <a:defRPr sz="3300" b="1">
                <a:solidFill>
                  <a:srgbClr val="FFFFFF"/>
                </a:solidFill>
                <a:latin typeface="Liberation Sans"/>
                <a:ea typeface="Liberation Sans"/>
                <a:cs typeface="Liberation Sans"/>
              </a:defRPr>
            </a:lvl2pPr>
            <a:lvl3pPr algn="l">
              <a:defRPr sz="3300" b="1">
                <a:solidFill>
                  <a:srgbClr val="FFFFFF"/>
                </a:solidFill>
                <a:latin typeface="Liberation Sans"/>
                <a:ea typeface="Liberation Sans"/>
                <a:cs typeface="Liberation Sans"/>
              </a:defRPr>
            </a:lvl3pPr>
            <a:lvl4pPr algn="l">
              <a:defRPr sz="3300" b="1">
                <a:solidFill>
                  <a:srgbClr val="FFFFFF"/>
                </a:solidFill>
                <a:latin typeface="Liberation Sans"/>
                <a:ea typeface="Liberation Sans"/>
                <a:cs typeface="Liberation Sans"/>
              </a:defRPr>
            </a:lvl4pPr>
            <a:lvl5pPr algn="l">
              <a:defRPr sz="3300" b="1">
                <a:solidFill>
                  <a:srgbClr val="FFFFFF"/>
                </a:solidFill>
                <a:latin typeface="Liberation Sans"/>
                <a:ea typeface="Liberation Sans"/>
                <a:cs typeface="Liberation Sans"/>
              </a:defRPr>
            </a:lvl5pPr>
            <a:lvl6pPr algn="l">
              <a:defRPr sz="3300" b="1">
                <a:solidFill>
                  <a:srgbClr val="FFFFFF"/>
                </a:solidFill>
                <a:latin typeface="Liberation Sans"/>
                <a:ea typeface="Liberation Sans"/>
                <a:cs typeface="Liberation Sans"/>
              </a:defRPr>
            </a:lvl6pPr>
            <a:lvl7pPr algn="l">
              <a:defRPr sz="3300" b="1">
                <a:solidFill>
                  <a:srgbClr val="FFFFFF"/>
                </a:solidFill>
                <a:latin typeface="Liberation Sans"/>
                <a:ea typeface="Liberation Sans"/>
                <a:cs typeface="Liberation Sans"/>
              </a:defRPr>
            </a:lvl7pPr>
            <a:lvl8pPr algn="l">
              <a:defRPr sz="3300" b="1">
                <a:solidFill>
                  <a:srgbClr val="FFFFFF"/>
                </a:solidFill>
                <a:latin typeface="Liberation Sans"/>
                <a:ea typeface="Liberation Sans"/>
                <a:cs typeface="Liberation Sans"/>
              </a:defRPr>
            </a:lvl8pPr>
            <a:lvl9pPr algn="l">
              <a:defRPr sz="3300" b="1">
                <a:solidFill>
                  <a:srgbClr val="FFFFFF"/>
                </a:solidFill>
                <a:latin typeface="Liberation Sans"/>
                <a:ea typeface="Liberation Sans"/>
                <a:cs typeface="Liberation Sans"/>
              </a:defRPr>
            </a:lvl9pPr>
          </a:lstStyle>
          <a:p xmlns:a="http://schemas.openxmlformats.org/drawingml/2006/main">
            <a:pPr algn="l">
              <a:defRPr sz="3300" b="1">
                <a:solidFill>
                  <a:srgbClr val="FFFFFF"/>
                </a:solidFill>
                <a:latin typeface="Liberation Sans"/>
                <a:ea typeface="Liberation Sans"/>
                <a:cs typeface="Liberation Sans"/>
              </a:defRPr>
            </a:pPr>
            <a:r>
              <a:rPr sz="3300" b="1">
                <a:solidFill>
                  <a:srgbClr val="FFFFFF"/>
                </a:solidFill>
                <a:latin typeface="Liberation Sans"/>
                <a:ea typeface="Liberation Sans"/>
                <a:cs typeface="Liberation Sans"/>
              </a:rPr>
              <a:t>Conclusion</a:t>
            </a:r>
          </a:p>
        </p:txBody>
      </p:sp>
      <p:sp>
        <p:nvSpPr>
          <p:cNvPr id="3" name="12">
            <a:extLst xmlns:a="http://schemas.openxmlformats.org/drawingml/2006/main">
              <a:ext uri="{FF2B5EF4-FFF2-40B4-BE49-F238E27FC236}">
                <a16:creationId xmlns:a16="http://schemas.microsoft.com/office/drawing/2014/main" id="{03C2AF2F-CABF-4095-B25F-7E26DC503EDA}"/>
              </a:ext>
            </a:extLst>
          </p:cNvPr>
          <p:cNvSpPr>
            <a:spLocks xmlns:a="http://schemas.openxmlformats.org/drawingml/2006/main" noGrp="1"/>
          </p:cNvSpPr>
          <p:nvPr/>
        </p:nvSpPr>
        <p:spPr>
          <a:xfrm xmlns:a="http://schemas.openxmlformats.org/drawingml/2006/main">
            <a:off x="1106805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350" b="0">
                <a:solidFill>
                  <a:srgbClr val="AFCBBC"/>
                </a:solidFill>
                <a:latin typeface="Liberation Sans"/>
                <a:ea typeface="Liberation Sans"/>
                <a:cs typeface="Liberation Sans"/>
              </a:defRPr>
            </a:defPPr>
            <a:lvl1pPr algn="r">
              <a:defRPr sz="1350" b="0">
                <a:solidFill>
                  <a:srgbClr val="AFCBBC"/>
                </a:solidFill>
                <a:latin typeface="Liberation Sans"/>
                <a:ea typeface="Liberation Sans"/>
                <a:cs typeface="Liberation Sans"/>
              </a:defRPr>
            </a:lvl1pPr>
            <a:lvl2pPr algn="r">
              <a:defRPr sz="1350" b="0">
                <a:solidFill>
                  <a:srgbClr val="AFCBBC"/>
                </a:solidFill>
                <a:latin typeface="Liberation Sans"/>
                <a:ea typeface="Liberation Sans"/>
                <a:cs typeface="Liberation Sans"/>
              </a:defRPr>
            </a:lvl2pPr>
            <a:lvl3pPr algn="r">
              <a:defRPr sz="1350" b="0">
                <a:solidFill>
                  <a:srgbClr val="AFCBBC"/>
                </a:solidFill>
                <a:latin typeface="Liberation Sans"/>
                <a:ea typeface="Liberation Sans"/>
                <a:cs typeface="Liberation Sans"/>
              </a:defRPr>
            </a:lvl3pPr>
            <a:lvl4pPr algn="r">
              <a:defRPr sz="1350" b="0">
                <a:solidFill>
                  <a:srgbClr val="AFCBBC"/>
                </a:solidFill>
                <a:latin typeface="Liberation Sans"/>
                <a:ea typeface="Liberation Sans"/>
                <a:cs typeface="Liberation Sans"/>
              </a:defRPr>
            </a:lvl4pPr>
            <a:lvl5pPr algn="r">
              <a:defRPr sz="1350" b="0">
                <a:solidFill>
                  <a:srgbClr val="AFCBBC"/>
                </a:solidFill>
                <a:latin typeface="Liberation Sans"/>
                <a:ea typeface="Liberation Sans"/>
                <a:cs typeface="Liberation Sans"/>
              </a:defRPr>
            </a:lvl5pPr>
            <a:lvl6pPr algn="r">
              <a:defRPr sz="1350" b="0">
                <a:solidFill>
                  <a:srgbClr val="AFCBBC"/>
                </a:solidFill>
                <a:latin typeface="Liberation Sans"/>
                <a:ea typeface="Liberation Sans"/>
                <a:cs typeface="Liberation Sans"/>
              </a:defRPr>
            </a:lvl6pPr>
            <a:lvl7pPr algn="r">
              <a:defRPr sz="1350" b="0">
                <a:solidFill>
                  <a:srgbClr val="AFCBBC"/>
                </a:solidFill>
                <a:latin typeface="Liberation Sans"/>
                <a:ea typeface="Liberation Sans"/>
                <a:cs typeface="Liberation Sans"/>
              </a:defRPr>
            </a:lvl7pPr>
            <a:lvl8pPr algn="r">
              <a:defRPr sz="1350" b="0">
                <a:solidFill>
                  <a:srgbClr val="AFCBBC"/>
                </a:solidFill>
                <a:latin typeface="Liberation Sans"/>
                <a:ea typeface="Liberation Sans"/>
                <a:cs typeface="Liberation Sans"/>
              </a:defRPr>
            </a:lvl8pPr>
            <a:lvl9pPr algn="r">
              <a:defRPr sz="1350" b="0">
                <a:solidFill>
                  <a:srgbClr val="AFCBBC"/>
                </a:solidFill>
                <a:latin typeface="Liberation Sans"/>
                <a:ea typeface="Liberation Sans"/>
                <a:cs typeface="Liberation Sans"/>
              </a:defRPr>
            </a:lvl9pPr>
          </a:lstStyle>
          <a:p xmlns:a="http://schemas.openxmlformats.org/drawingml/2006/main">
            <a:pPr algn="r">
              <a:defRPr sz="1350" b="0">
                <a:solidFill>
                  <a:srgbClr val="AFCBBC"/>
                </a:solidFill>
                <a:latin typeface="Liberation Sans"/>
                <a:ea typeface="Liberation Sans"/>
                <a:cs typeface="Liberation Sans"/>
              </a:defRPr>
            </a:pPr>
            <a:r>
              <a:rPr sz="1350" b="0">
                <a:solidFill>
                  <a:srgbClr val="AFCBBC"/>
                </a:solidFill>
                <a:latin typeface="Liberation Sans"/>
                <a:ea typeface="Liberation Sans"/>
                <a:cs typeface="Liberation Sans"/>
              </a:rPr>
              <a:t>12</a:t>
            </a:r>
          </a:p>
        </p:txBody>
      </p:sp>
      <p:sp>
        <p:nvSpPr>
          <p:cNvPr id="4" name="A local knowledge workspace with&#10;persistent m">
            <a:extLst xmlns:a="http://schemas.openxmlformats.org/drawingml/2006/main">
              <a:ext uri="{FF2B5EF4-FFF2-40B4-BE49-F238E27FC236}">
                <a16:creationId xmlns:a16="http://schemas.microsoft.com/office/drawing/2014/main" id="{016E1832-1352-42D9-84F4-881726B35A3B}"/>
              </a:ext>
            </a:extLst>
          </p:cNvPr>
          <p:cNvSpPr>
            <a:spLocks xmlns:a="http://schemas.openxmlformats.org/drawingml/2006/main" noGrp="1"/>
          </p:cNvSpPr>
          <p:nvPr/>
        </p:nvSpPr>
        <p:spPr>
          <a:xfrm xmlns:a="http://schemas.openxmlformats.org/drawingml/2006/main">
            <a:off x="609600" y="1590675"/>
            <a:ext cx="10572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FFFFFF"/>
                </a:solidFill>
                <a:latin typeface="Liberation Sans"/>
                <a:ea typeface="Liberation Sans"/>
                <a:cs typeface="Liberation Sans"/>
              </a:defRPr>
            </a:defPPr>
            <a:lvl1pPr algn="l">
              <a:defRPr sz="3300" b="1">
                <a:solidFill>
                  <a:srgbClr val="FFFFFF"/>
                </a:solidFill>
                <a:latin typeface="Liberation Sans"/>
                <a:ea typeface="Liberation Sans"/>
                <a:cs typeface="Liberation Sans"/>
              </a:defRPr>
            </a:lvl1pPr>
            <a:lvl2pPr algn="l">
              <a:defRPr sz="3300" b="1">
                <a:solidFill>
                  <a:srgbClr val="FFFFFF"/>
                </a:solidFill>
                <a:latin typeface="Liberation Sans"/>
                <a:ea typeface="Liberation Sans"/>
                <a:cs typeface="Liberation Sans"/>
              </a:defRPr>
            </a:lvl2pPr>
            <a:lvl3pPr algn="l">
              <a:defRPr sz="3300" b="1">
                <a:solidFill>
                  <a:srgbClr val="FFFFFF"/>
                </a:solidFill>
                <a:latin typeface="Liberation Sans"/>
                <a:ea typeface="Liberation Sans"/>
                <a:cs typeface="Liberation Sans"/>
              </a:defRPr>
            </a:lvl3pPr>
            <a:lvl4pPr algn="l">
              <a:defRPr sz="3300" b="1">
                <a:solidFill>
                  <a:srgbClr val="FFFFFF"/>
                </a:solidFill>
                <a:latin typeface="Liberation Sans"/>
                <a:ea typeface="Liberation Sans"/>
                <a:cs typeface="Liberation Sans"/>
              </a:defRPr>
            </a:lvl4pPr>
            <a:lvl5pPr algn="l">
              <a:defRPr sz="3300" b="1">
                <a:solidFill>
                  <a:srgbClr val="FFFFFF"/>
                </a:solidFill>
                <a:latin typeface="Liberation Sans"/>
                <a:ea typeface="Liberation Sans"/>
                <a:cs typeface="Liberation Sans"/>
              </a:defRPr>
            </a:lvl5pPr>
            <a:lvl6pPr algn="l">
              <a:defRPr sz="3300" b="1">
                <a:solidFill>
                  <a:srgbClr val="FFFFFF"/>
                </a:solidFill>
                <a:latin typeface="Liberation Sans"/>
                <a:ea typeface="Liberation Sans"/>
                <a:cs typeface="Liberation Sans"/>
              </a:defRPr>
            </a:lvl6pPr>
            <a:lvl7pPr algn="l">
              <a:defRPr sz="3300" b="1">
                <a:solidFill>
                  <a:srgbClr val="FFFFFF"/>
                </a:solidFill>
                <a:latin typeface="Liberation Sans"/>
                <a:ea typeface="Liberation Sans"/>
                <a:cs typeface="Liberation Sans"/>
              </a:defRPr>
            </a:lvl7pPr>
            <a:lvl8pPr algn="l">
              <a:defRPr sz="3300" b="1">
                <a:solidFill>
                  <a:srgbClr val="FFFFFF"/>
                </a:solidFill>
                <a:latin typeface="Liberation Sans"/>
                <a:ea typeface="Liberation Sans"/>
                <a:cs typeface="Liberation Sans"/>
              </a:defRPr>
            </a:lvl8pPr>
            <a:lvl9pPr algn="l">
              <a:defRPr sz="3300" b="1">
                <a:solidFill>
                  <a:srgbClr val="FFFFFF"/>
                </a:solidFill>
                <a:latin typeface="Liberation Sans"/>
                <a:ea typeface="Liberation Sans"/>
                <a:cs typeface="Liberation Sans"/>
              </a:defRPr>
            </a:lvl9pPr>
          </a:lstStyle>
          <a:p xmlns:a="http://schemas.openxmlformats.org/drawingml/2006/main">
            <a:pPr algn="l">
              <a:defRPr sz="3300" b="1">
                <a:solidFill>
                  <a:srgbClr val="FFFFFF"/>
                </a:solidFill>
                <a:latin typeface="Liberation Sans"/>
                <a:ea typeface="Liberation Sans"/>
                <a:cs typeface="Liberation Sans"/>
              </a:defRPr>
            </a:pPr>
            <a:r>
              <a:rPr sz="3300" b="1">
                <a:solidFill>
                  <a:srgbClr val="FFFFFF"/>
                </a:solidFill>
                <a:latin typeface="Liberation Sans"/>
                <a:ea typeface="Liberation Sans"/>
                <a:cs typeface="Liberation Sans"/>
              </a:rPr>
              <a:t>A local knowledge workspace with</a:t>
            </a:r>
          </a:p>
          <a:p xmlns:a="http://schemas.openxmlformats.org/drawingml/2006/main">
            <a:pPr algn="l">
              <a:defRPr sz="3300" b="1">
                <a:solidFill>
                  <a:srgbClr val="FFFFFF"/>
                </a:solidFill>
                <a:latin typeface="Liberation Sans"/>
                <a:ea typeface="Liberation Sans"/>
                <a:cs typeface="Liberation Sans"/>
              </a:defRPr>
            </a:pPr>
            <a:r>
              <a:rPr sz="3300" b="1">
                <a:solidFill>
                  <a:srgbClr val="FFFFFF"/>
                </a:solidFill>
                <a:latin typeface="Liberation Sans"/>
                <a:ea typeface="Liberation Sans"/>
                <a:cs typeface="Liberation Sans"/>
              </a:rPr>
              <a:t>persistent memory and inspectable sources</a:t>
            </a:r>
          </a:p>
        </p:txBody>
      </p:sp>
      <p:sp>
        <p:nvSpPr>
          <p:cNvPr id="5" name="Approved local files supply evidence through ">
            <a:extLst xmlns:a="http://schemas.openxmlformats.org/drawingml/2006/main">
              <a:ext uri="{FF2B5EF4-FFF2-40B4-BE49-F238E27FC236}">
                <a16:creationId xmlns:a16="http://schemas.microsoft.com/office/drawing/2014/main" id="{C5F2A3AE-9E0A-44AB-8A68-A0C9594BD8F3}"/>
              </a:ext>
            </a:extLst>
          </p:cNvPr>
          <p:cNvSpPr>
            <a:spLocks xmlns:a="http://schemas.openxmlformats.org/drawingml/2006/main" noGrp="1"/>
          </p:cNvSpPr>
          <p:nvPr/>
        </p:nvSpPr>
        <p:spPr>
          <a:xfrm xmlns:a="http://schemas.openxmlformats.org/drawingml/2006/main">
            <a:off x="609600" y="3381375"/>
            <a:ext cx="1057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0">
                <a:solidFill>
                  <a:srgbClr val="D5E6DA"/>
                </a:solidFill>
                <a:latin typeface="Liberation Sans"/>
                <a:ea typeface="Liberation Sans"/>
                <a:cs typeface="Liberation Sans"/>
              </a:defRPr>
            </a:defPPr>
            <a:lvl1pPr algn="l">
              <a:defRPr sz="2250" b="0">
                <a:solidFill>
                  <a:srgbClr val="D5E6DA"/>
                </a:solidFill>
                <a:latin typeface="Liberation Sans"/>
                <a:ea typeface="Liberation Sans"/>
                <a:cs typeface="Liberation Sans"/>
              </a:defRPr>
            </a:lvl1pPr>
            <a:lvl2pPr algn="l">
              <a:defRPr sz="2250" b="0">
                <a:solidFill>
                  <a:srgbClr val="D5E6DA"/>
                </a:solidFill>
                <a:latin typeface="Liberation Sans"/>
                <a:ea typeface="Liberation Sans"/>
                <a:cs typeface="Liberation Sans"/>
              </a:defRPr>
            </a:lvl2pPr>
            <a:lvl3pPr algn="l">
              <a:defRPr sz="2250" b="0">
                <a:solidFill>
                  <a:srgbClr val="D5E6DA"/>
                </a:solidFill>
                <a:latin typeface="Liberation Sans"/>
                <a:ea typeface="Liberation Sans"/>
                <a:cs typeface="Liberation Sans"/>
              </a:defRPr>
            </a:lvl3pPr>
            <a:lvl4pPr algn="l">
              <a:defRPr sz="2250" b="0">
                <a:solidFill>
                  <a:srgbClr val="D5E6DA"/>
                </a:solidFill>
                <a:latin typeface="Liberation Sans"/>
                <a:ea typeface="Liberation Sans"/>
                <a:cs typeface="Liberation Sans"/>
              </a:defRPr>
            </a:lvl4pPr>
            <a:lvl5pPr algn="l">
              <a:defRPr sz="2250" b="0">
                <a:solidFill>
                  <a:srgbClr val="D5E6DA"/>
                </a:solidFill>
                <a:latin typeface="Liberation Sans"/>
                <a:ea typeface="Liberation Sans"/>
                <a:cs typeface="Liberation Sans"/>
              </a:defRPr>
            </a:lvl5pPr>
            <a:lvl6pPr algn="l">
              <a:defRPr sz="2250" b="0">
                <a:solidFill>
                  <a:srgbClr val="D5E6DA"/>
                </a:solidFill>
                <a:latin typeface="Liberation Sans"/>
                <a:ea typeface="Liberation Sans"/>
                <a:cs typeface="Liberation Sans"/>
              </a:defRPr>
            </a:lvl6pPr>
            <a:lvl7pPr algn="l">
              <a:defRPr sz="2250" b="0">
                <a:solidFill>
                  <a:srgbClr val="D5E6DA"/>
                </a:solidFill>
                <a:latin typeface="Liberation Sans"/>
                <a:ea typeface="Liberation Sans"/>
                <a:cs typeface="Liberation Sans"/>
              </a:defRPr>
            </a:lvl7pPr>
            <a:lvl8pPr algn="l">
              <a:defRPr sz="2250" b="0">
                <a:solidFill>
                  <a:srgbClr val="D5E6DA"/>
                </a:solidFill>
                <a:latin typeface="Liberation Sans"/>
                <a:ea typeface="Liberation Sans"/>
                <a:cs typeface="Liberation Sans"/>
              </a:defRPr>
            </a:lvl8pPr>
            <a:lvl9pPr algn="l">
              <a:defRPr sz="2250" b="0">
                <a:solidFill>
                  <a:srgbClr val="D5E6DA"/>
                </a:solidFill>
                <a:latin typeface="Liberation Sans"/>
                <a:ea typeface="Liberation Sans"/>
                <a:cs typeface="Liberation Sans"/>
              </a:defRPr>
            </a:lvl9pPr>
          </a:lstStyle>
          <a:p xmlns:a="http://schemas.openxmlformats.org/drawingml/2006/main">
            <a:pPr algn="l">
              <a:defRPr sz="2250" b="0">
                <a:solidFill>
                  <a:srgbClr val="D5E6DA"/>
                </a:solidFill>
                <a:latin typeface="Liberation Sans"/>
                <a:ea typeface="Liberation Sans"/>
                <a:cs typeface="Liberation Sans"/>
              </a:defRPr>
            </a:pPr>
            <a:r>
              <a:rPr sz="2250" b="0">
                <a:solidFill>
                  <a:srgbClr val="D5E6DA"/>
                </a:solidFill>
                <a:latin typeface="Liberation Sans"/>
                <a:ea typeface="Liberation Sans"/>
                <a:cs typeface="Liberation Sans"/>
              </a:rPr>
              <a:t>Approved local files supply evidence through retrieval and MCP.</a:t>
            </a:r>
          </a:p>
          <a:p xmlns:a="http://schemas.openxmlformats.org/drawingml/2006/main">
            <a:pPr algn="l">
              <a:defRPr sz="2250" b="0">
                <a:solidFill>
                  <a:srgbClr val="D5E6DA"/>
                </a:solidFill>
                <a:latin typeface="Liberation Sans"/>
                <a:ea typeface="Liberation Sans"/>
                <a:cs typeface="Liberation Sans"/>
              </a:defRPr>
            </a:pPr>
            <a:r>
              <a:rPr sz="2250" b="0">
                <a:solidFill>
                  <a:srgbClr val="D5E6DA"/>
                </a:solidFill>
                <a:latin typeface="Liberation Sans"/>
                <a:ea typeface="Liberation Sans"/>
                <a:cs typeface="Liberation Sans"/>
              </a:rPr>
              <a:t>Explicit memories preserve project context across sessions.</a:t>
            </a:r>
          </a:p>
        </p:txBody>
      </p:sp>
      <p:sp>
        <p:nvSpPr>
          <p:cNvPr id="6" name="Measured retrieval coverage is strong on LM-S">
            <a:extLst xmlns:a="http://schemas.openxmlformats.org/drawingml/2006/main">
              <a:ext uri="{FF2B5EF4-FFF2-40B4-BE49-F238E27FC236}">
                <a16:creationId xmlns:a16="http://schemas.microsoft.com/office/drawing/2014/main" id="{8D23C79F-EB73-4558-8697-857DED0F682A}"/>
              </a:ext>
            </a:extLst>
          </p:cNvPr>
          <p:cNvSpPr>
            <a:spLocks xmlns:a="http://schemas.openxmlformats.org/drawingml/2006/main" noGrp="1"/>
          </p:cNvSpPr>
          <p:nvPr/>
        </p:nvSpPr>
        <p:spPr>
          <a:xfrm xmlns:a="http://schemas.openxmlformats.org/drawingml/2006/main">
            <a:off x="609600" y="4695825"/>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D5E6DA"/>
                </a:solidFill>
                <a:latin typeface="Liberation Sans"/>
                <a:ea typeface="Liberation Sans"/>
                <a:cs typeface="Liberation Sans"/>
              </a:defRPr>
            </a:defPPr>
            <a:lvl1pPr algn="l">
              <a:defRPr sz="2175" b="0">
                <a:solidFill>
                  <a:srgbClr val="D5E6DA"/>
                </a:solidFill>
                <a:latin typeface="Liberation Sans"/>
                <a:ea typeface="Liberation Sans"/>
                <a:cs typeface="Liberation Sans"/>
              </a:defRPr>
            </a:lvl1pPr>
            <a:lvl2pPr algn="l">
              <a:defRPr sz="2175" b="0">
                <a:solidFill>
                  <a:srgbClr val="D5E6DA"/>
                </a:solidFill>
                <a:latin typeface="Liberation Sans"/>
                <a:ea typeface="Liberation Sans"/>
                <a:cs typeface="Liberation Sans"/>
              </a:defRPr>
            </a:lvl2pPr>
            <a:lvl3pPr algn="l">
              <a:defRPr sz="2175" b="0">
                <a:solidFill>
                  <a:srgbClr val="D5E6DA"/>
                </a:solidFill>
                <a:latin typeface="Liberation Sans"/>
                <a:ea typeface="Liberation Sans"/>
                <a:cs typeface="Liberation Sans"/>
              </a:defRPr>
            </a:lvl3pPr>
            <a:lvl4pPr algn="l">
              <a:defRPr sz="2175" b="0">
                <a:solidFill>
                  <a:srgbClr val="D5E6DA"/>
                </a:solidFill>
                <a:latin typeface="Liberation Sans"/>
                <a:ea typeface="Liberation Sans"/>
                <a:cs typeface="Liberation Sans"/>
              </a:defRPr>
            </a:lvl4pPr>
            <a:lvl5pPr algn="l">
              <a:defRPr sz="2175" b="0">
                <a:solidFill>
                  <a:srgbClr val="D5E6DA"/>
                </a:solidFill>
                <a:latin typeface="Liberation Sans"/>
                <a:ea typeface="Liberation Sans"/>
                <a:cs typeface="Liberation Sans"/>
              </a:defRPr>
            </a:lvl5pPr>
            <a:lvl6pPr algn="l">
              <a:defRPr sz="2175" b="0">
                <a:solidFill>
                  <a:srgbClr val="D5E6DA"/>
                </a:solidFill>
                <a:latin typeface="Liberation Sans"/>
                <a:ea typeface="Liberation Sans"/>
                <a:cs typeface="Liberation Sans"/>
              </a:defRPr>
            </a:lvl6pPr>
            <a:lvl7pPr algn="l">
              <a:defRPr sz="2175" b="0">
                <a:solidFill>
                  <a:srgbClr val="D5E6DA"/>
                </a:solidFill>
                <a:latin typeface="Liberation Sans"/>
                <a:ea typeface="Liberation Sans"/>
                <a:cs typeface="Liberation Sans"/>
              </a:defRPr>
            </a:lvl7pPr>
            <a:lvl8pPr algn="l">
              <a:defRPr sz="2175" b="0">
                <a:solidFill>
                  <a:srgbClr val="D5E6DA"/>
                </a:solidFill>
                <a:latin typeface="Liberation Sans"/>
                <a:ea typeface="Liberation Sans"/>
                <a:cs typeface="Liberation Sans"/>
              </a:defRPr>
            </a:lvl8pPr>
            <a:lvl9pPr algn="l">
              <a:defRPr sz="2175" b="0">
                <a:solidFill>
                  <a:srgbClr val="D5E6DA"/>
                </a:solidFill>
                <a:latin typeface="Liberation Sans"/>
                <a:ea typeface="Liberation Sans"/>
                <a:cs typeface="Liberation Sans"/>
              </a:defRPr>
            </a:lvl9pPr>
          </a:lstStyle>
          <a:p xmlns:a="http://schemas.openxmlformats.org/drawingml/2006/main">
            <a:pPr algn="l">
              <a:defRPr sz="2175" b="0">
                <a:solidFill>
                  <a:srgbClr val="D5E6DA"/>
                </a:solidFill>
                <a:latin typeface="Liberation Sans"/>
                <a:ea typeface="Liberation Sans"/>
                <a:cs typeface="Liberation Sans"/>
              </a:defRPr>
            </a:pPr>
            <a:r>
              <a:rPr sz="2175" b="0">
                <a:solidFill>
                  <a:srgbClr val="D5E6DA"/>
                </a:solidFill>
                <a:latin typeface="Liberation Sans"/>
                <a:ea typeface="Liberation Sans"/>
                <a:cs typeface="Liberation Sans"/>
              </a:rPr>
              <a:t>Measured retrieval coverage is strong on LM-Synth.</a:t>
            </a:r>
          </a:p>
          <a:p xmlns:a="http://schemas.openxmlformats.org/drawingml/2006/main">
            <a:pPr algn="l">
              <a:defRPr sz="2175" b="0">
                <a:solidFill>
                  <a:srgbClr val="D5E6DA"/>
                </a:solidFill>
                <a:latin typeface="Liberation Sans"/>
                <a:ea typeface="Liberation Sans"/>
                <a:cs typeface="Liberation Sans"/>
              </a:defRPr>
            </a:pPr>
            <a:r>
              <a:rPr sz="2175" b="0">
                <a:solidFill>
                  <a:srgbClr val="D5E6DA"/>
                </a:solidFill>
                <a:latin typeface="Liberation Sans"/>
                <a:ea typeface="Liberation Sans"/>
                <a:cs typeface="Liberation Sans"/>
              </a:rPr>
              <a:t>Broader answer reliability remains an evaluation priority.</a:t>
            </a:r>
          </a:p>
        </p:txBody>
      </p:sp>
      <p:sp>
        <p:nvSpPr>
          <p:cNvPr id="7" name="Thank you to Dr. Sonali Kothari and the evalu">
            <a:extLst xmlns:a="http://schemas.openxmlformats.org/drawingml/2006/main">
              <a:ext uri="{FF2B5EF4-FFF2-40B4-BE49-F238E27FC236}">
                <a16:creationId xmlns:a16="http://schemas.microsoft.com/office/drawing/2014/main" id="{272A0A7E-09B2-4517-BB42-1BF2F4B1AFDF}"/>
              </a:ext>
            </a:extLst>
          </p:cNvPr>
          <p:cNvSpPr>
            <a:spLocks xmlns:a="http://schemas.openxmlformats.org/drawingml/2006/main" noGrp="1"/>
          </p:cNvSpPr>
          <p:nvPr/>
        </p:nvSpPr>
        <p:spPr>
          <a:xfrm xmlns:a="http://schemas.openxmlformats.org/drawingml/2006/main">
            <a:off x="609600" y="59436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AFCBBC"/>
                </a:solidFill>
                <a:latin typeface="Liberation Sans"/>
                <a:ea typeface="Liberation Sans"/>
                <a:cs typeface="Liberation Sans"/>
              </a:defRPr>
            </a:defPPr>
            <a:lvl1pPr algn="l">
              <a:defRPr sz="1800" b="0">
                <a:solidFill>
                  <a:srgbClr val="AFCBBC"/>
                </a:solidFill>
                <a:latin typeface="Liberation Sans"/>
                <a:ea typeface="Liberation Sans"/>
                <a:cs typeface="Liberation Sans"/>
              </a:defRPr>
            </a:lvl1pPr>
            <a:lvl2pPr algn="l">
              <a:defRPr sz="1800" b="0">
                <a:solidFill>
                  <a:srgbClr val="AFCBBC"/>
                </a:solidFill>
                <a:latin typeface="Liberation Sans"/>
                <a:ea typeface="Liberation Sans"/>
                <a:cs typeface="Liberation Sans"/>
              </a:defRPr>
            </a:lvl2pPr>
            <a:lvl3pPr algn="l">
              <a:defRPr sz="1800" b="0">
                <a:solidFill>
                  <a:srgbClr val="AFCBBC"/>
                </a:solidFill>
                <a:latin typeface="Liberation Sans"/>
                <a:ea typeface="Liberation Sans"/>
                <a:cs typeface="Liberation Sans"/>
              </a:defRPr>
            </a:lvl3pPr>
            <a:lvl4pPr algn="l">
              <a:defRPr sz="1800" b="0">
                <a:solidFill>
                  <a:srgbClr val="AFCBBC"/>
                </a:solidFill>
                <a:latin typeface="Liberation Sans"/>
                <a:ea typeface="Liberation Sans"/>
                <a:cs typeface="Liberation Sans"/>
              </a:defRPr>
            </a:lvl4pPr>
            <a:lvl5pPr algn="l">
              <a:defRPr sz="1800" b="0">
                <a:solidFill>
                  <a:srgbClr val="AFCBBC"/>
                </a:solidFill>
                <a:latin typeface="Liberation Sans"/>
                <a:ea typeface="Liberation Sans"/>
                <a:cs typeface="Liberation Sans"/>
              </a:defRPr>
            </a:lvl5pPr>
            <a:lvl6pPr algn="l">
              <a:defRPr sz="1800" b="0">
                <a:solidFill>
                  <a:srgbClr val="AFCBBC"/>
                </a:solidFill>
                <a:latin typeface="Liberation Sans"/>
                <a:ea typeface="Liberation Sans"/>
                <a:cs typeface="Liberation Sans"/>
              </a:defRPr>
            </a:lvl6pPr>
            <a:lvl7pPr algn="l">
              <a:defRPr sz="1800" b="0">
                <a:solidFill>
                  <a:srgbClr val="AFCBBC"/>
                </a:solidFill>
                <a:latin typeface="Liberation Sans"/>
                <a:ea typeface="Liberation Sans"/>
                <a:cs typeface="Liberation Sans"/>
              </a:defRPr>
            </a:lvl7pPr>
            <a:lvl8pPr algn="l">
              <a:defRPr sz="1800" b="0">
                <a:solidFill>
                  <a:srgbClr val="AFCBBC"/>
                </a:solidFill>
                <a:latin typeface="Liberation Sans"/>
                <a:ea typeface="Liberation Sans"/>
                <a:cs typeface="Liberation Sans"/>
              </a:defRPr>
            </a:lvl8pPr>
            <a:lvl9pPr algn="l">
              <a:defRPr sz="1800" b="0">
                <a:solidFill>
                  <a:srgbClr val="AFCBBC"/>
                </a:solidFill>
                <a:latin typeface="Liberation Sans"/>
                <a:ea typeface="Liberation Sans"/>
                <a:cs typeface="Liberation Sans"/>
              </a:defRPr>
            </a:lvl9pPr>
          </a:lstStyle>
          <a:p xmlns:a="http://schemas.openxmlformats.org/drawingml/2006/main">
            <a:pPr algn="l">
              <a:defRPr sz="1800" b="0">
                <a:solidFill>
                  <a:srgbClr val="AFCBBC"/>
                </a:solidFill>
                <a:latin typeface="Liberation Sans"/>
                <a:ea typeface="Liberation Sans"/>
                <a:cs typeface="Liberation Sans"/>
              </a:defRPr>
            </a:pPr>
            <a:r>
              <a:rPr sz="1800" b="0">
                <a:solidFill>
                  <a:srgbClr val="AFCBBC"/>
                </a:solidFill>
                <a:latin typeface="Liberation Sans"/>
                <a:ea typeface="Liberation Sans"/>
                <a:cs typeface="Liberation Sans"/>
              </a:rPr>
              <a:t>Thank you to Dr. Sonali Kothari and the evaluation panel</a:t>
            </a:r>
          </a:p>
        </p:txBody>
      </p:sp>
    </p:spTree>
    <p:extLst>
      <p:ext uri="{BB962C8B-B14F-4D97-AF65-F5344CB8AC3E}">
        <p14:creationId xmlns:p14="http://schemas.microsoft.com/office/powerpoint/2010/main" val="1789007103"/>
      </p:ext>
    </p:extLst>
  </p:cSld>
</p:sld>
</file>

<file path=ppt/slides/slide1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EA703FAE-248C-47A0-AD6B-ACC66AC09434}"/>
              </a:ext>
            </a:extLst>
          </p:cNvPr>
          <p:cNvSpPr>
            <a:spLocks xmlns:a="http://schemas.openxmlformats.org/drawingml/2006/main" noGrp="1"/>
          </p:cNvSpPr>
          <p:nvPr/>
        </p:nvSpPr>
        <p:spPr>
          <a:xfrm xmlns:a="http://schemas.openxmlformats.org/drawingml/2006/main">
            <a:off x="609600" y="4572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300" b="1">
                <a:solidFill>
                  <a:srgbClr val="173D33"/>
                </a:solidFill>
                <a:latin typeface="Liberation Sans"/>
                <a:ea typeface="Liberation Sans"/>
                <a:cs typeface="Liberation Sans"/>
              </a:defRPr>
            </a:defPPr>
            <a:lvl1pPr algn="l">
              <a:defRPr sz="3300" b="1">
                <a:solidFill>
                  <a:srgbClr val="173D33"/>
                </a:solidFill>
                <a:latin typeface="Liberation Sans"/>
                <a:ea typeface="Liberation Sans"/>
                <a:cs typeface="Liberation Sans"/>
              </a:defRPr>
            </a:lvl1pPr>
            <a:lvl2pPr algn="l">
              <a:defRPr sz="3300" b="1">
                <a:solidFill>
                  <a:srgbClr val="173D33"/>
                </a:solidFill>
                <a:latin typeface="Liberation Sans"/>
                <a:ea typeface="Liberation Sans"/>
                <a:cs typeface="Liberation Sans"/>
              </a:defRPr>
            </a:lvl2pPr>
            <a:lvl3pPr algn="l">
              <a:defRPr sz="3300" b="1">
                <a:solidFill>
                  <a:srgbClr val="173D33"/>
                </a:solidFill>
                <a:latin typeface="Liberation Sans"/>
                <a:ea typeface="Liberation Sans"/>
                <a:cs typeface="Liberation Sans"/>
              </a:defRPr>
            </a:lvl3pPr>
            <a:lvl4pPr algn="l">
              <a:defRPr sz="3300" b="1">
                <a:solidFill>
                  <a:srgbClr val="173D33"/>
                </a:solidFill>
                <a:latin typeface="Liberation Sans"/>
                <a:ea typeface="Liberation Sans"/>
                <a:cs typeface="Liberation Sans"/>
              </a:defRPr>
            </a:lvl4pPr>
            <a:lvl5pPr algn="l">
              <a:defRPr sz="3300" b="1">
                <a:solidFill>
                  <a:srgbClr val="173D33"/>
                </a:solidFill>
                <a:latin typeface="Liberation Sans"/>
                <a:ea typeface="Liberation Sans"/>
                <a:cs typeface="Liberation Sans"/>
              </a:defRPr>
            </a:lvl5pPr>
            <a:lvl6pPr algn="l">
              <a:defRPr sz="3300" b="1">
                <a:solidFill>
                  <a:srgbClr val="173D33"/>
                </a:solidFill>
                <a:latin typeface="Liberation Sans"/>
                <a:ea typeface="Liberation Sans"/>
                <a:cs typeface="Liberation Sans"/>
              </a:defRPr>
            </a:lvl6pPr>
            <a:lvl7pPr algn="l">
              <a:defRPr sz="3300" b="1">
                <a:solidFill>
                  <a:srgbClr val="173D33"/>
                </a:solidFill>
                <a:latin typeface="Liberation Sans"/>
                <a:ea typeface="Liberation Sans"/>
                <a:cs typeface="Liberation Sans"/>
              </a:defRPr>
            </a:lvl7pPr>
            <a:lvl8pPr algn="l">
              <a:defRPr sz="3300" b="1">
                <a:solidFill>
                  <a:srgbClr val="173D33"/>
                </a:solidFill>
                <a:latin typeface="Liberation Sans"/>
                <a:ea typeface="Liberation Sans"/>
                <a:cs typeface="Liberation Sans"/>
              </a:defRPr>
            </a:lvl8pPr>
            <a:lvl9pPr algn="l">
              <a:defRPr sz="3300" b="1">
                <a:solidFill>
                  <a:srgbClr val="173D33"/>
                </a:solidFill>
                <a:latin typeface="Liberation Sans"/>
                <a:ea typeface="Liberation Sans"/>
                <a:cs typeface="Liberation Sans"/>
              </a:defRPr>
            </a:lvl9pPr>
          </a:lstStyle>
          <a:p xmlns:a="http://schemas.openxmlformats.org/drawingml/2006/main">
            <a:pPr algn="l">
              <a:defRPr sz="3300" b="1">
                <a:solidFill>
                  <a:srgbClr val="173D33"/>
                </a:solidFill>
                <a:latin typeface="Liberation Sans"/>
                <a:ea typeface="Liberation Sans"/>
                <a:cs typeface="Liberation Sans"/>
              </a:defRPr>
            </a:pPr>
            <a:r>
              <a:rPr sz="3300" b="1">
                <a:solidFill>
                  <a:srgbClr val="173D33"/>
                </a:solidFill>
                <a:latin typeface="Liberation Sans"/>
                <a:ea typeface="Liberation Sans"/>
                <a:cs typeface="Liberation Sans"/>
              </a:rPr>
              <a:t>Selected references</a:t>
            </a:r>
          </a:p>
        </p:txBody>
      </p:sp>
      <p:sp>
        <p:nvSpPr>
          <p:cNvPr id="3" name="13">
            <a:extLst xmlns:a="http://schemas.openxmlformats.org/drawingml/2006/main">
              <a:ext uri="{FF2B5EF4-FFF2-40B4-BE49-F238E27FC236}">
                <a16:creationId xmlns:a16="http://schemas.microsoft.com/office/drawing/2014/main" id="{C36CF3C2-E544-4DA5-B78A-05E23CD20506}"/>
              </a:ext>
            </a:extLst>
          </p:cNvPr>
          <p:cNvSpPr>
            <a:spLocks xmlns:a="http://schemas.openxmlformats.org/drawingml/2006/main" noGrp="1"/>
          </p:cNvSpPr>
          <p:nvPr/>
        </p:nvSpPr>
        <p:spPr>
          <a:xfrm xmlns:a="http://schemas.openxmlformats.org/drawingml/2006/main">
            <a:off x="1106805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350" b="0">
                <a:solidFill>
                  <a:srgbClr val="708177"/>
                </a:solidFill>
                <a:latin typeface="Liberation Sans"/>
                <a:ea typeface="Liberation Sans"/>
                <a:cs typeface="Liberation Sans"/>
              </a:defRPr>
            </a:defPPr>
            <a:lvl1pPr algn="r">
              <a:defRPr sz="1350" b="0">
                <a:solidFill>
                  <a:srgbClr val="708177"/>
                </a:solidFill>
                <a:latin typeface="Liberation Sans"/>
                <a:ea typeface="Liberation Sans"/>
                <a:cs typeface="Liberation Sans"/>
              </a:defRPr>
            </a:lvl1pPr>
            <a:lvl2pPr algn="r">
              <a:defRPr sz="1350" b="0">
                <a:solidFill>
                  <a:srgbClr val="708177"/>
                </a:solidFill>
                <a:latin typeface="Liberation Sans"/>
                <a:ea typeface="Liberation Sans"/>
                <a:cs typeface="Liberation Sans"/>
              </a:defRPr>
            </a:lvl2pPr>
            <a:lvl3pPr algn="r">
              <a:defRPr sz="1350" b="0">
                <a:solidFill>
                  <a:srgbClr val="708177"/>
                </a:solidFill>
                <a:latin typeface="Liberation Sans"/>
                <a:ea typeface="Liberation Sans"/>
                <a:cs typeface="Liberation Sans"/>
              </a:defRPr>
            </a:lvl3pPr>
            <a:lvl4pPr algn="r">
              <a:defRPr sz="1350" b="0">
                <a:solidFill>
                  <a:srgbClr val="708177"/>
                </a:solidFill>
                <a:latin typeface="Liberation Sans"/>
                <a:ea typeface="Liberation Sans"/>
                <a:cs typeface="Liberation Sans"/>
              </a:defRPr>
            </a:lvl4pPr>
            <a:lvl5pPr algn="r">
              <a:defRPr sz="1350" b="0">
                <a:solidFill>
                  <a:srgbClr val="708177"/>
                </a:solidFill>
                <a:latin typeface="Liberation Sans"/>
                <a:ea typeface="Liberation Sans"/>
                <a:cs typeface="Liberation Sans"/>
              </a:defRPr>
            </a:lvl5pPr>
            <a:lvl6pPr algn="r">
              <a:defRPr sz="1350" b="0">
                <a:solidFill>
                  <a:srgbClr val="708177"/>
                </a:solidFill>
                <a:latin typeface="Liberation Sans"/>
                <a:ea typeface="Liberation Sans"/>
                <a:cs typeface="Liberation Sans"/>
              </a:defRPr>
            </a:lvl6pPr>
            <a:lvl7pPr algn="r">
              <a:defRPr sz="1350" b="0">
                <a:solidFill>
                  <a:srgbClr val="708177"/>
                </a:solidFill>
                <a:latin typeface="Liberation Sans"/>
                <a:ea typeface="Liberation Sans"/>
                <a:cs typeface="Liberation Sans"/>
              </a:defRPr>
            </a:lvl7pPr>
            <a:lvl8pPr algn="r">
              <a:defRPr sz="1350" b="0">
                <a:solidFill>
                  <a:srgbClr val="708177"/>
                </a:solidFill>
                <a:latin typeface="Liberation Sans"/>
                <a:ea typeface="Liberation Sans"/>
                <a:cs typeface="Liberation Sans"/>
              </a:defRPr>
            </a:lvl8pPr>
            <a:lvl9pPr algn="r">
              <a:defRPr sz="1350" b="0">
                <a:solidFill>
                  <a:srgbClr val="708177"/>
                </a:solidFill>
                <a:latin typeface="Liberation Sans"/>
                <a:ea typeface="Liberation Sans"/>
                <a:cs typeface="Liberation Sans"/>
              </a:defRPr>
            </a:lvl9pPr>
          </a:lstStyle>
          <a:p xmlns:a="http://schemas.openxmlformats.org/drawingml/2006/main">
            <a:pPr algn="r">
              <a:defRPr sz="1350" b="0">
                <a:solidFill>
                  <a:srgbClr val="708177"/>
                </a:solidFill>
                <a:latin typeface="Liberation Sans"/>
                <a:ea typeface="Liberation Sans"/>
                <a:cs typeface="Liberation Sans"/>
              </a:defRPr>
            </a:pPr>
            <a:r>
              <a:rPr sz="1350" b="0">
                <a:solidFill>
                  <a:srgbClr val="708177"/>
                </a:solidFill>
                <a:latin typeface="Liberation Sans"/>
                <a:ea typeface="Liberation Sans"/>
                <a:cs typeface="Liberation Sans"/>
              </a:rPr>
              <a:t>13</a:t>
            </a:r>
          </a:p>
        </p:txBody>
      </p:sp>
      <p:sp>
        <p:nvSpPr>
          <p:cNvPr id="4" name="[1] P. Lewis et al. “Retrieval-Augmented Gene">
            <a:extLst xmlns:a="http://schemas.openxmlformats.org/drawingml/2006/main">
              <a:ext uri="{FF2B5EF4-FFF2-40B4-BE49-F238E27FC236}">
                <a16:creationId xmlns:a16="http://schemas.microsoft.com/office/drawing/2014/main" id="{0988066B-419A-4375-A1B8-BA047A9416D8}"/>
              </a:ext>
            </a:extLst>
          </p:cNvPr>
          <p:cNvSpPr>
            <a:spLocks xmlns:a="http://schemas.openxmlformats.org/drawingml/2006/main" noGrp="1"/>
          </p:cNvSpPr>
          <p:nvPr/>
        </p:nvSpPr>
        <p:spPr>
          <a:xfrm xmlns:a="http://schemas.openxmlformats.org/drawingml/2006/main">
            <a:off x="609600" y="13906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253B34"/>
                </a:solidFill>
                <a:latin typeface="Liberation Sans"/>
                <a:ea typeface="Liberation Sans"/>
                <a:cs typeface="Liberation Sans"/>
              </a:defRPr>
            </a:defPPr>
            <a:lvl1pPr algn="l">
              <a:defRPr sz="1725" b="0">
                <a:solidFill>
                  <a:srgbClr val="253B34"/>
                </a:solidFill>
                <a:latin typeface="Liberation Sans"/>
                <a:ea typeface="Liberation Sans"/>
                <a:cs typeface="Liberation Sans"/>
              </a:defRPr>
            </a:lvl1pPr>
            <a:lvl2pPr algn="l">
              <a:defRPr sz="1725" b="0">
                <a:solidFill>
                  <a:srgbClr val="253B34"/>
                </a:solidFill>
                <a:latin typeface="Liberation Sans"/>
                <a:ea typeface="Liberation Sans"/>
                <a:cs typeface="Liberation Sans"/>
              </a:defRPr>
            </a:lvl2pPr>
            <a:lvl3pPr algn="l">
              <a:defRPr sz="1725" b="0">
                <a:solidFill>
                  <a:srgbClr val="253B34"/>
                </a:solidFill>
                <a:latin typeface="Liberation Sans"/>
                <a:ea typeface="Liberation Sans"/>
                <a:cs typeface="Liberation Sans"/>
              </a:defRPr>
            </a:lvl3pPr>
            <a:lvl4pPr algn="l">
              <a:defRPr sz="1725" b="0">
                <a:solidFill>
                  <a:srgbClr val="253B34"/>
                </a:solidFill>
                <a:latin typeface="Liberation Sans"/>
                <a:ea typeface="Liberation Sans"/>
                <a:cs typeface="Liberation Sans"/>
              </a:defRPr>
            </a:lvl4pPr>
            <a:lvl5pPr algn="l">
              <a:defRPr sz="1725" b="0">
                <a:solidFill>
                  <a:srgbClr val="253B34"/>
                </a:solidFill>
                <a:latin typeface="Liberation Sans"/>
                <a:ea typeface="Liberation Sans"/>
                <a:cs typeface="Liberation Sans"/>
              </a:defRPr>
            </a:lvl5pPr>
            <a:lvl6pPr algn="l">
              <a:defRPr sz="1725" b="0">
                <a:solidFill>
                  <a:srgbClr val="253B34"/>
                </a:solidFill>
                <a:latin typeface="Liberation Sans"/>
                <a:ea typeface="Liberation Sans"/>
                <a:cs typeface="Liberation Sans"/>
              </a:defRPr>
            </a:lvl6pPr>
            <a:lvl7pPr algn="l">
              <a:defRPr sz="1725" b="0">
                <a:solidFill>
                  <a:srgbClr val="253B34"/>
                </a:solidFill>
                <a:latin typeface="Liberation Sans"/>
                <a:ea typeface="Liberation Sans"/>
                <a:cs typeface="Liberation Sans"/>
              </a:defRPr>
            </a:lvl7pPr>
            <a:lvl8pPr algn="l">
              <a:defRPr sz="1725" b="0">
                <a:solidFill>
                  <a:srgbClr val="253B34"/>
                </a:solidFill>
                <a:latin typeface="Liberation Sans"/>
                <a:ea typeface="Liberation Sans"/>
                <a:cs typeface="Liberation Sans"/>
              </a:defRPr>
            </a:lvl8pPr>
            <a:lvl9pPr algn="l">
              <a:defRPr sz="1725" b="0">
                <a:solidFill>
                  <a:srgbClr val="253B34"/>
                </a:solidFill>
                <a:latin typeface="Liberation Sans"/>
                <a:ea typeface="Liberation Sans"/>
                <a:cs typeface="Liberation Sans"/>
              </a:defRPr>
            </a:lvl9pPr>
          </a:lstStyle>
          <a:p xmlns:a="http://schemas.openxmlformats.org/drawingml/2006/main">
            <a:pPr algn="l">
              <a:defRPr sz="1725" b="0">
                <a:solidFill>
                  <a:srgbClr val="253B34"/>
                </a:solidFill>
                <a:latin typeface="Liberation Sans"/>
                <a:ea typeface="Liberation Sans"/>
                <a:cs typeface="Liberation Sans"/>
              </a:defRPr>
            </a:pPr>
            <a:r>
              <a:rPr sz="1725" b="0">
                <a:solidFill>
                  <a:srgbClr val="253B34"/>
                </a:solidFill>
                <a:latin typeface="Liberation Sans"/>
                <a:ea typeface="Liberation Sans"/>
                <a:cs typeface="Liberation Sans"/>
              </a:rPr>
              <a:t>[1] P. Lewis et al. “Retrieval-Augmented Generation for Knowledge-Intensive NLP Tasks.” NeurIPS, 2020. arXiv:2005.11401.</a:t>
            </a:r>
          </a:p>
        </p:txBody>
      </p:sp>
      <p:sp>
        <p:nvSpPr>
          <p:cNvPr id="5" name="[2] G. V. Cormack et al. “Reciprocal Rank Fus">
            <a:extLst xmlns:a="http://schemas.openxmlformats.org/drawingml/2006/main">
              <a:ext uri="{FF2B5EF4-FFF2-40B4-BE49-F238E27FC236}">
                <a16:creationId xmlns:a16="http://schemas.microsoft.com/office/drawing/2014/main" id="{6446076B-5365-4E63-A8E7-4AA89B43A656}"/>
              </a:ext>
            </a:extLst>
          </p:cNvPr>
          <p:cNvSpPr>
            <a:spLocks xmlns:a="http://schemas.openxmlformats.org/drawingml/2006/main" noGrp="1"/>
          </p:cNvSpPr>
          <p:nvPr/>
        </p:nvSpPr>
        <p:spPr>
          <a:xfrm xmlns:a="http://schemas.openxmlformats.org/drawingml/2006/main">
            <a:off x="609600" y="21621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253B34"/>
                </a:solidFill>
                <a:latin typeface="Liberation Sans"/>
                <a:ea typeface="Liberation Sans"/>
                <a:cs typeface="Liberation Sans"/>
              </a:defRPr>
            </a:defPPr>
            <a:lvl1pPr algn="l">
              <a:defRPr sz="1725" b="0">
                <a:solidFill>
                  <a:srgbClr val="253B34"/>
                </a:solidFill>
                <a:latin typeface="Liberation Sans"/>
                <a:ea typeface="Liberation Sans"/>
                <a:cs typeface="Liberation Sans"/>
              </a:defRPr>
            </a:lvl1pPr>
            <a:lvl2pPr algn="l">
              <a:defRPr sz="1725" b="0">
                <a:solidFill>
                  <a:srgbClr val="253B34"/>
                </a:solidFill>
                <a:latin typeface="Liberation Sans"/>
                <a:ea typeface="Liberation Sans"/>
                <a:cs typeface="Liberation Sans"/>
              </a:defRPr>
            </a:lvl2pPr>
            <a:lvl3pPr algn="l">
              <a:defRPr sz="1725" b="0">
                <a:solidFill>
                  <a:srgbClr val="253B34"/>
                </a:solidFill>
                <a:latin typeface="Liberation Sans"/>
                <a:ea typeface="Liberation Sans"/>
                <a:cs typeface="Liberation Sans"/>
              </a:defRPr>
            </a:lvl3pPr>
            <a:lvl4pPr algn="l">
              <a:defRPr sz="1725" b="0">
                <a:solidFill>
                  <a:srgbClr val="253B34"/>
                </a:solidFill>
                <a:latin typeface="Liberation Sans"/>
                <a:ea typeface="Liberation Sans"/>
                <a:cs typeface="Liberation Sans"/>
              </a:defRPr>
            </a:lvl4pPr>
            <a:lvl5pPr algn="l">
              <a:defRPr sz="1725" b="0">
                <a:solidFill>
                  <a:srgbClr val="253B34"/>
                </a:solidFill>
                <a:latin typeface="Liberation Sans"/>
                <a:ea typeface="Liberation Sans"/>
                <a:cs typeface="Liberation Sans"/>
              </a:defRPr>
            </a:lvl5pPr>
            <a:lvl6pPr algn="l">
              <a:defRPr sz="1725" b="0">
                <a:solidFill>
                  <a:srgbClr val="253B34"/>
                </a:solidFill>
                <a:latin typeface="Liberation Sans"/>
                <a:ea typeface="Liberation Sans"/>
                <a:cs typeface="Liberation Sans"/>
              </a:defRPr>
            </a:lvl6pPr>
            <a:lvl7pPr algn="l">
              <a:defRPr sz="1725" b="0">
                <a:solidFill>
                  <a:srgbClr val="253B34"/>
                </a:solidFill>
                <a:latin typeface="Liberation Sans"/>
                <a:ea typeface="Liberation Sans"/>
                <a:cs typeface="Liberation Sans"/>
              </a:defRPr>
            </a:lvl7pPr>
            <a:lvl8pPr algn="l">
              <a:defRPr sz="1725" b="0">
                <a:solidFill>
                  <a:srgbClr val="253B34"/>
                </a:solidFill>
                <a:latin typeface="Liberation Sans"/>
                <a:ea typeface="Liberation Sans"/>
                <a:cs typeface="Liberation Sans"/>
              </a:defRPr>
            </a:lvl8pPr>
            <a:lvl9pPr algn="l">
              <a:defRPr sz="1725" b="0">
                <a:solidFill>
                  <a:srgbClr val="253B34"/>
                </a:solidFill>
                <a:latin typeface="Liberation Sans"/>
                <a:ea typeface="Liberation Sans"/>
                <a:cs typeface="Liberation Sans"/>
              </a:defRPr>
            </a:lvl9pPr>
          </a:lstStyle>
          <a:p xmlns:a="http://schemas.openxmlformats.org/drawingml/2006/main">
            <a:pPr algn="l">
              <a:defRPr sz="1725" b="0">
                <a:solidFill>
                  <a:srgbClr val="253B34"/>
                </a:solidFill>
                <a:latin typeface="Liberation Sans"/>
                <a:ea typeface="Liberation Sans"/>
                <a:cs typeface="Liberation Sans"/>
              </a:defRPr>
            </a:pPr>
            <a:r>
              <a:rPr sz="1725" b="0">
                <a:solidFill>
                  <a:srgbClr val="253B34"/>
                </a:solidFill>
                <a:latin typeface="Liberation Sans"/>
                <a:ea typeface="Liberation Sans"/>
                <a:cs typeface="Liberation Sans"/>
              </a:rPr>
              <a:t>[2] G. V. Cormack et al. “Reciprocal Rank Fusion Outperforms Condorcet and Individual Rank Learning Methods.” SIGIR, 2009. DOI: 10.1145/1571941.1572114.</a:t>
            </a:r>
          </a:p>
        </p:txBody>
      </p:sp>
      <p:sp>
        <p:nvSpPr>
          <p:cNvPr id="6" name="[3] S. Yao et al. “ReAct: Synergizing Reasoni">
            <a:extLst xmlns:a="http://schemas.openxmlformats.org/drawingml/2006/main">
              <a:ext uri="{FF2B5EF4-FFF2-40B4-BE49-F238E27FC236}">
                <a16:creationId xmlns:a16="http://schemas.microsoft.com/office/drawing/2014/main" id="{4216E06A-09BA-40FC-A4DB-57C629F278A6}"/>
              </a:ext>
            </a:extLst>
          </p:cNvPr>
          <p:cNvSpPr>
            <a:spLocks xmlns:a="http://schemas.openxmlformats.org/drawingml/2006/main" noGrp="1"/>
          </p:cNvSpPr>
          <p:nvPr/>
        </p:nvSpPr>
        <p:spPr>
          <a:xfrm xmlns:a="http://schemas.openxmlformats.org/drawingml/2006/main">
            <a:off x="609600" y="293370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253B34"/>
                </a:solidFill>
                <a:latin typeface="Liberation Sans"/>
                <a:ea typeface="Liberation Sans"/>
                <a:cs typeface="Liberation Sans"/>
              </a:defRPr>
            </a:defPPr>
            <a:lvl1pPr algn="l">
              <a:defRPr sz="1725" b="0">
                <a:solidFill>
                  <a:srgbClr val="253B34"/>
                </a:solidFill>
                <a:latin typeface="Liberation Sans"/>
                <a:ea typeface="Liberation Sans"/>
                <a:cs typeface="Liberation Sans"/>
              </a:defRPr>
            </a:lvl1pPr>
            <a:lvl2pPr algn="l">
              <a:defRPr sz="1725" b="0">
                <a:solidFill>
                  <a:srgbClr val="253B34"/>
                </a:solidFill>
                <a:latin typeface="Liberation Sans"/>
                <a:ea typeface="Liberation Sans"/>
                <a:cs typeface="Liberation Sans"/>
              </a:defRPr>
            </a:lvl2pPr>
            <a:lvl3pPr algn="l">
              <a:defRPr sz="1725" b="0">
                <a:solidFill>
                  <a:srgbClr val="253B34"/>
                </a:solidFill>
                <a:latin typeface="Liberation Sans"/>
                <a:ea typeface="Liberation Sans"/>
                <a:cs typeface="Liberation Sans"/>
              </a:defRPr>
            </a:lvl3pPr>
            <a:lvl4pPr algn="l">
              <a:defRPr sz="1725" b="0">
                <a:solidFill>
                  <a:srgbClr val="253B34"/>
                </a:solidFill>
                <a:latin typeface="Liberation Sans"/>
                <a:ea typeface="Liberation Sans"/>
                <a:cs typeface="Liberation Sans"/>
              </a:defRPr>
            </a:lvl4pPr>
            <a:lvl5pPr algn="l">
              <a:defRPr sz="1725" b="0">
                <a:solidFill>
                  <a:srgbClr val="253B34"/>
                </a:solidFill>
                <a:latin typeface="Liberation Sans"/>
                <a:ea typeface="Liberation Sans"/>
                <a:cs typeface="Liberation Sans"/>
              </a:defRPr>
            </a:lvl5pPr>
            <a:lvl6pPr algn="l">
              <a:defRPr sz="1725" b="0">
                <a:solidFill>
                  <a:srgbClr val="253B34"/>
                </a:solidFill>
                <a:latin typeface="Liberation Sans"/>
                <a:ea typeface="Liberation Sans"/>
                <a:cs typeface="Liberation Sans"/>
              </a:defRPr>
            </a:lvl6pPr>
            <a:lvl7pPr algn="l">
              <a:defRPr sz="1725" b="0">
                <a:solidFill>
                  <a:srgbClr val="253B34"/>
                </a:solidFill>
                <a:latin typeface="Liberation Sans"/>
                <a:ea typeface="Liberation Sans"/>
                <a:cs typeface="Liberation Sans"/>
              </a:defRPr>
            </a:lvl7pPr>
            <a:lvl8pPr algn="l">
              <a:defRPr sz="1725" b="0">
                <a:solidFill>
                  <a:srgbClr val="253B34"/>
                </a:solidFill>
                <a:latin typeface="Liberation Sans"/>
                <a:ea typeface="Liberation Sans"/>
                <a:cs typeface="Liberation Sans"/>
              </a:defRPr>
            </a:lvl8pPr>
            <a:lvl9pPr algn="l">
              <a:defRPr sz="1725" b="0">
                <a:solidFill>
                  <a:srgbClr val="253B34"/>
                </a:solidFill>
                <a:latin typeface="Liberation Sans"/>
                <a:ea typeface="Liberation Sans"/>
                <a:cs typeface="Liberation Sans"/>
              </a:defRPr>
            </a:lvl9pPr>
          </a:lstStyle>
          <a:p xmlns:a="http://schemas.openxmlformats.org/drawingml/2006/main">
            <a:pPr algn="l">
              <a:defRPr sz="1725" b="0">
                <a:solidFill>
                  <a:srgbClr val="253B34"/>
                </a:solidFill>
                <a:latin typeface="Liberation Sans"/>
                <a:ea typeface="Liberation Sans"/>
                <a:cs typeface="Liberation Sans"/>
              </a:defRPr>
            </a:pPr>
            <a:r>
              <a:rPr sz="1725" b="0">
                <a:solidFill>
                  <a:srgbClr val="253B34"/>
                </a:solidFill>
                <a:latin typeface="Liberation Sans"/>
                <a:ea typeface="Liberation Sans"/>
                <a:cs typeface="Liberation Sans"/>
              </a:rPr>
              <a:t>[3] S. Yao et al. “ReAct: Synergizing Reasoning and Acting in Language Models.” ICLR, 2023. arXiv:2210.03629.</a:t>
            </a:r>
          </a:p>
        </p:txBody>
      </p:sp>
      <p:sp>
        <p:nvSpPr>
          <p:cNvPr id="7" name="[4] C. Packer et al. “MemGPT: Towards LLMs as">
            <a:extLst xmlns:a="http://schemas.openxmlformats.org/drawingml/2006/main">
              <a:ext uri="{FF2B5EF4-FFF2-40B4-BE49-F238E27FC236}">
                <a16:creationId xmlns:a16="http://schemas.microsoft.com/office/drawing/2014/main" id="{CE90610A-DCE5-4219-A084-DCC5298A205F}"/>
              </a:ext>
            </a:extLst>
          </p:cNvPr>
          <p:cNvSpPr>
            <a:spLocks xmlns:a="http://schemas.openxmlformats.org/drawingml/2006/main" noGrp="1"/>
          </p:cNvSpPr>
          <p:nvPr/>
        </p:nvSpPr>
        <p:spPr>
          <a:xfrm xmlns:a="http://schemas.openxmlformats.org/drawingml/2006/main">
            <a:off x="609600" y="370522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253B34"/>
                </a:solidFill>
                <a:latin typeface="Liberation Sans"/>
                <a:ea typeface="Liberation Sans"/>
                <a:cs typeface="Liberation Sans"/>
              </a:defRPr>
            </a:defPPr>
            <a:lvl1pPr algn="l">
              <a:defRPr sz="1725" b="0">
                <a:solidFill>
                  <a:srgbClr val="253B34"/>
                </a:solidFill>
                <a:latin typeface="Liberation Sans"/>
                <a:ea typeface="Liberation Sans"/>
                <a:cs typeface="Liberation Sans"/>
              </a:defRPr>
            </a:lvl1pPr>
            <a:lvl2pPr algn="l">
              <a:defRPr sz="1725" b="0">
                <a:solidFill>
                  <a:srgbClr val="253B34"/>
                </a:solidFill>
                <a:latin typeface="Liberation Sans"/>
                <a:ea typeface="Liberation Sans"/>
                <a:cs typeface="Liberation Sans"/>
              </a:defRPr>
            </a:lvl2pPr>
            <a:lvl3pPr algn="l">
              <a:defRPr sz="1725" b="0">
                <a:solidFill>
                  <a:srgbClr val="253B34"/>
                </a:solidFill>
                <a:latin typeface="Liberation Sans"/>
                <a:ea typeface="Liberation Sans"/>
                <a:cs typeface="Liberation Sans"/>
              </a:defRPr>
            </a:lvl3pPr>
            <a:lvl4pPr algn="l">
              <a:defRPr sz="1725" b="0">
                <a:solidFill>
                  <a:srgbClr val="253B34"/>
                </a:solidFill>
                <a:latin typeface="Liberation Sans"/>
                <a:ea typeface="Liberation Sans"/>
                <a:cs typeface="Liberation Sans"/>
              </a:defRPr>
            </a:lvl4pPr>
            <a:lvl5pPr algn="l">
              <a:defRPr sz="1725" b="0">
                <a:solidFill>
                  <a:srgbClr val="253B34"/>
                </a:solidFill>
                <a:latin typeface="Liberation Sans"/>
                <a:ea typeface="Liberation Sans"/>
                <a:cs typeface="Liberation Sans"/>
              </a:defRPr>
            </a:lvl5pPr>
            <a:lvl6pPr algn="l">
              <a:defRPr sz="1725" b="0">
                <a:solidFill>
                  <a:srgbClr val="253B34"/>
                </a:solidFill>
                <a:latin typeface="Liberation Sans"/>
                <a:ea typeface="Liberation Sans"/>
                <a:cs typeface="Liberation Sans"/>
              </a:defRPr>
            </a:lvl6pPr>
            <a:lvl7pPr algn="l">
              <a:defRPr sz="1725" b="0">
                <a:solidFill>
                  <a:srgbClr val="253B34"/>
                </a:solidFill>
                <a:latin typeface="Liberation Sans"/>
                <a:ea typeface="Liberation Sans"/>
                <a:cs typeface="Liberation Sans"/>
              </a:defRPr>
            </a:lvl7pPr>
            <a:lvl8pPr algn="l">
              <a:defRPr sz="1725" b="0">
                <a:solidFill>
                  <a:srgbClr val="253B34"/>
                </a:solidFill>
                <a:latin typeface="Liberation Sans"/>
                <a:ea typeface="Liberation Sans"/>
                <a:cs typeface="Liberation Sans"/>
              </a:defRPr>
            </a:lvl8pPr>
            <a:lvl9pPr algn="l">
              <a:defRPr sz="1725" b="0">
                <a:solidFill>
                  <a:srgbClr val="253B34"/>
                </a:solidFill>
                <a:latin typeface="Liberation Sans"/>
                <a:ea typeface="Liberation Sans"/>
                <a:cs typeface="Liberation Sans"/>
              </a:defRPr>
            </a:lvl9pPr>
          </a:lstStyle>
          <a:p xmlns:a="http://schemas.openxmlformats.org/drawingml/2006/main">
            <a:pPr algn="l">
              <a:defRPr sz="1725" b="0">
                <a:solidFill>
                  <a:srgbClr val="253B34"/>
                </a:solidFill>
                <a:latin typeface="Liberation Sans"/>
                <a:ea typeface="Liberation Sans"/>
                <a:cs typeface="Liberation Sans"/>
              </a:defRPr>
            </a:pPr>
            <a:r>
              <a:rPr sz="1725" b="0">
                <a:solidFill>
                  <a:srgbClr val="253B34"/>
                </a:solidFill>
                <a:latin typeface="Liberation Sans"/>
                <a:ea typeface="Liberation Sans"/>
                <a:cs typeface="Liberation Sans"/>
              </a:rPr>
              <a:t>[4] C. Packer et al. “MemGPT: Towards LLMs as Operating Systems.” arXiv:2310.08560, 2023, revised 2024.</a:t>
            </a:r>
          </a:p>
        </p:txBody>
      </p:sp>
      <p:sp>
        <p:nvSpPr>
          <p:cNvPr id="8" name="[5] Model Context Protocol contributors. Mode">
            <a:extLst xmlns:a="http://schemas.openxmlformats.org/drawingml/2006/main">
              <a:ext uri="{FF2B5EF4-FFF2-40B4-BE49-F238E27FC236}">
                <a16:creationId xmlns:a16="http://schemas.microsoft.com/office/drawing/2014/main" id="{087A324F-0FCC-4776-8B06-7DD10D04DF67}"/>
              </a:ext>
            </a:extLst>
          </p:cNvPr>
          <p:cNvSpPr>
            <a:spLocks xmlns:a="http://schemas.openxmlformats.org/drawingml/2006/main" noGrp="1"/>
          </p:cNvSpPr>
          <p:nvPr/>
        </p:nvSpPr>
        <p:spPr>
          <a:xfrm xmlns:a="http://schemas.openxmlformats.org/drawingml/2006/main">
            <a:off x="609600" y="44767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253B34"/>
                </a:solidFill>
                <a:latin typeface="Liberation Sans"/>
                <a:ea typeface="Liberation Sans"/>
                <a:cs typeface="Liberation Sans"/>
              </a:defRPr>
            </a:defPPr>
            <a:lvl1pPr algn="l">
              <a:defRPr sz="1725" b="0">
                <a:solidFill>
                  <a:srgbClr val="253B34"/>
                </a:solidFill>
                <a:latin typeface="Liberation Sans"/>
                <a:ea typeface="Liberation Sans"/>
                <a:cs typeface="Liberation Sans"/>
              </a:defRPr>
            </a:lvl1pPr>
            <a:lvl2pPr algn="l">
              <a:defRPr sz="1725" b="0">
                <a:solidFill>
                  <a:srgbClr val="253B34"/>
                </a:solidFill>
                <a:latin typeface="Liberation Sans"/>
                <a:ea typeface="Liberation Sans"/>
                <a:cs typeface="Liberation Sans"/>
              </a:defRPr>
            </a:lvl2pPr>
            <a:lvl3pPr algn="l">
              <a:defRPr sz="1725" b="0">
                <a:solidFill>
                  <a:srgbClr val="253B34"/>
                </a:solidFill>
                <a:latin typeface="Liberation Sans"/>
                <a:ea typeface="Liberation Sans"/>
                <a:cs typeface="Liberation Sans"/>
              </a:defRPr>
            </a:lvl3pPr>
            <a:lvl4pPr algn="l">
              <a:defRPr sz="1725" b="0">
                <a:solidFill>
                  <a:srgbClr val="253B34"/>
                </a:solidFill>
                <a:latin typeface="Liberation Sans"/>
                <a:ea typeface="Liberation Sans"/>
                <a:cs typeface="Liberation Sans"/>
              </a:defRPr>
            </a:lvl4pPr>
            <a:lvl5pPr algn="l">
              <a:defRPr sz="1725" b="0">
                <a:solidFill>
                  <a:srgbClr val="253B34"/>
                </a:solidFill>
                <a:latin typeface="Liberation Sans"/>
                <a:ea typeface="Liberation Sans"/>
                <a:cs typeface="Liberation Sans"/>
              </a:defRPr>
            </a:lvl5pPr>
            <a:lvl6pPr algn="l">
              <a:defRPr sz="1725" b="0">
                <a:solidFill>
                  <a:srgbClr val="253B34"/>
                </a:solidFill>
                <a:latin typeface="Liberation Sans"/>
                <a:ea typeface="Liberation Sans"/>
                <a:cs typeface="Liberation Sans"/>
              </a:defRPr>
            </a:lvl6pPr>
            <a:lvl7pPr algn="l">
              <a:defRPr sz="1725" b="0">
                <a:solidFill>
                  <a:srgbClr val="253B34"/>
                </a:solidFill>
                <a:latin typeface="Liberation Sans"/>
                <a:ea typeface="Liberation Sans"/>
                <a:cs typeface="Liberation Sans"/>
              </a:defRPr>
            </a:lvl7pPr>
            <a:lvl8pPr algn="l">
              <a:defRPr sz="1725" b="0">
                <a:solidFill>
                  <a:srgbClr val="253B34"/>
                </a:solidFill>
                <a:latin typeface="Liberation Sans"/>
                <a:ea typeface="Liberation Sans"/>
                <a:cs typeface="Liberation Sans"/>
              </a:defRPr>
            </a:lvl8pPr>
            <a:lvl9pPr algn="l">
              <a:defRPr sz="1725" b="0">
                <a:solidFill>
                  <a:srgbClr val="253B34"/>
                </a:solidFill>
                <a:latin typeface="Liberation Sans"/>
                <a:ea typeface="Liberation Sans"/>
                <a:cs typeface="Liberation Sans"/>
              </a:defRPr>
            </a:lvl9pPr>
          </a:lstStyle>
          <a:p xmlns:a="http://schemas.openxmlformats.org/drawingml/2006/main">
            <a:pPr algn="l">
              <a:defRPr sz="1725" b="0">
                <a:solidFill>
                  <a:srgbClr val="253B34"/>
                </a:solidFill>
                <a:latin typeface="Liberation Sans"/>
                <a:ea typeface="Liberation Sans"/>
                <a:cs typeface="Liberation Sans"/>
              </a:defRPr>
            </a:pPr>
            <a:r>
              <a:rPr sz="1725" b="0">
                <a:solidFill>
                  <a:srgbClr val="253B34"/>
                </a:solidFill>
                <a:latin typeface="Liberation Sans"/>
                <a:ea typeface="Liberation Sans"/>
                <a:cs typeface="Liberation Sans"/>
              </a:rPr>
              <a:t>[5] Model Context Protocol contributors. Model Context Protocol Specification, revision 2025-11-25.</a:t>
            </a:r>
          </a:p>
        </p:txBody>
      </p:sp>
      <p:sp>
        <p:nvSpPr>
          <p:cNvPr id="9" name="[6] N. F. Liu et al. “Lost in the Middle: How">
            <a:extLst xmlns:a="http://schemas.openxmlformats.org/drawingml/2006/main">
              <a:ext uri="{FF2B5EF4-FFF2-40B4-BE49-F238E27FC236}">
                <a16:creationId xmlns:a16="http://schemas.microsoft.com/office/drawing/2014/main" id="{03048452-474F-425E-A087-C8758BC02B28}"/>
              </a:ext>
            </a:extLst>
          </p:cNvPr>
          <p:cNvSpPr>
            <a:spLocks xmlns:a="http://schemas.openxmlformats.org/drawingml/2006/main" noGrp="1"/>
          </p:cNvSpPr>
          <p:nvPr/>
        </p:nvSpPr>
        <p:spPr>
          <a:xfrm xmlns:a="http://schemas.openxmlformats.org/drawingml/2006/main">
            <a:off x="609600" y="524827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253B34"/>
                </a:solidFill>
                <a:latin typeface="Liberation Sans"/>
                <a:ea typeface="Liberation Sans"/>
                <a:cs typeface="Liberation Sans"/>
              </a:defRPr>
            </a:defPPr>
            <a:lvl1pPr algn="l">
              <a:defRPr sz="1725" b="0">
                <a:solidFill>
                  <a:srgbClr val="253B34"/>
                </a:solidFill>
                <a:latin typeface="Liberation Sans"/>
                <a:ea typeface="Liberation Sans"/>
                <a:cs typeface="Liberation Sans"/>
              </a:defRPr>
            </a:lvl1pPr>
            <a:lvl2pPr algn="l">
              <a:defRPr sz="1725" b="0">
                <a:solidFill>
                  <a:srgbClr val="253B34"/>
                </a:solidFill>
                <a:latin typeface="Liberation Sans"/>
                <a:ea typeface="Liberation Sans"/>
                <a:cs typeface="Liberation Sans"/>
              </a:defRPr>
            </a:lvl2pPr>
            <a:lvl3pPr algn="l">
              <a:defRPr sz="1725" b="0">
                <a:solidFill>
                  <a:srgbClr val="253B34"/>
                </a:solidFill>
                <a:latin typeface="Liberation Sans"/>
                <a:ea typeface="Liberation Sans"/>
                <a:cs typeface="Liberation Sans"/>
              </a:defRPr>
            </a:lvl3pPr>
            <a:lvl4pPr algn="l">
              <a:defRPr sz="1725" b="0">
                <a:solidFill>
                  <a:srgbClr val="253B34"/>
                </a:solidFill>
                <a:latin typeface="Liberation Sans"/>
                <a:ea typeface="Liberation Sans"/>
                <a:cs typeface="Liberation Sans"/>
              </a:defRPr>
            </a:lvl4pPr>
            <a:lvl5pPr algn="l">
              <a:defRPr sz="1725" b="0">
                <a:solidFill>
                  <a:srgbClr val="253B34"/>
                </a:solidFill>
                <a:latin typeface="Liberation Sans"/>
                <a:ea typeface="Liberation Sans"/>
                <a:cs typeface="Liberation Sans"/>
              </a:defRPr>
            </a:lvl5pPr>
            <a:lvl6pPr algn="l">
              <a:defRPr sz="1725" b="0">
                <a:solidFill>
                  <a:srgbClr val="253B34"/>
                </a:solidFill>
                <a:latin typeface="Liberation Sans"/>
                <a:ea typeface="Liberation Sans"/>
                <a:cs typeface="Liberation Sans"/>
              </a:defRPr>
            </a:lvl6pPr>
            <a:lvl7pPr algn="l">
              <a:defRPr sz="1725" b="0">
                <a:solidFill>
                  <a:srgbClr val="253B34"/>
                </a:solidFill>
                <a:latin typeface="Liberation Sans"/>
                <a:ea typeface="Liberation Sans"/>
                <a:cs typeface="Liberation Sans"/>
              </a:defRPr>
            </a:lvl7pPr>
            <a:lvl8pPr algn="l">
              <a:defRPr sz="1725" b="0">
                <a:solidFill>
                  <a:srgbClr val="253B34"/>
                </a:solidFill>
                <a:latin typeface="Liberation Sans"/>
                <a:ea typeface="Liberation Sans"/>
                <a:cs typeface="Liberation Sans"/>
              </a:defRPr>
            </a:lvl8pPr>
            <a:lvl9pPr algn="l">
              <a:defRPr sz="1725" b="0">
                <a:solidFill>
                  <a:srgbClr val="253B34"/>
                </a:solidFill>
                <a:latin typeface="Liberation Sans"/>
                <a:ea typeface="Liberation Sans"/>
                <a:cs typeface="Liberation Sans"/>
              </a:defRPr>
            </a:lvl9pPr>
          </a:lstStyle>
          <a:p xmlns:a="http://schemas.openxmlformats.org/drawingml/2006/main">
            <a:pPr algn="l">
              <a:defRPr sz="1725" b="0">
                <a:solidFill>
                  <a:srgbClr val="253B34"/>
                </a:solidFill>
                <a:latin typeface="Liberation Sans"/>
                <a:ea typeface="Liberation Sans"/>
                <a:cs typeface="Liberation Sans"/>
              </a:defRPr>
            </a:pPr>
            <a:r>
              <a:rPr sz="1725" b="0">
                <a:solidFill>
                  <a:srgbClr val="253B34"/>
                </a:solidFill>
                <a:latin typeface="Liberation Sans"/>
                <a:ea typeface="Liberation Sans"/>
                <a:cs typeface="Liberation Sans"/>
              </a:rPr>
              <a:t>[6] N. F. Liu et al. “Lost in the Middle: How Language Models Use Long Contexts.” TACL, 2024. DOI: 10.1162/tacl_a_00638.</a:t>
            </a:r>
          </a:p>
        </p:txBody>
      </p:sp>
    </p:spTree>
    <p:extLst>
      <p:ext uri="{BB962C8B-B14F-4D97-AF65-F5344CB8AC3E}">
        <p14:creationId xmlns:p14="http://schemas.microsoft.com/office/powerpoint/2010/main" val="1538162890"/>
      </p:ext>
    </p:extLst>
  </p:cSld>
</p:sld>
</file>

<file path=ppt/theme/theme1.xml><?xml version="1.0" encoding="utf-8"?>
<a:theme xmlns:a="http://schemas.openxmlformats.org/drawingml/2006/main" name="ChatGPT">
  <a:themeElements>
    <a:clrScheme name="LocalMind academic">
      <a:dk1>
        <a:srgbClr val="000000"/>
      </a:dk1>
      <a:lt1>
        <a:srgbClr val="FFFFFF"/>
      </a:lt1>
      <a:dk2>
        <a:srgbClr val="173D33"/>
      </a:dk2>
      <a:lt2>
        <a:srgbClr val="E7EEE8"/>
      </a:lt2>
      <a:accent1>
        <a:srgbClr val="277B63"/>
      </a:accent1>
      <a:accent2>
        <a:srgbClr val="BD882F"/>
      </a:accent2>
      <a:accent3>
        <a:srgbClr val="7A9488"/>
      </a:accent3>
      <a:accent4>
        <a:srgbClr val="9C4B3E"/>
      </a:accent4>
      <a:accent5>
        <a:srgbClr val="5F6A8A"/>
      </a:accent5>
      <a:accent6>
        <a:srgbClr val="2B746F"/>
      </a:accent6>
      <a:hlink>
        <a:srgbClr val="277B63"/>
      </a:hlink>
      <a:folHlink>
        <a:srgbClr val="6D4D82"/>
      </a:folHlink>
    </a:clrScheme>
    <a:fontScheme name="">
      <a:majorFont>
        <a:latin typeface="Liberation Sans"/>
        <a:ea typeface=""/>
        <a:cs typeface=""/>
      </a:majorFont>
      <a:minorFont>
        <a:latin typeface="Liberation Sans"/>
        <a:ea typeface=""/>
        <a:cs typeface=""/>
      </a:minorFont>
    </a:fontScheme>
    <a:fmtScheme name="LocalMind academic">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2026-10-22T13:21:15.1820000Z</dcterms:created>
  <dcterms:modified xsi:type="dcterms:W3CDTF">2026-10-22T13:21:15.1820000Z</dcterms:modified>
</coreProperties>
</file>